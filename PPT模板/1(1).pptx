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311" r:id="rId5"/>
    <p:sldId id="354" r:id="rId6"/>
    <p:sldId id="319" r:id="rId7"/>
    <p:sldId id="355" r:id="rId8"/>
    <p:sldId id="315" r:id="rId9"/>
    <p:sldId id="356" r:id="rId10"/>
    <p:sldId id="330" r:id="rId11"/>
    <p:sldId id="345" r:id="rId12"/>
    <p:sldId id="347" r:id="rId13"/>
    <p:sldId id="314" r:id="rId14"/>
    <p:sldId id="350" r:id="rId15"/>
    <p:sldId id="352" r:id="rId16"/>
    <p:sldId id="353" r:id="rId17"/>
    <p:sldId id="349" r:id="rId18"/>
  </p:sldIdLst>
  <p:sldSz cx="12192000" cy="6858000"/>
  <p:notesSz cx="6858000" cy="9144000"/>
  <p:custDataLst>
    <p:tags r:id="rId2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92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F5E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176" autoAdjust="0"/>
    <p:restoredTop sz="94660"/>
  </p:normalViewPr>
  <p:slideViewPr>
    <p:cSldViewPr snapToGrid="0" showGuides="1">
      <p:cViewPr varScale="1">
        <p:scale>
          <a:sx n="107" d="100"/>
          <a:sy n="107" d="100"/>
        </p:scale>
        <p:origin x="104" y="52"/>
      </p:cViewPr>
      <p:guideLst>
        <p:guide orient="horz" pos="2092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gs" Target="tags/tag45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85CE5F-2384-4ECA-A1A3-47861EA0C82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2CD896-5BB0-47EA-A9FD-AA08636F55D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老师，同学大家好，我们是第二组，我们汇报的主题是</a:t>
            </a:r>
            <a:r>
              <a:rPr lang="en-US" altLang="zh-CN"/>
              <a:t>“</a:t>
            </a:r>
            <a:r>
              <a:rPr lang="zh-CN" altLang="en-US" dirty="0">
                <a:solidFill>
                  <a:srgbClr val="C00000"/>
                </a:solidFill>
                <a:latin typeface="字体视界-NEW魏碑体" panose="02010601030101010101" pitchFamily="2" charset="-122"/>
                <a:ea typeface="字体视界-NEW魏碑体" panose="02010601030101010101" pitchFamily="2" charset="-122"/>
                <a:cs typeface="+mn-ea"/>
                <a:sym typeface="+mn-lt"/>
              </a:rPr>
              <a:t>毛泽东思想活的灵魂</a:t>
            </a:r>
            <a:r>
              <a:rPr lang="en-US" altLang="zh-CN"/>
              <a:t>”</a:t>
            </a:r>
            <a:r>
              <a:rPr lang="zh-CN" altLang="en-US"/>
              <a:t>中的</a:t>
            </a:r>
            <a:r>
              <a:rPr lang="en-US" altLang="zh-CN"/>
              <a:t>“</a:t>
            </a:r>
            <a:r>
              <a:rPr lang="zh-CN" altLang="en-US"/>
              <a:t>群众路线</a:t>
            </a:r>
            <a:r>
              <a:rPr lang="en-US" altLang="zh-CN"/>
              <a:t>”</a:t>
            </a:r>
            <a:r>
              <a:rPr lang="zh-CN" altLang="en-US"/>
              <a:t>。这部分内容来源于我们教材第一章</a:t>
            </a:r>
            <a:r>
              <a:rPr lang="en-US" altLang="zh-CN"/>
              <a:t> </a:t>
            </a:r>
            <a:r>
              <a:rPr lang="zh-CN" altLang="en-US"/>
              <a:t>第二节的</a:t>
            </a:r>
            <a:r>
              <a:rPr lang="zh-CN" altLang="en-US"/>
              <a:t>第二部分。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2CD896-5BB0-47EA-A9FD-AA08636F55D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接下来，我会从历史背景、理论分析以及当代启示三个方面来介绍毛泽东思想中的</a:t>
            </a:r>
            <a:r>
              <a:rPr lang="en-US" altLang="zh-CN"/>
              <a:t>“</a:t>
            </a:r>
            <a:r>
              <a:rPr lang="zh-CN" altLang="en-US"/>
              <a:t>群众路线</a:t>
            </a:r>
            <a:r>
              <a:rPr lang="en-US" altLang="zh-CN"/>
              <a:t>”</a:t>
            </a:r>
            <a:r>
              <a:rPr lang="zh-CN" altLang="en-US"/>
              <a:t>。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2CD896-5BB0-47EA-A9FD-AA08636F55D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A2CD896-5BB0-47EA-A9FD-AA08636F55D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1941</a:t>
            </a:r>
            <a:r>
              <a:rPr lang="zh-CN" altLang="en-US"/>
              <a:t>年，有一个名为</a:t>
            </a:r>
            <a:r>
              <a:rPr lang="zh-CN" altLang="en-US" dirty="0">
                <a:solidFill>
                  <a:srgbClr val="E7E6E6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伍兰花的农妇，她的丈夫被雷击身亡。悲痛之余，她竟大骂共产党和毛主席。相关部门把她抓了起来，并准备判处死刑。但毛主席知道此事之后，没有勃然大怒，反而亲自接见了这名农妇，并且让农妇坦诚地讲讲自己的</a:t>
            </a:r>
            <a:r>
              <a:rPr lang="zh-CN" altLang="en-US" dirty="0">
                <a:solidFill>
                  <a:srgbClr val="E7E6E6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心里话。</a:t>
            </a:r>
            <a:endParaRPr lang="zh-CN" altLang="en-US" dirty="0">
              <a:solidFill>
                <a:srgbClr val="E7E6E6">
                  <a:lumMod val="2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56E22E-BD2F-4CC6-B6B8-732D02813C51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然后呢，这位农妇向毛主席诉说了自己的难处：村乡县的各级干部只管催公粮，不管百姓死活，</a:t>
            </a:r>
            <a:r>
              <a:rPr lang="zh-CN" altLang="en-US" dirty="0">
                <a:solidFill>
                  <a:srgbClr val="E7E6E6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甚至恶言相向</a:t>
            </a:r>
            <a:r>
              <a:rPr lang="zh-CN" altLang="en-US"/>
              <a:t>。毛主席认真听取了她的意见，并进行了相关调查，确实发现了相关问题，于是他下令调整了相关政策，减轻了</a:t>
            </a:r>
            <a:r>
              <a:rPr lang="zh-CN" altLang="en-US"/>
              <a:t>民众负担。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56E22E-BD2F-4CC6-B6B8-732D02813C51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那么，我们从</a:t>
            </a:r>
            <a:r>
              <a:rPr lang="zh-CN" altLang="en-US" dirty="0">
                <a:solidFill>
                  <a:srgbClr val="C00000"/>
                </a:solidFill>
                <a:latin typeface="字体视界-NEW魏碑体" panose="02010601030101010101" pitchFamily="2" charset="-122"/>
                <a:ea typeface="字体视界-NEW魏碑体" panose="02010601030101010101" pitchFamily="2" charset="-122"/>
                <a:sym typeface="+mn-ea"/>
              </a:rPr>
              <a:t>理论</a:t>
            </a:r>
            <a:r>
              <a:rPr lang="zh-CN" altLang="en-US" dirty="0">
                <a:solidFill>
                  <a:srgbClr val="C00000"/>
                </a:solidFill>
                <a:latin typeface="字体视界-NEW魏碑体" panose="02010601030101010101" pitchFamily="2" charset="-122"/>
                <a:ea typeface="字体视界-NEW魏碑体" panose="02010601030101010101" pitchFamily="2" charset="-122"/>
                <a:sym typeface="+mn-ea"/>
              </a:rPr>
              <a:t>分析的角度探讨一下刚才的</a:t>
            </a:r>
            <a:r>
              <a:rPr lang="zh-CN" altLang="en-US" dirty="0">
                <a:solidFill>
                  <a:srgbClr val="C00000"/>
                </a:solidFill>
                <a:latin typeface="字体视界-NEW魏碑体" panose="02010601030101010101" pitchFamily="2" charset="-122"/>
                <a:ea typeface="字体视界-NEW魏碑体" panose="02010601030101010101" pitchFamily="2" charset="-122"/>
                <a:sym typeface="+mn-ea"/>
              </a:rPr>
              <a:t>小故事。</a:t>
            </a:r>
            <a:endParaRPr lang="zh-CN" altLang="en-US" dirty="0">
              <a:solidFill>
                <a:srgbClr val="C00000"/>
              </a:solidFill>
              <a:latin typeface="字体视界-NEW魏碑体" panose="02010601030101010101" pitchFamily="2" charset="-122"/>
              <a:ea typeface="字体视界-NEW魏碑体" panose="02010601030101010101" pitchFamily="2" charset="-122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2CD896-5BB0-47EA-A9FD-AA08636F55D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其实从这件毛主席日常工作上的小事中，我们就不难看出以毛主席为代表的共产党人所坚持的群众路线：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一切为了群众，一切依靠群众；从群众中来，到群众中去。那位怨声载道的农妇，只不过是</a:t>
            </a:r>
            <a:r>
              <a:rPr lang="zh-CN" altLang="en-US" dirty="0">
                <a:solidFill>
                  <a:srgbClr val="E7E6E6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边区群众的一个缩影。她既然如此痛骂，说明当时的政策</a:t>
            </a:r>
            <a:r>
              <a:rPr lang="zh-CN" altLang="en-US" dirty="0">
                <a:solidFill>
                  <a:srgbClr val="E7E6E6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可能是有一些问题的。但是呢，政策有了问题不可怕，我们</a:t>
            </a:r>
            <a:r>
              <a:rPr lang="zh-CN" altLang="en-US" dirty="0">
                <a:solidFill>
                  <a:srgbClr val="E7E6E6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只要虚心听取民众</a:t>
            </a:r>
            <a:r>
              <a:rPr lang="zh-CN" altLang="en-US" dirty="0">
                <a:solidFill>
                  <a:srgbClr val="E7E6E6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意见，好好改正</a:t>
            </a:r>
            <a:r>
              <a:rPr lang="zh-CN" altLang="en-US" dirty="0">
                <a:solidFill>
                  <a:srgbClr val="E7E6E6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就行了。</a:t>
            </a:r>
            <a:endParaRPr lang="zh-CN" altLang="en-US" dirty="0">
              <a:solidFill>
                <a:srgbClr val="E7E6E6">
                  <a:lumMod val="2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56E22E-BD2F-4CC6-B6B8-732D02813C51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  <a:sym typeface="+mn-ea"/>
              </a:rPr>
              <a:t>“骂声”是检验政策的镜子，而“倾听”是群众路线的起点</a:t>
            </a:r>
            <a:r>
              <a:rPr lang="en-US" altLang="zh-CN" dirty="0">
                <a:latin typeface="方正姚体" panose="02010601030101010101" pitchFamily="2" charset="-122"/>
                <a:ea typeface="方正姚体" panose="02010601030101010101" pitchFamily="2" charset="-122"/>
                <a:sym typeface="+mn-ea"/>
              </a:rPr>
              <a:t>——</a:t>
            </a: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  <a:sym typeface="+mn-ea"/>
              </a:rPr>
              <a:t>我们党的权力是人民给予的，应该认真</a:t>
            </a: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  <a:sym typeface="+mn-ea"/>
              </a:rPr>
              <a:t>听取人民群众的意见，自觉接受人民</a:t>
            </a: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  <a:sym typeface="+mn-ea"/>
              </a:rPr>
              <a:t>批评和监督。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  <a:sym typeface="+mn-ea"/>
            </a:endParaRPr>
          </a:p>
          <a:p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  <a:sym typeface="+mn-ea"/>
              </a:rPr>
              <a:t>“减粮”是群众路线的落脚点</a:t>
            </a:r>
            <a:r>
              <a:rPr lang="en-US" altLang="zh-CN" dirty="0">
                <a:latin typeface="方正姚体" panose="02010601030101010101" pitchFamily="2" charset="-122"/>
                <a:ea typeface="方正姚体" panose="02010601030101010101" pitchFamily="2" charset="-122"/>
                <a:sym typeface="+mn-ea"/>
              </a:rPr>
              <a:t>——</a:t>
            </a: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  <a:sym typeface="+mn-ea"/>
              </a:rPr>
              <a:t>光倾听还不够，我们还应当将相关政策落地实现，这样才能</a:t>
            </a: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  <a:sym typeface="+mn-ea"/>
              </a:rPr>
              <a:t>真正地</a:t>
            </a: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  <a:sym typeface="+mn-ea"/>
              </a:rPr>
              <a:t>保护群众利益。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56E22E-BD2F-4CC6-B6B8-732D02813C51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zh-CN" altLang="en-US"/>
              <a:t>那么这个故事有什么</a:t>
            </a:r>
            <a:r>
              <a:rPr lang="zh-CN" altLang="en-US" dirty="0">
                <a:solidFill>
                  <a:srgbClr val="C00000"/>
                </a:solidFill>
                <a:latin typeface="字体视界-NEW魏碑体" panose="02010601030101010101" pitchFamily="2" charset="-122"/>
                <a:ea typeface="字体视界-NEW魏碑体" panose="02010601030101010101" pitchFamily="2" charset="-122"/>
                <a:sym typeface="+mn-ea"/>
              </a:rPr>
              <a:t>历史意义与价值呢？首先它</a:t>
            </a:r>
            <a:r>
              <a:rPr lang="zh-CN" altLang="en-US" dirty="0">
                <a:solidFill>
                  <a:srgbClr val="C00000"/>
                </a:solidFill>
                <a:latin typeface="字体视界-NEW魏碑体" panose="02010601030101010101" pitchFamily="2" charset="-122"/>
                <a:ea typeface="字体视界-NEW魏碑体" panose="02010601030101010101" pitchFamily="2" charset="-122"/>
                <a:sym typeface="+mn-lt"/>
              </a:rPr>
              <a:t>巩固了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党在边区的</a:t>
            </a:r>
            <a:r>
              <a:rPr lang="zh-CN" altLang="en-US" dirty="0">
                <a:solidFill>
                  <a:srgbClr val="C00000"/>
                </a:solidFill>
                <a:latin typeface="字体视界-NEW魏碑体" panose="02010601030101010101" pitchFamily="2" charset="-122"/>
                <a:ea typeface="字体视界-NEW魏碑体" panose="02010601030101010101" pitchFamily="2" charset="-122"/>
                <a:sym typeface="+mn-lt"/>
              </a:rPr>
              <a:t>执政基础，凝聚了抗战民心；同时，毛主席他也以身作则，</a:t>
            </a:r>
            <a:r>
              <a:rPr lang="zh-CN" altLang="en-US" dirty="0">
                <a:solidFill>
                  <a:srgbClr val="C00000"/>
                </a:solidFill>
                <a:latin typeface="字体视界-NEW魏碑体" panose="02010601030101010101" pitchFamily="2" charset="-122"/>
                <a:ea typeface="字体视界-NEW魏碑体" panose="02010601030101010101" pitchFamily="2" charset="-122"/>
                <a:sym typeface="+mn-ea"/>
              </a:rPr>
              <a:t>塑造了优良作风，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树立了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一个批评与自我批评、密切联系群众的典范。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56E22E-BD2F-4CC6-B6B8-732D02813C51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它还彰显了人民至上，</a:t>
            </a:r>
            <a:r>
              <a:rPr lang="zh-CN" altLang="en-US" dirty="0">
                <a:solidFill>
                  <a:srgbClr val="C00000"/>
                </a:solidFill>
                <a:latin typeface="字体视界-NEW魏碑体" panose="02010601030101010101" pitchFamily="2" charset="-122"/>
                <a:ea typeface="字体视界-NEW魏碑体" panose="02010601030101010101" pitchFamily="2" charset="-122"/>
                <a:sym typeface="+mn-ea"/>
              </a:rPr>
              <a:t>划清了我们党与官僚主义的界限；也提供了</a:t>
            </a:r>
            <a:r>
              <a:rPr lang="zh-CN" altLang="en-US" dirty="0">
                <a:solidFill>
                  <a:srgbClr val="C00000"/>
                </a:solidFill>
                <a:latin typeface="字体视界-NEW魏碑体" panose="02010601030101010101" pitchFamily="2" charset="-122"/>
                <a:ea typeface="字体视界-NEW魏碑体" panose="02010601030101010101" pitchFamily="2" charset="-122"/>
                <a:sym typeface="+mn-ea"/>
              </a:rPr>
              <a:t>一个实践样本，证明了只有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维护群众利益，才能获得稳固执政基础。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56E22E-BD2F-4CC6-B6B8-732D02813C51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最后我们讲讲这个故事对于当代的启示和我们青年</a:t>
            </a:r>
            <a:r>
              <a:rPr lang="zh-CN" altLang="en-US"/>
              <a:t>应有的责任。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2CD896-5BB0-47EA-A9FD-AA08636F55D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虽然上述故事距今已过去了</a:t>
            </a:r>
            <a:r>
              <a:rPr lang="en-US" altLang="zh-CN"/>
              <a:t>80</a:t>
            </a:r>
            <a:r>
              <a:rPr lang="zh-CN" altLang="en-US"/>
              <a:t>余年，但它所体现的党所坚持的</a:t>
            </a:r>
            <a:r>
              <a:rPr lang="zh-CN" altLang="en-US" dirty="0">
                <a:solidFill>
                  <a:srgbClr val="B50F0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群众路线，却永不过时。</a:t>
            </a:r>
            <a:r>
              <a:rPr lang="zh-CN" altLang="en-US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民意仍然是政策调整的重要依据，批评仍然是改进工作的宝贵资源，人民立场是执政的根本立场。</a:t>
            </a:r>
            <a:endParaRPr lang="zh-CN" altLang="en-US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56E22E-BD2F-4CC6-B6B8-732D02813C51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弘扬优良作风、勇于自我革命</a:t>
            </a:r>
            <a:r>
              <a:rPr lang="en-US" altLang="zh-CN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——</a:t>
            </a:r>
            <a:r>
              <a:rPr lang="zh-CN" altLang="en-US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传承党的优良传统，敢于正视自身不足，从群众的反馈中反思改进。</a:t>
            </a:r>
            <a:r>
              <a:rPr lang="zh-CN" altLang="en-US" dirty="0">
                <a:solidFill>
                  <a:schemeClr val="bg1"/>
                </a:solidFill>
                <a:latin typeface="+mj-ea"/>
                <a:ea typeface="+mj-ea"/>
              </a:rPr>
              <a:t>也应该</a:t>
            </a:r>
            <a:r>
              <a:rPr lang="zh-CN" altLang="en-US" b="1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站稳人民立场、厚植为民情怀。</a:t>
            </a:r>
            <a:r>
              <a:rPr lang="zh-CN" altLang="en-US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在</a:t>
            </a:r>
            <a:r>
              <a:rPr lang="zh-CN" altLang="en-US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未来的工作岗位上，我们应当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主动关心群众疾苦，倾听基层声音。</a:t>
            </a:r>
            <a:endParaRPr lang="zh-CN" altLang="en-US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56E22E-BD2F-4CC6-B6B8-732D02813C51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而更进一步，</a:t>
            </a:r>
            <a:r>
              <a:rPr lang="zh-CN" altLang="en-US">
                <a:sym typeface="+mn-ea"/>
              </a:rPr>
              <a:t>我们作为当代青年，应当</a:t>
            </a:r>
            <a:r>
              <a:rPr lang="zh-CN" altLang="en-US" dirty="0">
                <a:solidFill>
                  <a:srgbClr val="C00000"/>
                </a:solidFill>
                <a:latin typeface="字体视界-NEW魏碑体" panose="02010601030101010101" pitchFamily="2" charset="-122"/>
                <a:ea typeface="字体视界-NEW魏碑体" panose="02010601030101010101" pitchFamily="2" charset="-122"/>
                <a:sym typeface="+mn-ea"/>
              </a:rPr>
              <a:t>做红色基因的传承者与践行者，</a:t>
            </a:r>
            <a:r>
              <a:rPr lang="zh-CN" altLang="en-US" b="1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练就过硬本领、投身强国实践</a:t>
            </a:r>
            <a:r>
              <a:rPr lang="zh-CN" altLang="en-US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，</a:t>
            </a:r>
            <a:r>
              <a:rPr lang="zh-CN" altLang="en-US"/>
              <a:t>也应当</a:t>
            </a:r>
            <a:r>
              <a:rPr lang="zh-CN" altLang="en-US" b="1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筑牢理想信念、赓续红色血脉</a:t>
            </a:r>
            <a:r>
              <a:rPr lang="zh-CN" altLang="en-US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。</a:t>
            </a:r>
            <a:endParaRPr lang="zh-CN" altLang="en-US" b="1" dirty="0">
              <a:solidFill>
                <a:schemeClr val="bg1"/>
              </a:solidFill>
              <a:latin typeface="+mj-ea"/>
              <a:ea typeface="+mj-ea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56E22E-BD2F-4CC6-B6B8-732D02813C51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2CD896-5BB0-47EA-A9FD-AA08636F55D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16C88-1DBC-4A6F-B7E7-3EF051E8B71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B8A7E-8CFB-4EE6-B02F-58142BF95AC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0"/>
    </mc:Choice>
    <mc:Fallback>
      <p:transition advTm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16C88-1DBC-4A6F-B7E7-3EF051E8B71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B8A7E-8CFB-4EE6-B02F-58142BF95AC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0"/>
    </mc:Choice>
    <mc:Fallback>
      <p:transition advTm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16C88-1DBC-4A6F-B7E7-3EF051E8B71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B8A7E-8CFB-4EE6-B02F-58142BF95AC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0"/>
    </mc:Choice>
    <mc:Fallback>
      <p:transition advTm="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16C88-1DBC-4A6F-B7E7-3EF051E8B71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B8A7E-8CFB-4EE6-B02F-58142BF95AC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0"/>
    </mc:Choice>
    <mc:Fallback>
      <p:transition advTm="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D784D-74CC-49A9-95D7-F9265270368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9CE88-B01A-4C96-939E-9A9613C2A59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0"/>
    </mc:Choice>
    <mc:Fallback>
      <p:transition advTm="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D784D-74CC-49A9-95D7-F9265270368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9CE88-B01A-4C96-939E-9A9613C2A59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0"/>
    </mc:Choice>
    <mc:Fallback>
      <p:transition advTm="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D784D-74CC-49A9-95D7-F9265270368D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9CE88-B01A-4C96-939E-9A9613C2A59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0"/>
    </mc:Choice>
    <mc:Fallback>
      <p:transition advTm="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D784D-74CC-49A9-95D7-F9265270368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9CE88-B01A-4C96-939E-9A9613C2A59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0"/>
    </mc:Choice>
    <mc:Fallback>
      <p:transition advTm="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D784D-74CC-49A9-95D7-F9265270368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9CE88-B01A-4C96-939E-9A9613C2A59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0"/>
    </mc:Choice>
    <mc:Fallback>
      <p:transition advTm="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D784D-74CC-49A9-95D7-F9265270368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9CE88-B01A-4C96-939E-9A9613C2A59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0"/>
    </mc:Choice>
    <mc:Fallback>
      <p:transition advTm="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D784D-74CC-49A9-95D7-F9265270368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9CE88-B01A-4C96-939E-9A9613C2A59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0"/>
    </mc:Choice>
    <mc:Fallback>
      <p:transition advTm="0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0"/>
    </mc:Choice>
    <mc:Fallback>
      <p:transition advTm="0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0"/>
    </mc:Choice>
    <mc:Fallback>
      <p:transition advTm="0"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0"/>
    </mc:Choice>
    <mc:Fallback>
      <p:transition advTm="0"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0"/>
    </mc:Choice>
    <mc:Fallback>
      <p:transition advTm="0"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0"/>
    </mc:Choice>
    <mc:Fallback>
      <p:transition advTm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516C88-1DBC-4A6F-B7E7-3EF051E8B71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BB8A7E-8CFB-4EE6-B02F-58142BF95AC5}" type="slidenum">
              <a:rPr lang="zh-CN" altLang="en-US" smtClean="0"/>
            </a:fld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E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mc:AlternateContent xmlns:mc="http://schemas.openxmlformats.org/markup-compatibility/2006">
    <mc:Choice xmlns:p14="http://schemas.microsoft.com/office/powerpoint/2010/main" Requires="p14">
      <p:transition p14:dur="10" advTm="0"/>
    </mc:Choice>
    <mc:Fallback>
      <p:transition advTm="0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3.png"/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6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7.jpe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7.xml"/><Relationship Id="rId7" Type="http://schemas.openxmlformats.org/officeDocument/2006/relationships/slideLayout" Target="../slideLayouts/slideLayout13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tags" Target="../tags/tag1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12.xml"/><Relationship Id="rId8" Type="http://schemas.openxmlformats.org/officeDocument/2006/relationships/tags" Target="../tags/tag11.xml"/><Relationship Id="rId7" Type="http://schemas.openxmlformats.org/officeDocument/2006/relationships/tags" Target="../tags/tag10.xml"/><Relationship Id="rId6" Type="http://schemas.openxmlformats.org/officeDocument/2006/relationships/tags" Target="../tags/tag9.xml"/><Relationship Id="rId5" Type="http://schemas.openxmlformats.org/officeDocument/2006/relationships/tags" Target="../tags/tag8.xml"/><Relationship Id="rId4" Type="http://schemas.openxmlformats.org/officeDocument/2006/relationships/tags" Target="../tags/tag7.xml"/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3" Type="http://schemas.openxmlformats.org/officeDocument/2006/relationships/notesSlide" Target="../notesSlides/notesSlide8.xml"/><Relationship Id="rId12" Type="http://schemas.openxmlformats.org/officeDocument/2006/relationships/slideLayout" Target="../slideLayouts/slideLayout13.xml"/><Relationship Id="rId11" Type="http://schemas.openxmlformats.org/officeDocument/2006/relationships/image" Target="../media/image9.png"/><Relationship Id="rId10" Type="http://schemas.openxmlformats.org/officeDocument/2006/relationships/tags" Target="../tags/tag13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21.xml"/><Relationship Id="rId8" Type="http://schemas.openxmlformats.org/officeDocument/2006/relationships/tags" Target="../tags/tag20.xml"/><Relationship Id="rId7" Type="http://schemas.openxmlformats.org/officeDocument/2006/relationships/tags" Target="../tags/tag19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9" Type="http://schemas.openxmlformats.org/officeDocument/2006/relationships/notesSlide" Target="../notesSlides/notesSlide12.xml"/><Relationship Id="rId18" Type="http://schemas.openxmlformats.org/officeDocument/2006/relationships/slideLayout" Target="../slideLayouts/slideLayout13.xml"/><Relationship Id="rId17" Type="http://schemas.openxmlformats.org/officeDocument/2006/relationships/tags" Target="../tags/tag28.xml"/><Relationship Id="rId16" Type="http://schemas.openxmlformats.org/officeDocument/2006/relationships/tags" Target="../tags/tag27.xml"/><Relationship Id="rId15" Type="http://schemas.openxmlformats.org/officeDocument/2006/relationships/tags" Target="../tags/tag26.xml"/><Relationship Id="rId14" Type="http://schemas.openxmlformats.org/officeDocument/2006/relationships/tags" Target="../tags/tag25.xml"/><Relationship Id="rId13" Type="http://schemas.openxmlformats.org/officeDocument/2006/relationships/tags" Target="../tags/tag24.xml"/><Relationship Id="rId12" Type="http://schemas.openxmlformats.org/officeDocument/2006/relationships/image" Target="../media/image10.png"/><Relationship Id="rId11" Type="http://schemas.openxmlformats.org/officeDocument/2006/relationships/tags" Target="../tags/tag23.xml"/><Relationship Id="rId10" Type="http://schemas.openxmlformats.org/officeDocument/2006/relationships/tags" Target="../tags/tag22.xml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36.xml"/><Relationship Id="rId8" Type="http://schemas.openxmlformats.org/officeDocument/2006/relationships/tags" Target="../tags/tag35.xml"/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1" Type="http://schemas.openxmlformats.org/officeDocument/2006/relationships/notesSlide" Target="../notesSlides/notesSlide13.xml"/><Relationship Id="rId10" Type="http://schemas.openxmlformats.org/officeDocument/2006/relationships/slideLayout" Target="../slideLayouts/slideLayout13.xml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44.xml"/><Relationship Id="rId8" Type="http://schemas.openxmlformats.org/officeDocument/2006/relationships/tags" Target="../tags/tag43.xml"/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1" Type="http://schemas.openxmlformats.org/officeDocument/2006/relationships/notesSlide" Target="../notesSlides/notesSlide14.xml"/><Relationship Id="rId10" Type="http://schemas.openxmlformats.org/officeDocument/2006/relationships/slideLayout" Target="../slideLayouts/slideLayout13.xml"/><Relationship Id="rId1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图片 3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3723" y="2745633"/>
            <a:ext cx="5184990" cy="4147992"/>
          </a:xfrm>
          <a:prstGeom prst="rect">
            <a:avLst/>
          </a:prstGeom>
        </p:spPr>
      </p:pic>
      <p:pic>
        <p:nvPicPr>
          <p:cNvPr id="35" name="图片 3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049960"/>
            <a:ext cx="4460240" cy="2788989"/>
          </a:xfrm>
          <a:prstGeom prst="rect">
            <a:avLst/>
          </a:prstGeom>
        </p:spPr>
      </p:pic>
      <p:sp>
        <p:nvSpPr>
          <p:cNvPr id="30" name="矩形 29"/>
          <p:cNvSpPr/>
          <p:nvPr/>
        </p:nvSpPr>
        <p:spPr>
          <a:xfrm>
            <a:off x="1848684" y="2190080"/>
            <a:ext cx="8494633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7200" dirty="0">
                <a:solidFill>
                  <a:srgbClr val="C00000"/>
                </a:solidFill>
                <a:latin typeface="字体视界-NEW魏碑体" panose="02010601030101010101" pitchFamily="2" charset="-122"/>
                <a:ea typeface="字体视界-NEW魏碑体" panose="02010601030101010101" pitchFamily="2" charset="-122"/>
                <a:cs typeface="+mn-ea"/>
                <a:sym typeface="+mn-lt"/>
              </a:rPr>
              <a:t>毛泽东思想活的灵魂</a:t>
            </a:r>
            <a:endParaRPr lang="zh-CN" altLang="en-US" sz="7200" dirty="0">
              <a:solidFill>
                <a:srgbClr val="C00000"/>
              </a:solidFill>
              <a:latin typeface="字体视界-NEW魏碑体" panose="02010601030101010101" pitchFamily="2" charset="-122"/>
              <a:ea typeface="字体视界-NEW魏碑体" panose="02010601030101010101" pitchFamily="2" charset="-122"/>
              <a:cs typeface="+mn-ea"/>
              <a:sym typeface="+mn-lt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3092187" y="3653574"/>
            <a:ext cx="593463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3600" dirty="0">
                <a:solidFill>
                  <a:srgbClr val="C00000"/>
                </a:solidFill>
                <a:latin typeface="字体视界-NEW魏碑体" panose="02010601030101010101" pitchFamily="2" charset="-122"/>
                <a:ea typeface="字体视界-NEW魏碑体" panose="02010601030101010101" pitchFamily="2" charset="-122"/>
                <a:cs typeface="+mn-ea"/>
                <a:sym typeface="+mn-lt"/>
              </a:rPr>
              <a:t>—— </a:t>
            </a:r>
            <a:r>
              <a:rPr lang="zh-CN" altLang="en-US" sz="3600" dirty="0">
                <a:solidFill>
                  <a:srgbClr val="C00000"/>
                </a:solidFill>
                <a:latin typeface="字体视界-NEW魏碑体" panose="02010601030101010101" pitchFamily="2" charset="-122"/>
                <a:ea typeface="字体视界-NEW魏碑体" panose="02010601030101010101" pitchFamily="2" charset="-122"/>
                <a:cs typeface="+mn-ea"/>
                <a:sym typeface="+mn-lt"/>
              </a:rPr>
              <a:t>群众路线的形成与意义</a:t>
            </a:r>
            <a:endParaRPr lang="zh-CN" altLang="en-US" sz="3600" dirty="0">
              <a:solidFill>
                <a:srgbClr val="C00000"/>
              </a:solidFill>
              <a:latin typeface="字体视界-NEW魏碑体" panose="02010601030101010101" pitchFamily="2" charset="-122"/>
              <a:ea typeface="字体视界-NEW魏碑体" panose="02010601030101010101" pitchFamily="2" charset="-122"/>
              <a:cs typeface="+mn-ea"/>
              <a:sym typeface="+mn-lt"/>
            </a:endParaRPr>
          </a:p>
        </p:txBody>
      </p:sp>
      <p:sp>
        <p:nvSpPr>
          <p:cNvPr id="32" name="Freeform 29"/>
          <p:cNvSpPr/>
          <p:nvPr/>
        </p:nvSpPr>
        <p:spPr bwMode="auto">
          <a:xfrm>
            <a:off x="5221018" y="590692"/>
            <a:ext cx="1749965" cy="1563763"/>
          </a:xfrm>
          <a:custGeom>
            <a:avLst/>
            <a:gdLst>
              <a:gd name="T0" fmla="*/ 803 w 1880"/>
              <a:gd name="T1" fmla="*/ 15 h 1680"/>
              <a:gd name="T2" fmla="*/ 1253 w 1880"/>
              <a:gd name="T3" fmla="*/ 1067 h 1680"/>
              <a:gd name="T4" fmla="*/ 728 w 1880"/>
              <a:gd name="T5" fmla="*/ 540 h 1680"/>
              <a:gd name="T6" fmla="*/ 928 w 1880"/>
              <a:gd name="T7" fmla="*/ 339 h 1680"/>
              <a:gd name="T8" fmla="*/ 803 w 1880"/>
              <a:gd name="T9" fmla="*/ 215 h 1680"/>
              <a:gd name="T10" fmla="*/ 549 w 1880"/>
              <a:gd name="T11" fmla="*/ 267 h 1680"/>
              <a:gd name="T12" fmla="*/ 150 w 1880"/>
              <a:gd name="T13" fmla="*/ 666 h 1680"/>
              <a:gd name="T14" fmla="*/ 376 w 1880"/>
              <a:gd name="T15" fmla="*/ 890 h 1680"/>
              <a:gd name="T16" fmla="*/ 527 w 1880"/>
              <a:gd name="T17" fmla="*/ 741 h 1680"/>
              <a:gd name="T18" fmla="*/ 1052 w 1880"/>
              <a:gd name="T19" fmla="*/ 1266 h 1680"/>
              <a:gd name="T20" fmla="*/ 176 w 1880"/>
              <a:gd name="T21" fmla="*/ 1090 h 1680"/>
              <a:gd name="T22" fmla="*/ 49 w 1880"/>
              <a:gd name="T23" fmla="*/ 1217 h 1680"/>
              <a:gd name="T24" fmla="*/ 159 w 1880"/>
              <a:gd name="T25" fmla="*/ 1357 h 1680"/>
              <a:gd name="T26" fmla="*/ 144 w 1880"/>
              <a:gd name="T27" fmla="*/ 1371 h 1680"/>
              <a:gd name="T28" fmla="*/ 122 w 1880"/>
              <a:gd name="T29" fmla="*/ 1367 h 1680"/>
              <a:gd name="T30" fmla="*/ 0 w 1880"/>
              <a:gd name="T31" fmla="*/ 1494 h 1680"/>
              <a:gd name="T32" fmla="*/ 123 w 1880"/>
              <a:gd name="T33" fmla="*/ 1616 h 1680"/>
              <a:gd name="T34" fmla="*/ 249 w 1880"/>
              <a:gd name="T35" fmla="*/ 1493 h 1680"/>
              <a:gd name="T36" fmla="*/ 245 w 1880"/>
              <a:gd name="T37" fmla="*/ 1470 h 1680"/>
              <a:gd name="T38" fmla="*/ 265 w 1880"/>
              <a:gd name="T39" fmla="*/ 1451 h 1680"/>
              <a:gd name="T40" fmla="*/ 1255 w 1880"/>
              <a:gd name="T41" fmla="*/ 1467 h 1680"/>
              <a:gd name="T42" fmla="*/ 1402 w 1880"/>
              <a:gd name="T43" fmla="*/ 1615 h 1680"/>
              <a:gd name="T44" fmla="*/ 1603 w 1880"/>
              <a:gd name="T45" fmla="*/ 1416 h 1680"/>
              <a:gd name="T46" fmla="*/ 1455 w 1880"/>
              <a:gd name="T47" fmla="*/ 1267 h 1680"/>
              <a:gd name="T48" fmla="*/ 803 w 1880"/>
              <a:gd name="T49" fmla="*/ 15 h 16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1880" h="1680">
                <a:moveTo>
                  <a:pt x="803" y="15"/>
                </a:moveTo>
                <a:cubicBezTo>
                  <a:pt x="1217" y="170"/>
                  <a:pt x="1468" y="665"/>
                  <a:pt x="1253" y="1067"/>
                </a:cubicBezTo>
                <a:cubicBezTo>
                  <a:pt x="728" y="540"/>
                  <a:pt x="728" y="540"/>
                  <a:pt x="728" y="540"/>
                </a:cubicBezTo>
                <a:cubicBezTo>
                  <a:pt x="928" y="339"/>
                  <a:pt x="928" y="339"/>
                  <a:pt x="928" y="339"/>
                </a:cubicBezTo>
                <a:cubicBezTo>
                  <a:pt x="803" y="215"/>
                  <a:pt x="803" y="215"/>
                  <a:pt x="803" y="215"/>
                </a:cubicBezTo>
                <a:cubicBezTo>
                  <a:pt x="733" y="282"/>
                  <a:pt x="623" y="297"/>
                  <a:pt x="549" y="267"/>
                </a:cubicBezTo>
                <a:cubicBezTo>
                  <a:pt x="150" y="666"/>
                  <a:pt x="150" y="666"/>
                  <a:pt x="150" y="666"/>
                </a:cubicBezTo>
                <a:cubicBezTo>
                  <a:pt x="376" y="890"/>
                  <a:pt x="376" y="890"/>
                  <a:pt x="376" y="890"/>
                </a:cubicBezTo>
                <a:cubicBezTo>
                  <a:pt x="527" y="741"/>
                  <a:pt x="527" y="741"/>
                  <a:pt x="527" y="741"/>
                </a:cubicBezTo>
                <a:cubicBezTo>
                  <a:pt x="1052" y="1266"/>
                  <a:pt x="1052" y="1266"/>
                  <a:pt x="1052" y="1266"/>
                </a:cubicBezTo>
                <a:cubicBezTo>
                  <a:pt x="795" y="1407"/>
                  <a:pt x="439" y="1363"/>
                  <a:pt x="176" y="1090"/>
                </a:cubicBezTo>
                <a:cubicBezTo>
                  <a:pt x="49" y="1217"/>
                  <a:pt x="49" y="1217"/>
                  <a:pt x="49" y="1217"/>
                </a:cubicBezTo>
                <a:cubicBezTo>
                  <a:pt x="87" y="1270"/>
                  <a:pt x="119" y="1317"/>
                  <a:pt x="159" y="1357"/>
                </a:cubicBezTo>
                <a:cubicBezTo>
                  <a:pt x="155" y="1362"/>
                  <a:pt x="144" y="1371"/>
                  <a:pt x="144" y="1371"/>
                </a:cubicBezTo>
                <a:cubicBezTo>
                  <a:pt x="137" y="1370"/>
                  <a:pt x="129" y="1367"/>
                  <a:pt x="122" y="1367"/>
                </a:cubicBezTo>
                <a:cubicBezTo>
                  <a:pt x="55" y="1367"/>
                  <a:pt x="0" y="1426"/>
                  <a:pt x="0" y="1494"/>
                </a:cubicBezTo>
                <a:cubicBezTo>
                  <a:pt x="0" y="1561"/>
                  <a:pt x="55" y="1616"/>
                  <a:pt x="123" y="1616"/>
                </a:cubicBezTo>
                <a:cubicBezTo>
                  <a:pt x="191" y="1616"/>
                  <a:pt x="249" y="1561"/>
                  <a:pt x="249" y="1493"/>
                </a:cubicBezTo>
                <a:cubicBezTo>
                  <a:pt x="249" y="1485"/>
                  <a:pt x="247" y="1478"/>
                  <a:pt x="245" y="1470"/>
                </a:cubicBezTo>
                <a:cubicBezTo>
                  <a:pt x="265" y="1451"/>
                  <a:pt x="265" y="1451"/>
                  <a:pt x="265" y="1451"/>
                </a:cubicBezTo>
                <a:cubicBezTo>
                  <a:pt x="567" y="1655"/>
                  <a:pt x="898" y="1680"/>
                  <a:pt x="1255" y="1467"/>
                </a:cubicBezTo>
                <a:cubicBezTo>
                  <a:pt x="1402" y="1615"/>
                  <a:pt x="1402" y="1615"/>
                  <a:pt x="1402" y="1615"/>
                </a:cubicBezTo>
                <a:cubicBezTo>
                  <a:pt x="1603" y="1416"/>
                  <a:pt x="1603" y="1416"/>
                  <a:pt x="1603" y="1416"/>
                </a:cubicBezTo>
                <a:cubicBezTo>
                  <a:pt x="1455" y="1267"/>
                  <a:pt x="1455" y="1267"/>
                  <a:pt x="1455" y="1267"/>
                </a:cubicBezTo>
                <a:cubicBezTo>
                  <a:pt x="1880" y="628"/>
                  <a:pt x="1313" y="0"/>
                  <a:pt x="803" y="15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rgbClr val="C00000"/>
              </a:solidFill>
              <a:latin typeface="字体视界-NEW魏碑体" panose="02010601030101010101" pitchFamily="2" charset="-122"/>
              <a:ea typeface="字体视界-NEW魏碑体" panose="02010601030101010101" pitchFamily="2" charset="-122"/>
              <a:cs typeface="+mn-ea"/>
              <a:sym typeface="+mn-lt"/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7468" y="552220"/>
            <a:ext cx="2857500" cy="1190625"/>
          </a:xfrm>
          <a:prstGeom prst="rect">
            <a:avLst/>
          </a:prstGeom>
        </p:spPr>
      </p:pic>
      <p:sp>
        <p:nvSpPr>
          <p:cNvPr id="38" name="矩形 37"/>
          <p:cNvSpPr/>
          <p:nvPr/>
        </p:nvSpPr>
        <p:spPr>
          <a:xfrm>
            <a:off x="3913726" y="4798123"/>
            <a:ext cx="429156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dirty="0">
                <a:solidFill>
                  <a:srgbClr val="C00000"/>
                </a:solidFill>
                <a:latin typeface="字体视界-NEW魏碑体" panose="02010601030101010101" pitchFamily="2" charset="-122"/>
                <a:ea typeface="字体视界-NEW魏碑体" panose="02010601030101010101" pitchFamily="2" charset="-122"/>
                <a:cs typeface="+mn-ea"/>
                <a:sym typeface="+mn-lt"/>
              </a:rPr>
              <a:t>汇报人</a:t>
            </a:r>
            <a:r>
              <a:rPr lang="en-US" altLang="zh-CN" dirty="0">
                <a:solidFill>
                  <a:srgbClr val="C00000"/>
                </a:solidFill>
                <a:latin typeface="字体视界-NEW魏碑体" panose="02010601030101010101" pitchFamily="2" charset="-122"/>
                <a:ea typeface="字体视界-NEW魏碑体" panose="02010601030101010101" pitchFamily="2" charset="-122"/>
                <a:cs typeface="+mn-ea"/>
                <a:sym typeface="+mn-lt"/>
              </a:rPr>
              <a:t>:</a:t>
            </a:r>
            <a:r>
              <a:rPr lang="zh-CN" altLang="en-US" dirty="0">
                <a:solidFill>
                  <a:srgbClr val="C00000"/>
                </a:solidFill>
                <a:latin typeface="字体视界-NEW魏碑体" panose="02010601030101010101" pitchFamily="2" charset="-122"/>
                <a:ea typeface="字体视界-NEW魏碑体" panose="02010601030101010101" pitchFamily="2" charset="-122"/>
                <a:cs typeface="+mn-ea"/>
                <a:sym typeface="+mn-lt"/>
              </a:rPr>
              <a:t>雷可洋  </a:t>
            </a:r>
            <a:endParaRPr lang="en-US" altLang="zh-CN" dirty="0">
              <a:solidFill>
                <a:srgbClr val="C00000"/>
              </a:solidFill>
              <a:latin typeface="字体视界-NEW魏碑体" panose="02010601030101010101" pitchFamily="2" charset="-122"/>
              <a:ea typeface="字体视界-NEW魏碑体" panose="02010601030101010101" pitchFamily="2" charset="-122"/>
              <a:cs typeface="+mn-ea"/>
              <a:sym typeface="+mn-lt"/>
            </a:endParaRPr>
          </a:p>
          <a:p>
            <a:pPr algn="ctr"/>
            <a:r>
              <a:rPr lang="zh-CN" altLang="en-US" dirty="0">
                <a:solidFill>
                  <a:srgbClr val="C00000"/>
                </a:solidFill>
                <a:latin typeface="字体视界-NEW魏碑体" panose="02010601030101010101" pitchFamily="2" charset="-122"/>
                <a:ea typeface="字体视界-NEW魏碑体" panose="02010601030101010101" pitchFamily="2" charset="-122"/>
                <a:cs typeface="+mn-ea"/>
                <a:sym typeface="+mn-lt"/>
              </a:rPr>
              <a:t>小组成员：张恒  雷可洋  官润阳  陈灏航</a:t>
            </a:r>
            <a:endParaRPr lang="zh-CN" altLang="en-US" dirty="0">
              <a:solidFill>
                <a:srgbClr val="C00000"/>
              </a:solidFill>
              <a:latin typeface="字体视界-NEW魏碑体" panose="02010601030101010101" pitchFamily="2" charset="-122"/>
              <a:ea typeface="字体视界-NEW魏碑体" panose="02010601030101010101" pitchFamily="2" charset="-122"/>
              <a:cs typeface="+mn-ea"/>
              <a:sym typeface="+mn-lt"/>
            </a:endParaRPr>
          </a:p>
        </p:txBody>
      </p:sp>
      <p:pic>
        <p:nvPicPr>
          <p:cNvPr id="40" name="图片 3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902340" flipH="1">
            <a:off x="1320789" y="1151521"/>
            <a:ext cx="2100539" cy="8752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3" presetClass="entr" presetSubtype="3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5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1.48148E-6 L -0.41185 1.48148E-6 " pathEditMode="relative" rAng="0" ptsTypes="AA">
                                      <p:cBhvr>
                                        <p:cTn id="26" dur="2000" spd="-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599" y="0"/>
                                    </p:animMotion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5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9167E-6 1.85185E-6 L 0.31575 1.85185E-6 " pathEditMode="relative" rAng="0" ptsTypes="AA">
                                      <p:cBhvr>
                                        <p:cTn id="33" dur="2000" spd="-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78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25E-7 -1.11111E-6 L 0.31575 -1.11111E-6 " pathEditMode="relative" rAng="0" ptsTypes="AA">
                                      <p:cBhvr>
                                        <p:cTn id="41" dur="2000" spd="-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781" y="0"/>
                                    </p:animMotion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5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9167E-6 -2.59259E-6 L 0.31575 -2.59259E-6 " pathEditMode="relative" rAng="0" ptsTypes="AA">
                                      <p:cBhvr>
                                        <p:cTn id="48" dur="2000" spd="-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78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000"/>
                            </p:stCondLst>
                            <p:childTnLst>
                              <p:par>
                                <p:cTn id="5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04167E-6 -2.96296E-6 L 0.31576 -2.96296E-6 " pathEditMode="relative" rAng="0" ptsTypes="AA">
                                      <p:cBhvr>
                                        <p:cTn id="56" dur="2000" spd="-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78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0" grpId="1"/>
      <p:bldP spid="31" grpId="0"/>
      <p:bldP spid="31" grpId="1"/>
      <p:bldP spid="32" grpId="0" animBg="1"/>
      <p:bldP spid="38" grpId="0"/>
      <p:bldP spid="38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2578" y="5737759"/>
            <a:ext cx="6809422" cy="1120241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049960"/>
            <a:ext cx="4460240" cy="2788989"/>
          </a:xfrm>
          <a:prstGeom prst="rect">
            <a:avLst/>
          </a:prstGeom>
        </p:spPr>
      </p:pic>
      <p:sp>
        <p:nvSpPr>
          <p:cNvPr id="39" name="TextBox 15"/>
          <p:cNvSpPr txBox="1"/>
          <p:nvPr/>
        </p:nvSpPr>
        <p:spPr>
          <a:xfrm>
            <a:off x="2003170" y="2808040"/>
            <a:ext cx="245707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字体视界-NEW魏碑体" panose="02010601030101010101" pitchFamily="2" charset="-122"/>
                <a:ea typeface="字体视界-NEW魏碑体" panose="02010601030101010101" pitchFamily="2" charset="-122"/>
              </a:rPr>
              <a:t>目 录</a:t>
            </a:r>
            <a:endParaRPr kumimoji="0" lang="zh-CN" altLang="en-US" sz="4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字体视界-NEW魏碑体" panose="02010601030101010101" pitchFamily="2" charset="-122"/>
              <a:ea typeface="字体视界-NEW魏碑体" panose="02010601030101010101" pitchFamily="2" charset="-122"/>
            </a:endParaRPr>
          </a:p>
        </p:txBody>
      </p:sp>
      <p:sp>
        <p:nvSpPr>
          <p:cNvPr id="40" name="TextBox 20"/>
          <p:cNvSpPr txBox="1"/>
          <p:nvPr/>
        </p:nvSpPr>
        <p:spPr>
          <a:xfrm>
            <a:off x="1671009" y="3483444"/>
            <a:ext cx="3225562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60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字体视界-NEW魏碑体" panose="02010601030101010101" pitchFamily="2" charset="-122"/>
                <a:ea typeface="字体视界-NEW魏碑体" panose="02010601030101010101" pitchFamily="2" charset="-122"/>
              </a:rPr>
              <a:t>CONTENTS</a:t>
            </a:r>
            <a:endParaRPr kumimoji="0" lang="zh-CN" altLang="en-US" sz="1800" b="0" i="0" u="none" strike="noStrike" kern="1200" cap="none" spc="60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字体视界-NEW魏碑体" panose="02010601030101010101" pitchFamily="2" charset="-122"/>
              <a:ea typeface="字体视界-NEW魏碑体" panose="02010601030101010101" pitchFamily="2" charset="-122"/>
            </a:endParaRPr>
          </a:p>
        </p:txBody>
      </p:sp>
      <p:grpSp>
        <p:nvGrpSpPr>
          <p:cNvPr id="41" name="组合 40"/>
          <p:cNvGrpSpPr/>
          <p:nvPr/>
        </p:nvGrpSpPr>
        <p:grpSpPr>
          <a:xfrm>
            <a:off x="4698411" y="2187589"/>
            <a:ext cx="5776881" cy="453090"/>
            <a:chOff x="4946493" y="1597309"/>
            <a:chExt cx="5776881" cy="453090"/>
          </a:xfrm>
        </p:grpSpPr>
        <p:grpSp>
          <p:nvGrpSpPr>
            <p:cNvPr id="42" name="组合 41"/>
            <p:cNvGrpSpPr/>
            <p:nvPr/>
          </p:nvGrpSpPr>
          <p:grpSpPr>
            <a:xfrm>
              <a:off x="4946493" y="1597309"/>
              <a:ext cx="5776881" cy="453090"/>
              <a:chOff x="1363751" y="2406894"/>
              <a:chExt cx="5563001" cy="453090"/>
            </a:xfrm>
          </p:grpSpPr>
          <p:sp>
            <p:nvSpPr>
              <p:cNvPr id="44" name="TextBox 35"/>
              <p:cNvSpPr txBox="1"/>
              <p:nvPr/>
            </p:nvSpPr>
            <p:spPr>
              <a:xfrm rot="16200000">
                <a:off x="3910391" y="-111448"/>
                <a:ext cx="448412" cy="5485096"/>
              </a:xfrm>
              <a:prstGeom prst="rect">
                <a:avLst/>
              </a:prstGeom>
              <a:noFill/>
              <a:ln w="9525" cap="flat" cmpd="sng" algn="ctr">
                <a:solidFill>
                  <a:srgbClr val="C00000"/>
                </a:solidFill>
                <a:prstDash val="solid"/>
                <a:miter lim="800000"/>
              </a:ln>
              <a:effectLst>
                <a:innerShdw blurRad="127000" dist="88900" dir="18900000">
                  <a:prstClr val="black">
                    <a:alpha val="38000"/>
                  </a:prstClr>
                </a:innerShdw>
              </a:effectLst>
            </p:spPr>
            <p:txBody>
              <a:bodyPr vert="eaVert" lIns="0" tIns="0" rIns="0" bIns="360000" anchor="ctr"/>
              <a:lstStyle>
                <a:defPPr>
                  <a:defRPr lang="zh-CN"/>
                </a:defPPr>
                <a:lvl1pPr algn="ctr">
                  <a:defRPr sz="3200" kern="0">
                    <a:solidFill>
                      <a:prstClr val="white"/>
                    </a:solidFill>
                    <a:latin typeface="Calibri" panose="020F0502020204030204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marL="0" marR="0" lvl="0" indent="0" algn="ctr" defTabSz="1219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字体视界-NEW魏碑体" panose="02010601030101010101" pitchFamily="2" charset="-122"/>
                    <a:ea typeface="字体视界-NEW魏碑体" panose="02010601030101010101" pitchFamily="2" charset="-122"/>
                  </a:rPr>
                  <a:t> </a:t>
                </a:r>
                <a:endParaRPr kumimoji="0" lang="zh-CN" altLang="en-US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字体视界-NEW魏碑体" panose="02010601030101010101" pitchFamily="2" charset="-122"/>
                  <a:ea typeface="字体视界-NEW魏碑体" panose="02010601030101010101" pitchFamily="2" charset="-122"/>
                </a:endParaRPr>
              </a:p>
            </p:txBody>
          </p:sp>
          <p:grpSp>
            <p:nvGrpSpPr>
              <p:cNvPr id="45" name="组合 44"/>
              <p:cNvGrpSpPr/>
              <p:nvPr/>
            </p:nvGrpSpPr>
            <p:grpSpPr>
              <a:xfrm rot="16200000">
                <a:off x="3971555" y="-151581"/>
                <a:ext cx="347394" cy="5563001"/>
                <a:chOff x="1861559" y="2468597"/>
                <a:chExt cx="1872217" cy="5563001"/>
              </a:xfrm>
            </p:grpSpPr>
            <p:sp>
              <p:nvSpPr>
                <p:cNvPr id="47" name="圆角矩形 10"/>
                <p:cNvSpPr/>
                <p:nvPr/>
              </p:nvSpPr>
              <p:spPr>
                <a:xfrm>
                  <a:off x="1861559" y="2468597"/>
                  <a:ext cx="1872217" cy="7746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C00000"/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12192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字体视界-NEW魏碑体" panose="02010601030101010101" pitchFamily="2" charset="-122"/>
                    <a:ea typeface="字体视界-NEW魏碑体" panose="02010601030101010101" pitchFamily="2" charset="-122"/>
                  </a:endParaRPr>
                </a:p>
              </p:txBody>
            </p:sp>
            <p:sp>
              <p:nvSpPr>
                <p:cNvPr id="48" name="圆角矩形 11"/>
                <p:cNvSpPr/>
                <p:nvPr/>
              </p:nvSpPr>
              <p:spPr>
                <a:xfrm>
                  <a:off x="1861575" y="7954129"/>
                  <a:ext cx="1872201" cy="7746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C00000"/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12192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字体视界-NEW魏碑体" panose="02010601030101010101" pitchFamily="2" charset="-122"/>
                    <a:ea typeface="字体视界-NEW魏碑体" panose="02010601030101010101" pitchFamily="2" charset="-122"/>
                  </a:endParaRPr>
                </a:p>
              </p:txBody>
            </p:sp>
          </p:grpSp>
          <p:sp>
            <p:nvSpPr>
              <p:cNvPr id="46" name="TextBox 20"/>
              <p:cNvSpPr txBox="1"/>
              <p:nvPr/>
            </p:nvSpPr>
            <p:spPr>
              <a:xfrm>
                <a:off x="1615191" y="2410404"/>
                <a:ext cx="625157" cy="449580"/>
              </a:xfrm>
              <a:prstGeom prst="rect">
                <a:avLst/>
              </a:prstGeom>
              <a:solidFill>
                <a:srgbClr val="C00000"/>
              </a:solidFill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1219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4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6F2EA"/>
                    </a:solidFill>
                    <a:effectLst/>
                    <a:uLnTx/>
                    <a:uFillTx/>
                    <a:latin typeface="字体视界-NEW魏碑体" panose="02010601030101010101" pitchFamily="2" charset="-122"/>
                    <a:ea typeface="字体视界-NEW魏碑体" panose="02010601030101010101" pitchFamily="2" charset="-122"/>
                  </a:rPr>
                  <a:t>01</a:t>
                </a:r>
                <a:endPara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6F2EA"/>
                  </a:solidFill>
                  <a:effectLst/>
                  <a:uLnTx/>
                  <a:uFillTx/>
                  <a:latin typeface="字体视界-NEW魏碑体" panose="02010601030101010101" pitchFamily="2" charset="-122"/>
                  <a:ea typeface="字体视界-NEW魏碑体" panose="02010601030101010101" pitchFamily="2" charset="-122"/>
                </a:endParaRPr>
              </a:p>
            </p:txBody>
          </p:sp>
        </p:grpSp>
        <p:sp>
          <p:nvSpPr>
            <p:cNvPr id="43" name="文本框 21"/>
            <p:cNvSpPr txBox="1">
              <a:spLocks noChangeArrowheads="1"/>
            </p:cNvSpPr>
            <p:nvPr/>
          </p:nvSpPr>
          <p:spPr bwMode="auto">
            <a:xfrm>
              <a:off x="5905284" y="1645429"/>
              <a:ext cx="4578148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lvl="0" algn="ctr"/>
              <a:r>
                <a:rPr lang="zh-CN" altLang="en-US" sz="2000" b="1" dirty="0">
                  <a:solidFill>
                    <a:srgbClr val="C00000"/>
                  </a:solidFill>
                  <a:latin typeface="字体视界-NEW魏碑体" panose="02010601030101010101" pitchFamily="2" charset="-122"/>
                  <a:ea typeface="字体视界-NEW魏碑体" panose="02010601030101010101" pitchFamily="2" charset="-122"/>
                </a:rPr>
                <a:t>历史轶事与理论背景</a:t>
              </a:r>
              <a:endParaRPr lang="zh-CN" altLang="en-US" sz="2000" b="1" dirty="0">
                <a:solidFill>
                  <a:srgbClr val="C00000"/>
                </a:solidFill>
                <a:latin typeface="字体视界-NEW魏碑体" panose="02010601030101010101" pitchFamily="2" charset="-122"/>
                <a:ea typeface="字体视界-NEW魏碑体" panose="02010601030101010101" pitchFamily="2" charset="-122"/>
              </a:endParaRPr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4687346" y="3012953"/>
            <a:ext cx="5776881" cy="453090"/>
            <a:chOff x="4946493" y="1597309"/>
            <a:chExt cx="5776881" cy="453090"/>
          </a:xfrm>
        </p:grpSpPr>
        <p:grpSp>
          <p:nvGrpSpPr>
            <p:cNvPr id="50" name="组合 49"/>
            <p:cNvGrpSpPr/>
            <p:nvPr/>
          </p:nvGrpSpPr>
          <p:grpSpPr>
            <a:xfrm>
              <a:off x="4946493" y="1597309"/>
              <a:ext cx="5776881" cy="453090"/>
              <a:chOff x="1363751" y="2406894"/>
              <a:chExt cx="5563001" cy="453090"/>
            </a:xfrm>
          </p:grpSpPr>
          <p:sp>
            <p:nvSpPr>
              <p:cNvPr id="52" name="TextBox 35"/>
              <p:cNvSpPr txBox="1"/>
              <p:nvPr/>
            </p:nvSpPr>
            <p:spPr>
              <a:xfrm rot="16200000">
                <a:off x="3910391" y="-111448"/>
                <a:ext cx="448412" cy="5485096"/>
              </a:xfrm>
              <a:prstGeom prst="rect">
                <a:avLst/>
              </a:prstGeom>
              <a:noFill/>
              <a:ln w="9525" cap="flat" cmpd="sng" algn="ctr">
                <a:solidFill>
                  <a:srgbClr val="C00000"/>
                </a:solidFill>
                <a:prstDash val="solid"/>
                <a:miter lim="800000"/>
              </a:ln>
              <a:effectLst>
                <a:innerShdw blurRad="127000" dist="88900" dir="18900000">
                  <a:prstClr val="black">
                    <a:alpha val="38000"/>
                  </a:prstClr>
                </a:innerShdw>
              </a:effectLst>
            </p:spPr>
            <p:txBody>
              <a:bodyPr vert="eaVert" lIns="0" tIns="0" rIns="0" bIns="360000" anchor="ctr"/>
              <a:lstStyle>
                <a:defPPr>
                  <a:defRPr lang="zh-CN"/>
                </a:defPPr>
                <a:lvl1pPr algn="ctr">
                  <a:defRPr sz="3200" kern="0">
                    <a:solidFill>
                      <a:prstClr val="white"/>
                    </a:solidFill>
                    <a:latin typeface="Calibri" panose="020F0502020204030204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marL="0" marR="0" lvl="0" indent="0" algn="ctr" defTabSz="1219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字体视界-NEW魏碑体" panose="02010601030101010101" pitchFamily="2" charset="-122"/>
                    <a:ea typeface="字体视界-NEW魏碑体" panose="02010601030101010101" pitchFamily="2" charset="-122"/>
                  </a:rPr>
                  <a:t> </a:t>
                </a:r>
                <a:endParaRPr kumimoji="0" lang="zh-CN" altLang="en-US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字体视界-NEW魏碑体" panose="02010601030101010101" pitchFamily="2" charset="-122"/>
                  <a:ea typeface="字体视界-NEW魏碑体" panose="02010601030101010101" pitchFamily="2" charset="-122"/>
                </a:endParaRPr>
              </a:p>
            </p:txBody>
          </p:sp>
          <p:grpSp>
            <p:nvGrpSpPr>
              <p:cNvPr id="53" name="组合 52"/>
              <p:cNvGrpSpPr/>
              <p:nvPr/>
            </p:nvGrpSpPr>
            <p:grpSpPr>
              <a:xfrm rot="16200000">
                <a:off x="3971555" y="-151581"/>
                <a:ext cx="347394" cy="5563001"/>
                <a:chOff x="1861559" y="2468597"/>
                <a:chExt cx="1872217" cy="5563001"/>
              </a:xfrm>
            </p:grpSpPr>
            <p:sp>
              <p:nvSpPr>
                <p:cNvPr id="55" name="圆角矩形 10"/>
                <p:cNvSpPr/>
                <p:nvPr/>
              </p:nvSpPr>
              <p:spPr>
                <a:xfrm>
                  <a:off x="1861559" y="2468597"/>
                  <a:ext cx="1872217" cy="7746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C00000"/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12192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字体视界-NEW魏碑体" panose="02010601030101010101" pitchFamily="2" charset="-122"/>
                    <a:ea typeface="字体视界-NEW魏碑体" panose="02010601030101010101" pitchFamily="2" charset="-122"/>
                  </a:endParaRPr>
                </a:p>
              </p:txBody>
            </p:sp>
            <p:sp>
              <p:nvSpPr>
                <p:cNvPr id="56" name="圆角矩形 11"/>
                <p:cNvSpPr/>
                <p:nvPr/>
              </p:nvSpPr>
              <p:spPr>
                <a:xfrm>
                  <a:off x="1861575" y="7954129"/>
                  <a:ext cx="1872201" cy="7746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C00000"/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12192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字体视界-NEW魏碑体" panose="02010601030101010101" pitchFamily="2" charset="-122"/>
                    <a:ea typeface="字体视界-NEW魏碑体" panose="02010601030101010101" pitchFamily="2" charset="-122"/>
                  </a:endParaRPr>
                </a:p>
              </p:txBody>
            </p:sp>
          </p:grpSp>
          <p:sp>
            <p:nvSpPr>
              <p:cNvPr id="54" name="TextBox 20"/>
              <p:cNvSpPr txBox="1"/>
              <p:nvPr/>
            </p:nvSpPr>
            <p:spPr>
              <a:xfrm>
                <a:off x="1615191" y="2410404"/>
                <a:ext cx="625157" cy="449580"/>
              </a:xfrm>
              <a:prstGeom prst="rect">
                <a:avLst/>
              </a:prstGeom>
              <a:solidFill>
                <a:srgbClr val="C00000"/>
              </a:solidFill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1219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F6F2EA"/>
                    </a:solidFill>
                    <a:effectLst/>
                    <a:uLnTx/>
                    <a:uFillTx/>
                    <a:latin typeface="字体视界-NEW魏碑体" panose="02010601030101010101" pitchFamily="2" charset="-122"/>
                    <a:ea typeface="字体视界-NEW魏碑体" panose="02010601030101010101" pitchFamily="2" charset="-122"/>
                  </a:rPr>
                  <a:t>02</a:t>
                </a:r>
                <a:endPara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6F2EA"/>
                  </a:solidFill>
                  <a:effectLst/>
                  <a:uLnTx/>
                  <a:uFillTx/>
                  <a:latin typeface="字体视界-NEW魏碑体" panose="02010601030101010101" pitchFamily="2" charset="-122"/>
                  <a:ea typeface="字体视界-NEW魏碑体" panose="02010601030101010101" pitchFamily="2" charset="-122"/>
                </a:endParaRPr>
              </a:p>
            </p:txBody>
          </p:sp>
        </p:grpSp>
        <p:sp>
          <p:nvSpPr>
            <p:cNvPr id="51" name="文本框 21"/>
            <p:cNvSpPr txBox="1">
              <a:spLocks noChangeArrowheads="1"/>
            </p:cNvSpPr>
            <p:nvPr/>
          </p:nvSpPr>
          <p:spPr bwMode="auto">
            <a:xfrm>
              <a:off x="5905284" y="1645429"/>
              <a:ext cx="4578148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2000" b="1" dirty="0">
                  <a:solidFill>
                    <a:srgbClr val="C00000"/>
                  </a:solidFill>
                  <a:latin typeface="字体视界-NEW魏碑体" panose="02010601030101010101" pitchFamily="2" charset="-122"/>
                  <a:ea typeface="字体视界-NEW魏碑体" panose="02010601030101010101" pitchFamily="2" charset="-122"/>
                </a:rPr>
                <a:t>理论分析与历史意义</a:t>
              </a:r>
              <a:endParaRPr lang="zh-CN" altLang="en-US" sz="2000" b="1" dirty="0">
                <a:solidFill>
                  <a:srgbClr val="C00000"/>
                </a:solidFill>
                <a:latin typeface="字体视界-NEW魏碑体" panose="02010601030101010101" pitchFamily="2" charset="-122"/>
                <a:ea typeface="字体视界-NEW魏碑体" panose="02010601030101010101" pitchFamily="2" charset="-122"/>
              </a:endParaRPr>
            </a:p>
          </p:txBody>
        </p:sp>
      </p:grpSp>
      <p:grpSp>
        <p:nvGrpSpPr>
          <p:cNvPr id="57" name="组合 56"/>
          <p:cNvGrpSpPr/>
          <p:nvPr/>
        </p:nvGrpSpPr>
        <p:grpSpPr>
          <a:xfrm>
            <a:off x="4698411" y="3886446"/>
            <a:ext cx="5776881" cy="453090"/>
            <a:chOff x="4946493" y="1597309"/>
            <a:chExt cx="5776881" cy="453090"/>
          </a:xfrm>
        </p:grpSpPr>
        <p:grpSp>
          <p:nvGrpSpPr>
            <p:cNvPr id="58" name="组合 57"/>
            <p:cNvGrpSpPr/>
            <p:nvPr/>
          </p:nvGrpSpPr>
          <p:grpSpPr>
            <a:xfrm>
              <a:off x="4946493" y="1597309"/>
              <a:ext cx="5776881" cy="453090"/>
              <a:chOff x="1363751" y="2406894"/>
              <a:chExt cx="5563001" cy="453090"/>
            </a:xfrm>
          </p:grpSpPr>
          <p:sp>
            <p:nvSpPr>
              <p:cNvPr id="60" name="TextBox 35"/>
              <p:cNvSpPr txBox="1"/>
              <p:nvPr/>
            </p:nvSpPr>
            <p:spPr>
              <a:xfrm rot="16200000">
                <a:off x="3910391" y="-111448"/>
                <a:ext cx="448412" cy="5485096"/>
              </a:xfrm>
              <a:prstGeom prst="rect">
                <a:avLst/>
              </a:prstGeom>
              <a:noFill/>
              <a:ln w="9525" cap="flat" cmpd="sng" algn="ctr">
                <a:solidFill>
                  <a:srgbClr val="C00000"/>
                </a:solidFill>
                <a:prstDash val="solid"/>
                <a:miter lim="800000"/>
              </a:ln>
              <a:effectLst>
                <a:innerShdw blurRad="127000" dist="88900" dir="18900000">
                  <a:prstClr val="black">
                    <a:alpha val="38000"/>
                  </a:prstClr>
                </a:innerShdw>
              </a:effectLst>
            </p:spPr>
            <p:txBody>
              <a:bodyPr vert="eaVert" lIns="0" tIns="0" rIns="0" bIns="360000" anchor="ctr"/>
              <a:lstStyle>
                <a:defPPr>
                  <a:defRPr lang="zh-CN"/>
                </a:defPPr>
                <a:lvl1pPr algn="ctr">
                  <a:defRPr sz="3200" kern="0">
                    <a:solidFill>
                      <a:prstClr val="white"/>
                    </a:solidFill>
                    <a:latin typeface="Calibri" panose="020F0502020204030204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marL="0" marR="0" lvl="0" indent="0" algn="ctr" defTabSz="1219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字体视界-NEW魏碑体" panose="02010601030101010101" pitchFamily="2" charset="-122"/>
                    <a:ea typeface="字体视界-NEW魏碑体" panose="02010601030101010101" pitchFamily="2" charset="-122"/>
                  </a:rPr>
                  <a:t> </a:t>
                </a:r>
                <a:endParaRPr kumimoji="0" lang="zh-CN" altLang="en-US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字体视界-NEW魏碑体" panose="02010601030101010101" pitchFamily="2" charset="-122"/>
                  <a:ea typeface="字体视界-NEW魏碑体" panose="02010601030101010101" pitchFamily="2" charset="-122"/>
                </a:endParaRPr>
              </a:p>
            </p:txBody>
          </p:sp>
          <p:grpSp>
            <p:nvGrpSpPr>
              <p:cNvPr id="61" name="组合 60"/>
              <p:cNvGrpSpPr/>
              <p:nvPr/>
            </p:nvGrpSpPr>
            <p:grpSpPr>
              <a:xfrm rot="16200000">
                <a:off x="3971555" y="-151581"/>
                <a:ext cx="347394" cy="5563001"/>
                <a:chOff x="1861559" y="2468597"/>
                <a:chExt cx="1872217" cy="5563001"/>
              </a:xfrm>
            </p:grpSpPr>
            <p:sp>
              <p:nvSpPr>
                <p:cNvPr id="63" name="圆角矩形 10"/>
                <p:cNvSpPr/>
                <p:nvPr/>
              </p:nvSpPr>
              <p:spPr>
                <a:xfrm>
                  <a:off x="1861559" y="2468597"/>
                  <a:ext cx="1872217" cy="7746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C00000"/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12192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字体视界-NEW魏碑体" panose="02010601030101010101" pitchFamily="2" charset="-122"/>
                    <a:ea typeface="字体视界-NEW魏碑体" panose="02010601030101010101" pitchFamily="2" charset="-122"/>
                  </a:endParaRPr>
                </a:p>
              </p:txBody>
            </p:sp>
            <p:sp>
              <p:nvSpPr>
                <p:cNvPr id="64" name="圆角矩形 11"/>
                <p:cNvSpPr/>
                <p:nvPr/>
              </p:nvSpPr>
              <p:spPr>
                <a:xfrm>
                  <a:off x="1861575" y="7954129"/>
                  <a:ext cx="1872201" cy="7746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C00000"/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12192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字体视界-NEW魏碑体" panose="02010601030101010101" pitchFamily="2" charset="-122"/>
                    <a:ea typeface="字体视界-NEW魏碑体" panose="02010601030101010101" pitchFamily="2" charset="-122"/>
                  </a:endParaRPr>
                </a:p>
              </p:txBody>
            </p:sp>
          </p:grpSp>
          <p:sp>
            <p:nvSpPr>
              <p:cNvPr id="62" name="TextBox 20"/>
              <p:cNvSpPr txBox="1"/>
              <p:nvPr/>
            </p:nvSpPr>
            <p:spPr>
              <a:xfrm>
                <a:off x="1615191" y="2410404"/>
                <a:ext cx="625157" cy="449580"/>
              </a:xfrm>
              <a:prstGeom prst="rect">
                <a:avLst/>
              </a:prstGeom>
              <a:solidFill>
                <a:srgbClr val="C00000"/>
              </a:solidFill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1219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F6F2EA"/>
                    </a:solidFill>
                    <a:effectLst/>
                    <a:uLnTx/>
                    <a:uFillTx/>
                    <a:latin typeface="字体视界-NEW魏碑体" panose="02010601030101010101" pitchFamily="2" charset="-122"/>
                    <a:ea typeface="字体视界-NEW魏碑体" panose="02010601030101010101" pitchFamily="2" charset="-122"/>
                  </a:rPr>
                  <a:t>03</a:t>
                </a:r>
                <a:endPara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6F2EA"/>
                  </a:solidFill>
                  <a:effectLst/>
                  <a:uLnTx/>
                  <a:uFillTx/>
                  <a:latin typeface="字体视界-NEW魏碑体" panose="02010601030101010101" pitchFamily="2" charset="-122"/>
                  <a:ea typeface="字体视界-NEW魏碑体" panose="02010601030101010101" pitchFamily="2" charset="-122"/>
                </a:endParaRPr>
              </a:p>
            </p:txBody>
          </p:sp>
        </p:grpSp>
        <p:sp>
          <p:nvSpPr>
            <p:cNvPr id="59" name="文本框 21"/>
            <p:cNvSpPr txBox="1">
              <a:spLocks noChangeArrowheads="1"/>
            </p:cNvSpPr>
            <p:nvPr/>
          </p:nvSpPr>
          <p:spPr bwMode="auto">
            <a:xfrm>
              <a:off x="5905284" y="1645429"/>
              <a:ext cx="4578148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2000" b="1" dirty="0">
                  <a:solidFill>
                    <a:srgbClr val="C00000"/>
                  </a:solidFill>
                  <a:latin typeface="字体视界-NEW魏碑体" panose="02010601030101010101" pitchFamily="2" charset="-122"/>
                  <a:ea typeface="字体视界-NEW魏碑体" panose="02010601030101010101" pitchFamily="2" charset="-122"/>
                </a:rPr>
                <a:t>当代启示与青年责任</a:t>
              </a:r>
              <a:endParaRPr lang="zh-CN" altLang="en-US" sz="2000" b="1" dirty="0">
                <a:solidFill>
                  <a:srgbClr val="C00000"/>
                </a:solidFill>
                <a:latin typeface="字体视界-NEW魏碑体" panose="02010601030101010101" pitchFamily="2" charset="-122"/>
                <a:ea typeface="字体视界-NEW魏碑体" panose="02010601030101010101" pitchFamily="2" charset="-122"/>
              </a:endParaRPr>
            </a:p>
          </p:txBody>
        </p:sp>
      </p:grpSp>
      <p:pic>
        <p:nvPicPr>
          <p:cNvPr id="73" name="Picture 11" descr="F:\桌面\党政机关\素材\党徽\Nipic_20180988_201509091138025270001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5035" y="1772866"/>
            <a:ext cx="1233339" cy="1009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4" name="图片 7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902340" flipH="1">
            <a:off x="686735" y="622930"/>
            <a:ext cx="3143832" cy="130993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000"/>
                            </p:stCondLst>
                            <p:childTnLst>
                              <p:par>
                                <p:cTn id="33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500"/>
                            </p:stCondLst>
                            <p:childTnLst>
                              <p:par>
                                <p:cTn id="38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000"/>
                            </p:stCondLst>
                            <p:childTnLst>
                              <p:par>
                                <p:cTn id="4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54167E-6 -2.59259E-6 L 0.31575 -2.59259E-6 " pathEditMode="relative" rAng="0" ptsTypes="AA">
                                      <p:cBhvr>
                                        <p:cTn id="49" dur="2000" spd="-100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78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2578" y="5737759"/>
            <a:ext cx="6809422" cy="1120241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049960"/>
            <a:ext cx="4460240" cy="2788989"/>
          </a:xfrm>
          <a:prstGeom prst="rect">
            <a:avLst/>
          </a:prstGeom>
        </p:spPr>
      </p:pic>
      <p:pic>
        <p:nvPicPr>
          <p:cNvPr id="74" name="图片 7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902340" flipH="1">
            <a:off x="686735" y="622930"/>
            <a:ext cx="3143832" cy="1309931"/>
          </a:xfrm>
          <a:prstGeom prst="rect">
            <a:avLst/>
          </a:prstGeom>
        </p:spPr>
      </p:pic>
      <p:sp>
        <p:nvSpPr>
          <p:cNvPr id="75" name="文本框 74"/>
          <p:cNvSpPr txBox="1"/>
          <p:nvPr/>
        </p:nvSpPr>
        <p:spPr>
          <a:xfrm>
            <a:off x="4460240" y="2467132"/>
            <a:ext cx="326243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字体视界-NEW魏碑体" panose="02010601030101010101" pitchFamily="2" charset="-122"/>
                <a:ea typeface="字体视界-NEW魏碑体" panose="02010601030101010101" pitchFamily="2" charset="-122"/>
                <a:cs typeface="+mn-ea"/>
                <a:sym typeface="+mn-lt"/>
              </a:rPr>
              <a:t>第一部分</a:t>
            </a:r>
            <a:endParaRPr kumimoji="0" lang="zh-CN" altLang="en-US" sz="60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字体视界-NEW魏碑体" panose="02010601030101010101" pitchFamily="2" charset="-122"/>
              <a:ea typeface="字体视界-NEW魏碑体" panose="02010601030101010101" pitchFamily="2" charset="-122"/>
              <a:cs typeface="+mn-ea"/>
              <a:sym typeface="+mn-lt"/>
            </a:endParaRPr>
          </a:p>
        </p:txBody>
      </p:sp>
      <p:sp>
        <p:nvSpPr>
          <p:cNvPr id="77" name="Freeform 29"/>
          <p:cNvSpPr/>
          <p:nvPr/>
        </p:nvSpPr>
        <p:spPr bwMode="auto">
          <a:xfrm>
            <a:off x="5221018" y="590692"/>
            <a:ext cx="1749965" cy="1563763"/>
          </a:xfrm>
          <a:custGeom>
            <a:avLst/>
            <a:gdLst>
              <a:gd name="T0" fmla="*/ 803 w 1880"/>
              <a:gd name="T1" fmla="*/ 15 h 1680"/>
              <a:gd name="T2" fmla="*/ 1253 w 1880"/>
              <a:gd name="T3" fmla="*/ 1067 h 1680"/>
              <a:gd name="T4" fmla="*/ 728 w 1880"/>
              <a:gd name="T5" fmla="*/ 540 h 1680"/>
              <a:gd name="T6" fmla="*/ 928 w 1880"/>
              <a:gd name="T7" fmla="*/ 339 h 1680"/>
              <a:gd name="T8" fmla="*/ 803 w 1880"/>
              <a:gd name="T9" fmla="*/ 215 h 1680"/>
              <a:gd name="T10" fmla="*/ 549 w 1880"/>
              <a:gd name="T11" fmla="*/ 267 h 1680"/>
              <a:gd name="T12" fmla="*/ 150 w 1880"/>
              <a:gd name="T13" fmla="*/ 666 h 1680"/>
              <a:gd name="T14" fmla="*/ 376 w 1880"/>
              <a:gd name="T15" fmla="*/ 890 h 1680"/>
              <a:gd name="T16" fmla="*/ 527 w 1880"/>
              <a:gd name="T17" fmla="*/ 741 h 1680"/>
              <a:gd name="T18" fmla="*/ 1052 w 1880"/>
              <a:gd name="T19" fmla="*/ 1266 h 1680"/>
              <a:gd name="T20" fmla="*/ 176 w 1880"/>
              <a:gd name="T21" fmla="*/ 1090 h 1680"/>
              <a:gd name="T22" fmla="*/ 49 w 1880"/>
              <a:gd name="T23" fmla="*/ 1217 h 1680"/>
              <a:gd name="T24" fmla="*/ 159 w 1880"/>
              <a:gd name="T25" fmla="*/ 1357 h 1680"/>
              <a:gd name="T26" fmla="*/ 144 w 1880"/>
              <a:gd name="T27" fmla="*/ 1371 h 1680"/>
              <a:gd name="T28" fmla="*/ 122 w 1880"/>
              <a:gd name="T29" fmla="*/ 1367 h 1680"/>
              <a:gd name="T30" fmla="*/ 0 w 1880"/>
              <a:gd name="T31" fmla="*/ 1494 h 1680"/>
              <a:gd name="T32" fmla="*/ 123 w 1880"/>
              <a:gd name="T33" fmla="*/ 1616 h 1680"/>
              <a:gd name="T34" fmla="*/ 249 w 1880"/>
              <a:gd name="T35" fmla="*/ 1493 h 1680"/>
              <a:gd name="T36" fmla="*/ 245 w 1880"/>
              <a:gd name="T37" fmla="*/ 1470 h 1680"/>
              <a:gd name="T38" fmla="*/ 265 w 1880"/>
              <a:gd name="T39" fmla="*/ 1451 h 1680"/>
              <a:gd name="T40" fmla="*/ 1255 w 1880"/>
              <a:gd name="T41" fmla="*/ 1467 h 1680"/>
              <a:gd name="T42" fmla="*/ 1402 w 1880"/>
              <a:gd name="T43" fmla="*/ 1615 h 1680"/>
              <a:gd name="T44" fmla="*/ 1603 w 1880"/>
              <a:gd name="T45" fmla="*/ 1416 h 1680"/>
              <a:gd name="T46" fmla="*/ 1455 w 1880"/>
              <a:gd name="T47" fmla="*/ 1267 h 1680"/>
              <a:gd name="T48" fmla="*/ 803 w 1880"/>
              <a:gd name="T49" fmla="*/ 15 h 16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1880" h="1680">
                <a:moveTo>
                  <a:pt x="803" y="15"/>
                </a:moveTo>
                <a:cubicBezTo>
                  <a:pt x="1217" y="170"/>
                  <a:pt x="1468" y="665"/>
                  <a:pt x="1253" y="1067"/>
                </a:cubicBezTo>
                <a:cubicBezTo>
                  <a:pt x="728" y="540"/>
                  <a:pt x="728" y="540"/>
                  <a:pt x="728" y="540"/>
                </a:cubicBezTo>
                <a:cubicBezTo>
                  <a:pt x="928" y="339"/>
                  <a:pt x="928" y="339"/>
                  <a:pt x="928" y="339"/>
                </a:cubicBezTo>
                <a:cubicBezTo>
                  <a:pt x="803" y="215"/>
                  <a:pt x="803" y="215"/>
                  <a:pt x="803" y="215"/>
                </a:cubicBezTo>
                <a:cubicBezTo>
                  <a:pt x="733" y="282"/>
                  <a:pt x="623" y="297"/>
                  <a:pt x="549" y="267"/>
                </a:cubicBezTo>
                <a:cubicBezTo>
                  <a:pt x="150" y="666"/>
                  <a:pt x="150" y="666"/>
                  <a:pt x="150" y="666"/>
                </a:cubicBezTo>
                <a:cubicBezTo>
                  <a:pt x="376" y="890"/>
                  <a:pt x="376" y="890"/>
                  <a:pt x="376" y="890"/>
                </a:cubicBezTo>
                <a:cubicBezTo>
                  <a:pt x="527" y="741"/>
                  <a:pt x="527" y="741"/>
                  <a:pt x="527" y="741"/>
                </a:cubicBezTo>
                <a:cubicBezTo>
                  <a:pt x="1052" y="1266"/>
                  <a:pt x="1052" y="1266"/>
                  <a:pt x="1052" y="1266"/>
                </a:cubicBezTo>
                <a:cubicBezTo>
                  <a:pt x="795" y="1407"/>
                  <a:pt x="439" y="1363"/>
                  <a:pt x="176" y="1090"/>
                </a:cubicBezTo>
                <a:cubicBezTo>
                  <a:pt x="49" y="1217"/>
                  <a:pt x="49" y="1217"/>
                  <a:pt x="49" y="1217"/>
                </a:cubicBezTo>
                <a:cubicBezTo>
                  <a:pt x="87" y="1270"/>
                  <a:pt x="119" y="1317"/>
                  <a:pt x="159" y="1357"/>
                </a:cubicBezTo>
                <a:cubicBezTo>
                  <a:pt x="155" y="1362"/>
                  <a:pt x="144" y="1371"/>
                  <a:pt x="144" y="1371"/>
                </a:cubicBezTo>
                <a:cubicBezTo>
                  <a:pt x="137" y="1370"/>
                  <a:pt x="129" y="1367"/>
                  <a:pt x="122" y="1367"/>
                </a:cubicBezTo>
                <a:cubicBezTo>
                  <a:pt x="55" y="1367"/>
                  <a:pt x="0" y="1426"/>
                  <a:pt x="0" y="1494"/>
                </a:cubicBezTo>
                <a:cubicBezTo>
                  <a:pt x="0" y="1561"/>
                  <a:pt x="55" y="1616"/>
                  <a:pt x="123" y="1616"/>
                </a:cubicBezTo>
                <a:cubicBezTo>
                  <a:pt x="191" y="1616"/>
                  <a:pt x="249" y="1561"/>
                  <a:pt x="249" y="1493"/>
                </a:cubicBezTo>
                <a:cubicBezTo>
                  <a:pt x="249" y="1485"/>
                  <a:pt x="247" y="1478"/>
                  <a:pt x="245" y="1470"/>
                </a:cubicBezTo>
                <a:cubicBezTo>
                  <a:pt x="265" y="1451"/>
                  <a:pt x="265" y="1451"/>
                  <a:pt x="265" y="1451"/>
                </a:cubicBezTo>
                <a:cubicBezTo>
                  <a:pt x="567" y="1655"/>
                  <a:pt x="898" y="1680"/>
                  <a:pt x="1255" y="1467"/>
                </a:cubicBezTo>
                <a:cubicBezTo>
                  <a:pt x="1402" y="1615"/>
                  <a:pt x="1402" y="1615"/>
                  <a:pt x="1402" y="1615"/>
                </a:cubicBezTo>
                <a:cubicBezTo>
                  <a:pt x="1603" y="1416"/>
                  <a:pt x="1603" y="1416"/>
                  <a:pt x="1603" y="1416"/>
                </a:cubicBezTo>
                <a:cubicBezTo>
                  <a:pt x="1455" y="1267"/>
                  <a:pt x="1455" y="1267"/>
                  <a:pt x="1455" y="1267"/>
                </a:cubicBezTo>
                <a:cubicBezTo>
                  <a:pt x="1880" y="628"/>
                  <a:pt x="1313" y="0"/>
                  <a:pt x="803" y="15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字体视界-NEW魏碑体" panose="02010601030101010101" pitchFamily="2" charset="-122"/>
              <a:ea typeface="字体视界-NEW魏碑体" panose="02010601030101010101" pitchFamily="2" charset="-122"/>
              <a:cs typeface="+mn-ea"/>
              <a:sym typeface="+mn-lt"/>
            </a:endParaRPr>
          </a:p>
        </p:txBody>
      </p:sp>
      <p:sp>
        <p:nvSpPr>
          <p:cNvPr id="78" name="文本框 77"/>
          <p:cNvSpPr txBox="1"/>
          <p:nvPr/>
        </p:nvSpPr>
        <p:spPr>
          <a:xfrm>
            <a:off x="3238223" y="3393756"/>
            <a:ext cx="572464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ctr"/>
            <a:r>
              <a:rPr lang="zh-CN" altLang="en-US" sz="4800" b="1" dirty="0">
                <a:solidFill>
                  <a:srgbClr val="C00000"/>
                </a:solidFill>
                <a:latin typeface="字体视界-NEW魏碑体" panose="02010601030101010101" pitchFamily="2" charset="-122"/>
                <a:ea typeface="字体视界-NEW魏碑体" panose="02010601030101010101" pitchFamily="2" charset="-122"/>
              </a:rPr>
              <a:t>历史轶事与理论背景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字体视界-NEW魏碑体" panose="02010601030101010101" pitchFamily="2" charset="-122"/>
              <a:ea typeface="字体视界-NEW魏碑体" panose="02010601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54167E-6 -2.59259E-6 L 0.31575 -2.59259E-6 " pathEditMode="relative" rAng="0" ptsTypes="AA">
                                      <p:cBhvr>
                                        <p:cTn id="21" dur="2000" spd="-100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781" y="0"/>
                                    </p:animMotion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25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25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25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6" presetClass="emph" presetSubtype="0" decel="100000" fill="hold" grpId="1" nodeType="withEffect">
                                  <p:stCondLst>
                                    <p:cond delay="600"/>
                                  </p:stCondLst>
                                  <p:childTnLst>
                                    <p:animScale>
                                      <p:cBhvr>
                                        <p:cTn id="28" dur="250" fill="hold"/>
                                        <p:tgtEl>
                                          <p:spTgt spid="75"/>
                                        </p:tgtEl>
                                      </p:cBhvr>
                                      <p:by x="120000" y="120000"/>
                                    </p:animScale>
                                  </p:childTnLst>
                                </p:cTn>
                              </p:par>
                              <p:par>
                                <p:cTn id="29" presetID="6" presetClass="emph" presetSubtype="0" decel="100000" fill="hold" grpId="2" nodeType="withEffect">
                                  <p:stCondLst>
                                    <p:cond delay="800"/>
                                  </p:stCondLst>
                                  <p:childTnLst>
                                    <p:animScale>
                                      <p:cBhvr>
                                        <p:cTn id="30" dur="250" fill="hold"/>
                                        <p:tgtEl>
                                          <p:spTgt spid="75"/>
                                        </p:tgtEl>
                                      </p:cBhvr>
                                      <p:by x="83000" y="83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0"/>
                            </p:stCondLst>
                            <p:childTnLst>
                              <p:par>
                                <p:cTn id="32" presetID="23" presetClass="entr" presetSubtype="3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25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25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25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6" presetClass="emph" presetSubtype="0" decel="100000" fill="hold" grpId="1" nodeType="withEffect">
                                  <p:stCondLst>
                                    <p:cond delay="600"/>
                                  </p:stCondLst>
                                  <p:childTnLst>
                                    <p:animScale>
                                      <p:cBhvr>
                                        <p:cTn id="44" dur="250" fill="hold"/>
                                        <p:tgtEl>
                                          <p:spTgt spid="78"/>
                                        </p:tgtEl>
                                      </p:cBhvr>
                                      <p:by x="120000" y="120000"/>
                                    </p:animScale>
                                  </p:childTnLst>
                                </p:cTn>
                              </p:par>
                              <p:par>
                                <p:cTn id="45" presetID="6" presetClass="emph" presetSubtype="0" decel="100000" fill="hold" grpId="2" nodeType="withEffect">
                                  <p:stCondLst>
                                    <p:cond delay="800"/>
                                  </p:stCondLst>
                                  <p:childTnLst>
                                    <p:animScale>
                                      <p:cBhvr>
                                        <p:cTn id="46" dur="250" fill="hold"/>
                                        <p:tgtEl>
                                          <p:spTgt spid="78"/>
                                        </p:tgtEl>
                                      </p:cBhvr>
                                      <p:by x="83000" y="83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" grpId="0"/>
      <p:bldP spid="75" grpId="1"/>
      <p:bldP spid="75" grpId="2"/>
      <p:bldP spid="77" grpId="0" animBg="1"/>
      <p:bldP spid="78" grpId="0"/>
      <p:bldP spid="78" grpId="1"/>
      <p:bldP spid="78" grpId="2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8923" y="246423"/>
            <a:ext cx="4103077" cy="675011"/>
          </a:xfrm>
          <a:prstGeom prst="rect">
            <a:avLst/>
          </a:prstGeom>
        </p:spPr>
      </p:pic>
      <p:cxnSp>
        <p:nvCxnSpPr>
          <p:cNvPr id="26" name="直接连接符 25"/>
          <p:cNvCxnSpPr/>
          <p:nvPr/>
        </p:nvCxnSpPr>
        <p:spPr>
          <a:xfrm>
            <a:off x="0" y="921434"/>
            <a:ext cx="12192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/>
          <p:cNvSpPr/>
          <p:nvPr/>
        </p:nvSpPr>
        <p:spPr>
          <a:xfrm>
            <a:off x="1060287" y="353095"/>
            <a:ext cx="52621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accent1"/>
                </a:solidFill>
                <a:latin typeface="字体视界-NEW魏碑体" panose="02010601030101010101" pitchFamily="2" charset="-122"/>
                <a:ea typeface="字体视界-NEW魏碑体" panose="02010601030101010101" pitchFamily="2" charset="-122"/>
                <a:cs typeface="+mn-ea"/>
                <a:sym typeface="+mn-lt"/>
              </a:rPr>
              <a:t>第一部分：</a:t>
            </a:r>
            <a:r>
              <a:rPr lang="zh-CN" altLang="en-US" sz="2400" b="1" dirty="0">
                <a:solidFill>
                  <a:srgbClr val="C00000"/>
                </a:solidFill>
                <a:latin typeface="字体视界-NEW魏碑体" panose="02010601030101010101" pitchFamily="2" charset="-122"/>
                <a:ea typeface="字体视界-NEW魏碑体" panose="02010601030101010101" pitchFamily="2" charset="-122"/>
              </a:rPr>
              <a:t>历史轶事与理论背景</a:t>
            </a:r>
            <a:endParaRPr lang="zh-CN" altLang="en-US" sz="2400" b="1" dirty="0">
              <a:solidFill>
                <a:srgbClr val="C00000"/>
              </a:solidFill>
              <a:latin typeface="字体视界-NEW魏碑体" panose="02010601030101010101" pitchFamily="2" charset="-122"/>
              <a:ea typeface="字体视界-NEW魏碑体" panose="02010601030101010101" pitchFamily="2" charset="-122"/>
            </a:endParaRPr>
          </a:p>
        </p:txBody>
      </p:sp>
      <p:sp>
        <p:nvSpPr>
          <p:cNvPr id="28" name="Freeform 29"/>
          <p:cNvSpPr/>
          <p:nvPr/>
        </p:nvSpPr>
        <p:spPr bwMode="auto">
          <a:xfrm>
            <a:off x="288468" y="125065"/>
            <a:ext cx="771819" cy="689695"/>
          </a:xfrm>
          <a:custGeom>
            <a:avLst/>
            <a:gdLst>
              <a:gd name="T0" fmla="*/ 803 w 1880"/>
              <a:gd name="T1" fmla="*/ 15 h 1680"/>
              <a:gd name="T2" fmla="*/ 1253 w 1880"/>
              <a:gd name="T3" fmla="*/ 1067 h 1680"/>
              <a:gd name="T4" fmla="*/ 728 w 1880"/>
              <a:gd name="T5" fmla="*/ 540 h 1680"/>
              <a:gd name="T6" fmla="*/ 928 w 1880"/>
              <a:gd name="T7" fmla="*/ 339 h 1680"/>
              <a:gd name="T8" fmla="*/ 803 w 1880"/>
              <a:gd name="T9" fmla="*/ 215 h 1680"/>
              <a:gd name="T10" fmla="*/ 549 w 1880"/>
              <a:gd name="T11" fmla="*/ 267 h 1680"/>
              <a:gd name="T12" fmla="*/ 150 w 1880"/>
              <a:gd name="T13" fmla="*/ 666 h 1680"/>
              <a:gd name="T14" fmla="*/ 376 w 1880"/>
              <a:gd name="T15" fmla="*/ 890 h 1680"/>
              <a:gd name="T16" fmla="*/ 527 w 1880"/>
              <a:gd name="T17" fmla="*/ 741 h 1680"/>
              <a:gd name="T18" fmla="*/ 1052 w 1880"/>
              <a:gd name="T19" fmla="*/ 1266 h 1680"/>
              <a:gd name="T20" fmla="*/ 176 w 1880"/>
              <a:gd name="T21" fmla="*/ 1090 h 1680"/>
              <a:gd name="T22" fmla="*/ 49 w 1880"/>
              <a:gd name="T23" fmla="*/ 1217 h 1680"/>
              <a:gd name="T24" fmla="*/ 159 w 1880"/>
              <a:gd name="T25" fmla="*/ 1357 h 1680"/>
              <a:gd name="T26" fmla="*/ 144 w 1880"/>
              <a:gd name="T27" fmla="*/ 1371 h 1680"/>
              <a:gd name="T28" fmla="*/ 122 w 1880"/>
              <a:gd name="T29" fmla="*/ 1367 h 1680"/>
              <a:gd name="T30" fmla="*/ 0 w 1880"/>
              <a:gd name="T31" fmla="*/ 1494 h 1680"/>
              <a:gd name="T32" fmla="*/ 123 w 1880"/>
              <a:gd name="T33" fmla="*/ 1616 h 1680"/>
              <a:gd name="T34" fmla="*/ 249 w 1880"/>
              <a:gd name="T35" fmla="*/ 1493 h 1680"/>
              <a:gd name="T36" fmla="*/ 245 w 1880"/>
              <a:gd name="T37" fmla="*/ 1470 h 1680"/>
              <a:gd name="T38" fmla="*/ 265 w 1880"/>
              <a:gd name="T39" fmla="*/ 1451 h 1680"/>
              <a:gd name="T40" fmla="*/ 1255 w 1880"/>
              <a:gd name="T41" fmla="*/ 1467 h 1680"/>
              <a:gd name="T42" fmla="*/ 1402 w 1880"/>
              <a:gd name="T43" fmla="*/ 1615 h 1680"/>
              <a:gd name="T44" fmla="*/ 1603 w 1880"/>
              <a:gd name="T45" fmla="*/ 1416 h 1680"/>
              <a:gd name="T46" fmla="*/ 1455 w 1880"/>
              <a:gd name="T47" fmla="*/ 1267 h 1680"/>
              <a:gd name="T48" fmla="*/ 803 w 1880"/>
              <a:gd name="T49" fmla="*/ 15 h 16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1880" h="1680">
                <a:moveTo>
                  <a:pt x="803" y="15"/>
                </a:moveTo>
                <a:cubicBezTo>
                  <a:pt x="1217" y="170"/>
                  <a:pt x="1468" y="665"/>
                  <a:pt x="1253" y="1067"/>
                </a:cubicBezTo>
                <a:cubicBezTo>
                  <a:pt x="728" y="540"/>
                  <a:pt x="728" y="540"/>
                  <a:pt x="728" y="540"/>
                </a:cubicBezTo>
                <a:cubicBezTo>
                  <a:pt x="928" y="339"/>
                  <a:pt x="928" y="339"/>
                  <a:pt x="928" y="339"/>
                </a:cubicBezTo>
                <a:cubicBezTo>
                  <a:pt x="803" y="215"/>
                  <a:pt x="803" y="215"/>
                  <a:pt x="803" y="215"/>
                </a:cubicBezTo>
                <a:cubicBezTo>
                  <a:pt x="733" y="282"/>
                  <a:pt x="623" y="297"/>
                  <a:pt x="549" y="267"/>
                </a:cubicBezTo>
                <a:cubicBezTo>
                  <a:pt x="150" y="666"/>
                  <a:pt x="150" y="666"/>
                  <a:pt x="150" y="666"/>
                </a:cubicBezTo>
                <a:cubicBezTo>
                  <a:pt x="376" y="890"/>
                  <a:pt x="376" y="890"/>
                  <a:pt x="376" y="890"/>
                </a:cubicBezTo>
                <a:cubicBezTo>
                  <a:pt x="527" y="741"/>
                  <a:pt x="527" y="741"/>
                  <a:pt x="527" y="741"/>
                </a:cubicBezTo>
                <a:cubicBezTo>
                  <a:pt x="1052" y="1266"/>
                  <a:pt x="1052" y="1266"/>
                  <a:pt x="1052" y="1266"/>
                </a:cubicBezTo>
                <a:cubicBezTo>
                  <a:pt x="795" y="1407"/>
                  <a:pt x="439" y="1363"/>
                  <a:pt x="176" y="1090"/>
                </a:cubicBezTo>
                <a:cubicBezTo>
                  <a:pt x="49" y="1217"/>
                  <a:pt x="49" y="1217"/>
                  <a:pt x="49" y="1217"/>
                </a:cubicBezTo>
                <a:cubicBezTo>
                  <a:pt x="87" y="1270"/>
                  <a:pt x="119" y="1317"/>
                  <a:pt x="159" y="1357"/>
                </a:cubicBezTo>
                <a:cubicBezTo>
                  <a:pt x="155" y="1362"/>
                  <a:pt x="144" y="1371"/>
                  <a:pt x="144" y="1371"/>
                </a:cubicBezTo>
                <a:cubicBezTo>
                  <a:pt x="137" y="1370"/>
                  <a:pt x="129" y="1367"/>
                  <a:pt x="122" y="1367"/>
                </a:cubicBezTo>
                <a:cubicBezTo>
                  <a:pt x="55" y="1367"/>
                  <a:pt x="0" y="1426"/>
                  <a:pt x="0" y="1494"/>
                </a:cubicBezTo>
                <a:cubicBezTo>
                  <a:pt x="0" y="1561"/>
                  <a:pt x="55" y="1616"/>
                  <a:pt x="123" y="1616"/>
                </a:cubicBezTo>
                <a:cubicBezTo>
                  <a:pt x="191" y="1616"/>
                  <a:pt x="249" y="1561"/>
                  <a:pt x="249" y="1493"/>
                </a:cubicBezTo>
                <a:cubicBezTo>
                  <a:pt x="249" y="1485"/>
                  <a:pt x="247" y="1478"/>
                  <a:pt x="245" y="1470"/>
                </a:cubicBezTo>
                <a:cubicBezTo>
                  <a:pt x="265" y="1451"/>
                  <a:pt x="265" y="1451"/>
                  <a:pt x="265" y="1451"/>
                </a:cubicBezTo>
                <a:cubicBezTo>
                  <a:pt x="567" y="1655"/>
                  <a:pt x="898" y="1680"/>
                  <a:pt x="1255" y="1467"/>
                </a:cubicBezTo>
                <a:cubicBezTo>
                  <a:pt x="1402" y="1615"/>
                  <a:pt x="1402" y="1615"/>
                  <a:pt x="1402" y="1615"/>
                </a:cubicBezTo>
                <a:cubicBezTo>
                  <a:pt x="1603" y="1416"/>
                  <a:pt x="1603" y="1416"/>
                  <a:pt x="1603" y="1416"/>
                </a:cubicBezTo>
                <a:cubicBezTo>
                  <a:pt x="1455" y="1267"/>
                  <a:pt x="1455" y="1267"/>
                  <a:pt x="1455" y="1267"/>
                </a:cubicBezTo>
                <a:cubicBezTo>
                  <a:pt x="1880" y="628"/>
                  <a:pt x="1313" y="0"/>
                  <a:pt x="803" y="1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943598" y="1312671"/>
            <a:ext cx="5211683" cy="662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8565">
              <a:lnSpc>
                <a:spcPct val="150000"/>
              </a:lnSpc>
              <a:defRPr/>
            </a:pP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毛泽东从“骂声”中听到什么？</a:t>
            </a:r>
            <a:endParaRPr lang="zh-CN" altLang="en-US" sz="28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110854" y="2046721"/>
            <a:ext cx="6455711" cy="2182495"/>
          </a:xfrm>
          <a:prstGeom prst="rect">
            <a:avLst/>
          </a:prstGeom>
        </p:spPr>
        <p:txBody>
          <a:bodyPr wrap="square" lIns="105571" tIns="52784" rIns="105571" bIns="52784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dirty="0">
                <a:solidFill>
                  <a:srgbClr val="E7E6E6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1941</a:t>
            </a:r>
            <a:r>
              <a:rPr lang="zh-CN" altLang="en-US" dirty="0">
                <a:solidFill>
                  <a:srgbClr val="E7E6E6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年，陕甘宁边区的清涧县，农妇</a:t>
            </a:r>
            <a:r>
              <a:rPr lang="zh-CN" altLang="en-US" b="1" dirty="0">
                <a:solidFill>
                  <a:srgbClr val="E7E6E6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伍兰花</a:t>
            </a:r>
            <a:r>
              <a:rPr lang="zh-CN" altLang="en-US" dirty="0">
                <a:solidFill>
                  <a:srgbClr val="E7E6E6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的丈夫不幸被雷电击中身亡。悲痛之余，她竟骂起了共产党，骂毛主席‘黑暗’、‘官僚横行’。当地执法部门闻讯，迅速将她拘留，并由保卫部门建议判处死刑。当消息传到毛泽东那里，他的反应却出人意料。</a:t>
            </a:r>
            <a:endParaRPr lang="zh-CN" altLang="en-US" dirty="0">
              <a:solidFill>
                <a:srgbClr val="E7E6E6">
                  <a:lumMod val="2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110854" y="4253385"/>
            <a:ext cx="6247893" cy="1705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dirty="0">
                <a:solidFill>
                  <a:srgbClr val="E7E6E6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他当即指示 “不能这样做嘛，这是一个教育问题” 。次日，他亲自接待了这位农妇。面对下跪哭诉的农妇，毛泽东搀扶起她，并恳切地说：“妹子，你不要这样，要对我讲心里话：究竟因什么困难才骂政府？说心里话，我们才叫一条心啊！” </a:t>
            </a:r>
            <a:endParaRPr lang="zh-CN" altLang="en-US" dirty="0">
              <a:solidFill>
                <a:srgbClr val="E7E6E6">
                  <a:lumMod val="2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" y="1561913"/>
            <a:ext cx="4937563" cy="52960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5E-7 -3.7037E-6 L 0.18997 -3.7037E-6 " pathEditMode="relative" rAng="0" ptsTypes="AA">
                                      <p:cBhvr>
                                        <p:cTn id="11" dur="1000" spd="-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492" y="0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3.7037E-6 L -0.41185 -3.7037E-6 " pathEditMode="relative" rAng="0" ptsTypes="AA">
                                      <p:cBhvr>
                                        <p:cTn id="18" dur="1000" spd="-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59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6" presetClass="emph" presetSubtype="0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animScale>
                                      <p:cBhvr>
                                        <p:cTn id="26" dur="250" fill="hold"/>
                                        <p:tgtEl>
                                          <p:spTgt spid="28"/>
                                        </p:tgtEl>
                                      </p:cBhvr>
                                      <p:by x="120000" y="120000"/>
                                    </p:animScale>
                                  </p:childTnLst>
                                </p:cTn>
                              </p:par>
                              <p:par>
                                <p:cTn id="27" presetID="6" presetClass="emph" presetSubtype="0" decel="100000" fill="hold" grpId="2" nodeType="withEffect">
                                  <p:stCondLst>
                                    <p:cond delay="400"/>
                                  </p:stCondLst>
                                  <p:childTnLst>
                                    <p:animScale>
                                      <p:cBhvr>
                                        <p:cTn id="28" dur="250" fill="hold"/>
                                        <p:tgtEl>
                                          <p:spTgt spid="28"/>
                                        </p:tgtEl>
                                      </p:cBhvr>
                                      <p:by x="83000" y="83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5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-3.7037E-6 L -0.30273 -3.7037E-6 " pathEditMode="relative" rAng="0" ptsTypes="AA">
                                      <p:cBhvr>
                                        <p:cTn id="36" dur="1000" spd="-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14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000"/>
                            </p:stCondLst>
                            <p:childTnLst>
                              <p:par>
                                <p:cTn id="4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500"/>
                            </p:stCondLst>
                            <p:childTnLst>
                              <p:par>
                                <p:cTn id="47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7" grpId="1"/>
      <p:bldP spid="28" grpId="0" animBg="1"/>
      <p:bldP spid="28" grpId="1" animBg="1"/>
      <p:bldP spid="28" grpId="2" animBg="1"/>
      <p:bldP spid="6" grpId="0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8923" y="246423"/>
            <a:ext cx="4103077" cy="675011"/>
          </a:xfrm>
          <a:prstGeom prst="rect">
            <a:avLst/>
          </a:prstGeom>
        </p:spPr>
      </p:pic>
      <p:cxnSp>
        <p:nvCxnSpPr>
          <p:cNvPr id="26" name="直接连接符 25"/>
          <p:cNvCxnSpPr/>
          <p:nvPr/>
        </p:nvCxnSpPr>
        <p:spPr>
          <a:xfrm>
            <a:off x="0" y="921434"/>
            <a:ext cx="12192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/>
          <p:cNvSpPr/>
          <p:nvPr/>
        </p:nvSpPr>
        <p:spPr>
          <a:xfrm>
            <a:off x="1060287" y="353095"/>
            <a:ext cx="52621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accent1"/>
                </a:solidFill>
                <a:latin typeface="字体视界-NEW魏碑体" panose="02010601030101010101" pitchFamily="2" charset="-122"/>
                <a:ea typeface="字体视界-NEW魏碑体" panose="02010601030101010101" pitchFamily="2" charset="-122"/>
                <a:cs typeface="+mn-ea"/>
                <a:sym typeface="+mn-lt"/>
              </a:rPr>
              <a:t>第一部分：</a:t>
            </a:r>
            <a:r>
              <a:rPr lang="zh-CN" altLang="en-US" sz="2400" b="1" dirty="0">
                <a:solidFill>
                  <a:srgbClr val="C00000"/>
                </a:solidFill>
                <a:latin typeface="字体视界-NEW魏碑体" panose="02010601030101010101" pitchFamily="2" charset="-122"/>
                <a:ea typeface="字体视界-NEW魏碑体" panose="02010601030101010101" pitchFamily="2" charset="-122"/>
              </a:rPr>
              <a:t>历史轶事与理论背景</a:t>
            </a:r>
            <a:endParaRPr lang="zh-CN" altLang="en-US" sz="2400" b="1" dirty="0">
              <a:solidFill>
                <a:srgbClr val="C00000"/>
              </a:solidFill>
              <a:latin typeface="字体视界-NEW魏碑体" panose="02010601030101010101" pitchFamily="2" charset="-122"/>
              <a:ea typeface="字体视界-NEW魏碑体" panose="02010601030101010101" pitchFamily="2" charset="-122"/>
            </a:endParaRPr>
          </a:p>
        </p:txBody>
      </p:sp>
      <p:sp>
        <p:nvSpPr>
          <p:cNvPr id="28" name="Freeform 29"/>
          <p:cNvSpPr/>
          <p:nvPr/>
        </p:nvSpPr>
        <p:spPr bwMode="auto">
          <a:xfrm>
            <a:off x="288468" y="125065"/>
            <a:ext cx="771819" cy="689695"/>
          </a:xfrm>
          <a:custGeom>
            <a:avLst/>
            <a:gdLst>
              <a:gd name="T0" fmla="*/ 803 w 1880"/>
              <a:gd name="T1" fmla="*/ 15 h 1680"/>
              <a:gd name="T2" fmla="*/ 1253 w 1880"/>
              <a:gd name="T3" fmla="*/ 1067 h 1680"/>
              <a:gd name="T4" fmla="*/ 728 w 1880"/>
              <a:gd name="T5" fmla="*/ 540 h 1680"/>
              <a:gd name="T6" fmla="*/ 928 w 1880"/>
              <a:gd name="T7" fmla="*/ 339 h 1680"/>
              <a:gd name="T8" fmla="*/ 803 w 1880"/>
              <a:gd name="T9" fmla="*/ 215 h 1680"/>
              <a:gd name="T10" fmla="*/ 549 w 1880"/>
              <a:gd name="T11" fmla="*/ 267 h 1680"/>
              <a:gd name="T12" fmla="*/ 150 w 1880"/>
              <a:gd name="T13" fmla="*/ 666 h 1680"/>
              <a:gd name="T14" fmla="*/ 376 w 1880"/>
              <a:gd name="T15" fmla="*/ 890 h 1680"/>
              <a:gd name="T16" fmla="*/ 527 w 1880"/>
              <a:gd name="T17" fmla="*/ 741 h 1680"/>
              <a:gd name="T18" fmla="*/ 1052 w 1880"/>
              <a:gd name="T19" fmla="*/ 1266 h 1680"/>
              <a:gd name="T20" fmla="*/ 176 w 1880"/>
              <a:gd name="T21" fmla="*/ 1090 h 1680"/>
              <a:gd name="T22" fmla="*/ 49 w 1880"/>
              <a:gd name="T23" fmla="*/ 1217 h 1680"/>
              <a:gd name="T24" fmla="*/ 159 w 1880"/>
              <a:gd name="T25" fmla="*/ 1357 h 1680"/>
              <a:gd name="T26" fmla="*/ 144 w 1880"/>
              <a:gd name="T27" fmla="*/ 1371 h 1680"/>
              <a:gd name="T28" fmla="*/ 122 w 1880"/>
              <a:gd name="T29" fmla="*/ 1367 h 1680"/>
              <a:gd name="T30" fmla="*/ 0 w 1880"/>
              <a:gd name="T31" fmla="*/ 1494 h 1680"/>
              <a:gd name="T32" fmla="*/ 123 w 1880"/>
              <a:gd name="T33" fmla="*/ 1616 h 1680"/>
              <a:gd name="T34" fmla="*/ 249 w 1880"/>
              <a:gd name="T35" fmla="*/ 1493 h 1680"/>
              <a:gd name="T36" fmla="*/ 245 w 1880"/>
              <a:gd name="T37" fmla="*/ 1470 h 1680"/>
              <a:gd name="T38" fmla="*/ 265 w 1880"/>
              <a:gd name="T39" fmla="*/ 1451 h 1680"/>
              <a:gd name="T40" fmla="*/ 1255 w 1880"/>
              <a:gd name="T41" fmla="*/ 1467 h 1680"/>
              <a:gd name="T42" fmla="*/ 1402 w 1880"/>
              <a:gd name="T43" fmla="*/ 1615 h 1680"/>
              <a:gd name="T44" fmla="*/ 1603 w 1880"/>
              <a:gd name="T45" fmla="*/ 1416 h 1680"/>
              <a:gd name="T46" fmla="*/ 1455 w 1880"/>
              <a:gd name="T47" fmla="*/ 1267 h 1680"/>
              <a:gd name="T48" fmla="*/ 803 w 1880"/>
              <a:gd name="T49" fmla="*/ 15 h 16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1880" h="1680">
                <a:moveTo>
                  <a:pt x="803" y="15"/>
                </a:moveTo>
                <a:cubicBezTo>
                  <a:pt x="1217" y="170"/>
                  <a:pt x="1468" y="665"/>
                  <a:pt x="1253" y="1067"/>
                </a:cubicBezTo>
                <a:cubicBezTo>
                  <a:pt x="728" y="540"/>
                  <a:pt x="728" y="540"/>
                  <a:pt x="728" y="540"/>
                </a:cubicBezTo>
                <a:cubicBezTo>
                  <a:pt x="928" y="339"/>
                  <a:pt x="928" y="339"/>
                  <a:pt x="928" y="339"/>
                </a:cubicBezTo>
                <a:cubicBezTo>
                  <a:pt x="803" y="215"/>
                  <a:pt x="803" y="215"/>
                  <a:pt x="803" y="215"/>
                </a:cubicBezTo>
                <a:cubicBezTo>
                  <a:pt x="733" y="282"/>
                  <a:pt x="623" y="297"/>
                  <a:pt x="549" y="267"/>
                </a:cubicBezTo>
                <a:cubicBezTo>
                  <a:pt x="150" y="666"/>
                  <a:pt x="150" y="666"/>
                  <a:pt x="150" y="666"/>
                </a:cubicBezTo>
                <a:cubicBezTo>
                  <a:pt x="376" y="890"/>
                  <a:pt x="376" y="890"/>
                  <a:pt x="376" y="890"/>
                </a:cubicBezTo>
                <a:cubicBezTo>
                  <a:pt x="527" y="741"/>
                  <a:pt x="527" y="741"/>
                  <a:pt x="527" y="741"/>
                </a:cubicBezTo>
                <a:cubicBezTo>
                  <a:pt x="1052" y="1266"/>
                  <a:pt x="1052" y="1266"/>
                  <a:pt x="1052" y="1266"/>
                </a:cubicBezTo>
                <a:cubicBezTo>
                  <a:pt x="795" y="1407"/>
                  <a:pt x="439" y="1363"/>
                  <a:pt x="176" y="1090"/>
                </a:cubicBezTo>
                <a:cubicBezTo>
                  <a:pt x="49" y="1217"/>
                  <a:pt x="49" y="1217"/>
                  <a:pt x="49" y="1217"/>
                </a:cubicBezTo>
                <a:cubicBezTo>
                  <a:pt x="87" y="1270"/>
                  <a:pt x="119" y="1317"/>
                  <a:pt x="159" y="1357"/>
                </a:cubicBezTo>
                <a:cubicBezTo>
                  <a:pt x="155" y="1362"/>
                  <a:pt x="144" y="1371"/>
                  <a:pt x="144" y="1371"/>
                </a:cubicBezTo>
                <a:cubicBezTo>
                  <a:pt x="137" y="1370"/>
                  <a:pt x="129" y="1367"/>
                  <a:pt x="122" y="1367"/>
                </a:cubicBezTo>
                <a:cubicBezTo>
                  <a:pt x="55" y="1367"/>
                  <a:pt x="0" y="1426"/>
                  <a:pt x="0" y="1494"/>
                </a:cubicBezTo>
                <a:cubicBezTo>
                  <a:pt x="0" y="1561"/>
                  <a:pt x="55" y="1616"/>
                  <a:pt x="123" y="1616"/>
                </a:cubicBezTo>
                <a:cubicBezTo>
                  <a:pt x="191" y="1616"/>
                  <a:pt x="249" y="1561"/>
                  <a:pt x="249" y="1493"/>
                </a:cubicBezTo>
                <a:cubicBezTo>
                  <a:pt x="249" y="1485"/>
                  <a:pt x="247" y="1478"/>
                  <a:pt x="245" y="1470"/>
                </a:cubicBezTo>
                <a:cubicBezTo>
                  <a:pt x="265" y="1451"/>
                  <a:pt x="265" y="1451"/>
                  <a:pt x="265" y="1451"/>
                </a:cubicBezTo>
                <a:cubicBezTo>
                  <a:pt x="567" y="1655"/>
                  <a:pt x="898" y="1680"/>
                  <a:pt x="1255" y="1467"/>
                </a:cubicBezTo>
                <a:cubicBezTo>
                  <a:pt x="1402" y="1615"/>
                  <a:pt x="1402" y="1615"/>
                  <a:pt x="1402" y="1615"/>
                </a:cubicBezTo>
                <a:cubicBezTo>
                  <a:pt x="1603" y="1416"/>
                  <a:pt x="1603" y="1416"/>
                  <a:pt x="1603" y="1416"/>
                </a:cubicBezTo>
                <a:cubicBezTo>
                  <a:pt x="1455" y="1267"/>
                  <a:pt x="1455" y="1267"/>
                  <a:pt x="1455" y="1267"/>
                </a:cubicBezTo>
                <a:cubicBezTo>
                  <a:pt x="1880" y="628"/>
                  <a:pt x="1313" y="0"/>
                  <a:pt x="803" y="1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07120" y="1265169"/>
            <a:ext cx="4573688" cy="662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8565">
              <a:lnSpc>
                <a:spcPct val="150000"/>
              </a:lnSpc>
              <a:defRPr/>
            </a:pP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问题的根源与毛泽东的行动</a:t>
            </a:r>
            <a:endParaRPr lang="zh-CN" altLang="en-US" sz="28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74377" y="2115143"/>
            <a:ext cx="5714548" cy="888673"/>
          </a:xfrm>
          <a:prstGeom prst="rect">
            <a:avLst/>
          </a:prstGeom>
        </p:spPr>
        <p:txBody>
          <a:bodyPr wrap="square" lIns="105571" tIns="52784" rIns="105571" bIns="52784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dirty="0">
                <a:solidFill>
                  <a:srgbClr val="E7E6E6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农妇哭诉说，村里、乡里、县里的干部只管催要公粮，却不管百姓死活，甚至恶言相向。</a:t>
            </a:r>
            <a:endParaRPr lang="zh-CN" altLang="en-US" dirty="0">
              <a:solidFill>
                <a:srgbClr val="E7E6E6">
                  <a:lumMod val="2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2484" y="2115143"/>
            <a:ext cx="4421386" cy="3361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文本框 10"/>
          <p:cNvSpPr txBox="1"/>
          <p:nvPr/>
        </p:nvSpPr>
        <p:spPr>
          <a:xfrm>
            <a:off x="674377" y="3228898"/>
            <a:ext cx="5714548" cy="1705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dirty="0">
                <a:solidFill>
                  <a:srgbClr val="E7E6E6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他不仅派人护送农妇回家，还送上自己的口粮。更重要的是，他深入调查，发现边区征粮过重确是实情，于是力主将公粮任务从</a:t>
            </a:r>
            <a:r>
              <a:rPr lang="en-US" altLang="zh-CN" dirty="0">
                <a:solidFill>
                  <a:srgbClr val="E7E6E6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20</a:t>
            </a:r>
            <a:r>
              <a:rPr lang="zh-CN" altLang="en-US" dirty="0">
                <a:solidFill>
                  <a:srgbClr val="E7E6E6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万担减至</a:t>
            </a:r>
            <a:r>
              <a:rPr lang="en-US" altLang="zh-CN" dirty="0">
                <a:solidFill>
                  <a:srgbClr val="E7E6E6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16</a:t>
            </a:r>
            <a:r>
              <a:rPr lang="zh-CN" altLang="en-US" dirty="0">
                <a:solidFill>
                  <a:srgbClr val="E7E6E6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万担，并开展了大生产运动以减轻民众负担。</a:t>
            </a:r>
            <a:endParaRPr lang="zh-CN" altLang="en-US" dirty="0">
              <a:solidFill>
                <a:srgbClr val="E7E6E6">
                  <a:lumMod val="2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5E-7 -3.7037E-6 L 0.18997 -3.7037E-6 " pathEditMode="relative" rAng="0" ptsTypes="AA">
                                      <p:cBhvr>
                                        <p:cTn id="11" dur="1000" spd="-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492" y="0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3.7037E-6 L -0.41185 -3.7037E-6 " pathEditMode="relative" rAng="0" ptsTypes="AA">
                                      <p:cBhvr>
                                        <p:cTn id="18" dur="1000" spd="-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59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6" presetClass="emph" presetSubtype="0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animScale>
                                      <p:cBhvr>
                                        <p:cTn id="26" dur="250" fill="hold"/>
                                        <p:tgtEl>
                                          <p:spTgt spid="28"/>
                                        </p:tgtEl>
                                      </p:cBhvr>
                                      <p:by x="120000" y="120000"/>
                                    </p:animScale>
                                  </p:childTnLst>
                                </p:cTn>
                              </p:par>
                              <p:par>
                                <p:cTn id="27" presetID="6" presetClass="emph" presetSubtype="0" decel="100000" fill="hold" grpId="2" nodeType="withEffect">
                                  <p:stCondLst>
                                    <p:cond delay="400"/>
                                  </p:stCondLst>
                                  <p:childTnLst>
                                    <p:animScale>
                                      <p:cBhvr>
                                        <p:cTn id="28" dur="250" fill="hold"/>
                                        <p:tgtEl>
                                          <p:spTgt spid="28"/>
                                        </p:tgtEl>
                                      </p:cBhvr>
                                      <p:by x="83000" y="83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5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-3.7037E-6 L -0.30273 -3.7037E-6 " pathEditMode="relative" rAng="0" ptsTypes="AA">
                                      <p:cBhvr>
                                        <p:cTn id="36" dur="1000" spd="-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14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000"/>
                            </p:stCondLst>
                            <p:childTnLst>
                              <p:par>
                                <p:cTn id="4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7" grpId="1"/>
      <p:bldP spid="28" grpId="0" animBg="1"/>
      <p:bldP spid="28" grpId="1" animBg="1"/>
      <p:bldP spid="28" grpId="2" animBg="1"/>
      <p:bldP spid="6" grpId="0"/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2578" y="5737759"/>
            <a:ext cx="6809422" cy="1120241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049960"/>
            <a:ext cx="4460240" cy="2788989"/>
          </a:xfrm>
          <a:prstGeom prst="rect">
            <a:avLst/>
          </a:prstGeom>
        </p:spPr>
      </p:pic>
      <p:pic>
        <p:nvPicPr>
          <p:cNvPr id="74" name="图片 7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902340" flipH="1">
            <a:off x="686735" y="622930"/>
            <a:ext cx="3143832" cy="1309931"/>
          </a:xfrm>
          <a:prstGeom prst="rect">
            <a:avLst/>
          </a:prstGeom>
        </p:spPr>
      </p:pic>
      <p:sp>
        <p:nvSpPr>
          <p:cNvPr id="75" name="文本框 74"/>
          <p:cNvSpPr txBox="1"/>
          <p:nvPr/>
        </p:nvSpPr>
        <p:spPr>
          <a:xfrm>
            <a:off x="4460240" y="2467132"/>
            <a:ext cx="326563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000" b="1" dirty="0">
                <a:solidFill>
                  <a:srgbClr val="C00000"/>
                </a:solidFill>
                <a:latin typeface="字体视界-NEW魏碑体" panose="02010601030101010101" pitchFamily="2" charset="-122"/>
                <a:ea typeface="字体视界-NEW魏碑体" panose="02010601030101010101" pitchFamily="2" charset="-122"/>
                <a:cs typeface="+mn-ea"/>
                <a:sym typeface="+mn-lt"/>
              </a:rPr>
              <a:t>第二部分</a:t>
            </a:r>
            <a:endParaRPr lang="zh-CN" altLang="en-US" sz="6000" b="1" dirty="0">
              <a:solidFill>
                <a:srgbClr val="C00000"/>
              </a:solidFill>
              <a:latin typeface="字体视界-NEW魏碑体" panose="02010601030101010101" pitchFamily="2" charset="-122"/>
              <a:ea typeface="字体视界-NEW魏碑体" panose="02010601030101010101" pitchFamily="2" charset="-122"/>
              <a:cs typeface="+mn-ea"/>
              <a:sym typeface="+mn-lt"/>
            </a:endParaRPr>
          </a:p>
        </p:txBody>
      </p:sp>
      <p:sp>
        <p:nvSpPr>
          <p:cNvPr id="77" name="Freeform 29"/>
          <p:cNvSpPr/>
          <p:nvPr/>
        </p:nvSpPr>
        <p:spPr bwMode="auto">
          <a:xfrm>
            <a:off x="5221018" y="590692"/>
            <a:ext cx="1749965" cy="1563763"/>
          </a:xfrm>
          <a:custGeom>
            <a:avLst/>
            <a:gdLst>
              <a:gd name="T0" fmla="*/ 803 w 1880"/>
              <a:gd name="T1" fmla="*/ 15 h 1680"/>
              <a:gd name="T2" fmla="*/ 1253 w 1880"/>
              <a:gd name="T3" fmla="*/ 1067 h 1680"/>
              <a:gd name="T4" fmla="*/ 728 w 1880"/>
              <a:gd name="T5" fmla="*/ 540 h 1680"/>
              <a:gd name="T6" fmla="*/ 928 w 1880"/>
              <a:gd name="T7" fmla="*/ 339 h 1680"/>
              <a:gd name="T8" fmla="*/ 803 w 1880"/>
              <a:gd name="T9" fmla="*/ 215 h 1680"/>
              <a:gd name="T10" fmla="*/ 549 w 1880"/>
              <a:gd name="T11" fmla="*/ 267 h 1680"/>
              <a:gd name="T12" fmla="*/ 150 w 1880"/>
              <a:gd name="T13" fmla="*/ 666 h 1680"/>
              <a:gd name="T14" fmla="*/ 376 w 1880"/>
              <a:gd name="T15" fmla="*/ 890 h 1680"/>
              <a:gd name="T16" fmla="*/ 527 w 1880"/>
              <a:gd name="T17" fmla="*/ 741 h 1680"/>
              <a:gd name="T18" fmla="*/ 1052 w 1880"/>
              <a:gd name="T19" fmla="*/ 1266 h 1680"/>
              <a:gd name="T20" fmla="*/ 176 w 1880"/>
              <a:gd name="T21" fmla="*/ 1090 h 1680"/>
              <a:gd name="T22" fmla="*/ 49 w 1880"/>
              <a:gd name="T23" fmla="*/ 1217 h 1680"/>
              <a:gd name="T24" fmla="*/ 159 w 1880"/>
              <a:gd name="T25" fmla="*/ 1357 h 1680"/>
              <a:gd name="T26" fmla="*/ 144 w 1880"/>
              <a:gd name="T27" fmla="*/ 1371 h 1680"/>
              <a:gd name="T28" fmla="*/ 122 w 1880"/>
              <a:gd name="T29" fmla="*/ 1367 h 1680"/>
              <a:gd name="T30" fmla="*/ 0 w 1880"/>
              <a:gd name="T31" fmla="*/ 1494 h 1680"/>
              <a:gd name="T32" fmla="*/ 123 w 1880"/>
              <a:gd name="T33" fmla="*/ 1616 h 1680"/>
              <a:gd name="T34" fmla="*/ 249 w 1880"/>
              <a:gd name="T35" fmla="*/ 1493 h 1680"/>
              <a:gd name="T36" fmla="*/ 245 w 1880"/>
              <a:gd name="T37" fmla="*/ 1470 h 1680"/>
              <a:gd name="T38" fmla="*/ 265 w 1880"/>
              <a:gd name="T39" fmla="*/ 1451 h 1680"/>
              <a:gd name="T40" fmla="*/ 1255 w 1880"/>
              <a:gd name="T41" fmla="*/ 1467 h 1680"/>
              <a:gd name="T42" fmla="*/ 1402 w 1880"/>
              <a:gd name="T43" fmla="*/ 1615 h 1680"/>
              <a:gd name="T44" fmla="*/ 1603 w 1880"/>
              <a:gd name="T45" fmla="*/ 1416 h 1680"/>
              <a:gd name="T46" fmla="*/ 1455 w 1880"/>
              <a:gd name="T47" fmla="*/ 1267 h 1680"/>
              <a:gd name="T48" fmla="*/ 803 w 1880"/>
              <a:gd name="T49" fmla="*/ 15 h 16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1880" h="1680">
                <a:moveTo>
                  <a:pt x="803" y="15"/>
                </a:moveTo>
                <a:cubicBezTo>
                  <a:pt x="1217" y="170"/>
                  <a:pt x="1468" y="665"/>
                  <a:pt x="1253" y="1067"/>
                </a:cubicBezTo>
                <a:cubicBezTo>
                  <a:pt x="728" y="540"/>
                  <a:pt x="728" y="540"/>
                  <a:pt x="728" y="540"/>
                </a:cubicBezTo>
                <a:cubicBezTo>
                  <a:pt x="928" y="339"/>
                  <a:pt x="928" y="339"/>
                  <a:pt x="928" y="339"/>
                </a:cubicBezTo>
                <a:cubicBezTo>
                  <a:pt x="803" y="215"/>
                  <a:pt x="803" y="215"/>
                  <a:pt x="803" y="215"/>
                </a:cubicBezTo>
                <a:cubicBezTo>
                  <a:pt x="733" y="282"/>
                  <a:pt x="623" y="297"/>
                  <a:pt x="549" y="267"/>
                </a:cubicBezTo>
                <a:cubicBezTo>
                  <a:pt x="150" y="666"/>
                  <a:pt x="150" y="666"/>
                  <a:pt x="150" y="666"/>
                </a:cubicBezTo>
                <a:cubicBezTo>
                  <a:pt x="376" y="890"/>
                  <a:pt x="376" y="890"/>
                  <a:pt x="376" y="890"/>
                </a:cubicBezTo>
                <a:cubicBezTo>
                  <a:pt x="527" y="741"/>
                  <a:pt x="527" y="741"/>
                  <a:pt x="527" y="741"/>
                </a:cubicBezTo>
                <a:cubicBezTo>
                  <a:pt x="1052" y="1266"/>
                  <a:pt x="1052" y="1266"/>
                  <a:pt x="1052" y="1266"/>
                </a:cubicBezTo>
                <a:cubicBezTo>
                  <a:pt x="795" y="1407"/>
                  <a:pt x="439" y="1363"/>
                  <a:pt x="176" y="1090"/>
                </a:cubicBezTo>
                <a:cubicBezTo>
                  <a:pt x="49" y="1217"/>
                  <a:pt x="49" y="1217"/>
                  <a:pt x="49" y="1217"/>
                </a:cubicBezTo>
                <a:cubicBezTo>
                  <a:pt x="87" y="1270"/>
                  <a:pt x="119" y="1317"/>
                  <a:pt x="159" y="1357"/>
                </a:cubicBezTo>
                <a:cubicBezTo>
                  <a:pt x="155" y="1362"/>
                  <a:pt x="144" y="1371"/>
                  <a:pt x="144" y="1371"/>
                </a:cubicBezTo>
                <a:cubicBezTo>
                  <a:pt x="137" y="1370"/>
                  <a:pt x="129" y="1367"/>
                  <a:pt x="122" y="1367"/>
                </a:cubicBezTo>
                <a:cubicBezTo>
                  <a:pt x="55" y="1367"/>
                  <a:pt x="0" y="1426"/>
                  <a:pt x="0" y="1494"/>
                </a:cubicBezTo>
                <a:cubicBezTo>
                  <a:pt x="0" y="1561"/>
                  <a:pt x="55" y="1616"/>
                  <a:pt x="123" y="1616"/>
                </a:cubicBezTo>
                <a:cubicBezTo>
                  <a:pt x="191" y="1616"/>
                  <a:pt x="249" y="1561"/>
                  <a:pt x="249" y="1493"/>
                </a:cubicBezTo>
                <a:cubicBezTo>
                  <a:pt x="249" y="1485"/>
                  <a:pt x="247" y="1478"/>
                  <a:pt x="245" y="1470"/>
                </a:cubicBezTo>
                <a:cubicBezTo>
                  <a:pt x="265" y="1451"/>
                  <a:pt x="265" y="1451"/>
                  <a:pt x="265" y="1451"/>
                </a:cubicBezTo>
                <a:cubicBezTo>
                  <a:pt x="567" y="1655"/>
                  <a:pt x="898" y="1680"/>
                  <a:pt x="1255" y="1467"/>
                </a:cubicBezTo>
                <a:cubicBezTo>
                  <a:pt x="1402" y="1615"/>
                  <a:pt x="1402" y="1615"/>
                  <a:pt x="1402" y="1615"/>
                </a:cubicBezTo>
                <a:cubicBezTo>
                  <a:pt x="1603" y="1416"/>
                  <a:pt x="1603" y="1416"/>
                  <a:pt x="1603" y="1416"/>
                </a:cubicBezTo>
                <a:cubicBezTo>
                  <a:pt x="1455" y="1267"/>
                  <a:pt x="1455" y="1267"/>
                  <a:pt x="1455" y="1267"/>
                </a:cubicBezTo>
                <a:cubicBezTo>
                  <a:pt x="1880" y="628"/>
                  <a:pt x="1313" y="0"/>
                  <a:pt x="803" y="15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rgbClr val="C00000"/>
              </a:solidFill>
              <a:latin typeface="字体视界-NEW魏碑体" panose="02010601030101010101" pitchFamily="2" charset="-122"/>
              <a:ea typeface="字体视界-NEW魏碑体" panose="02010601030101010101" pitchFamily="2" charset="-122"/>
              <a:cs typeface="+mn-ea"/>
              <a:sym typeface="+mn-lt"/>
            </a:endParaRPr>
          </a:p>
        </p:txBody>
      </p:sp>
      <p:sp>
        <p:nvSpPr>
          <p:cNvPr id="78" name="文本框 77"/>
          <p:cNvSpPr txBox="1"/>
          <p:nvPr/>
        </p:nvSpPr>
        <p:spPr>
          <a:xfrm>
            <a:off x="3238223" y="3393756"/>
            <a:ext cx="572464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800" b="1" dirty="0">
                <a:solidFill>
                  <a:srgbClr val="C00000"/>
                </a:solidFill>
                <a:latin typeface="字体视界-NEW魏碑体" panose="02010601030101010101" pitchFamily="2" charset="-122"/>
                <a:ea typeface="字体视界-NEW魏碑体" panose="02010601030101010101" pitchFamily="2" charset="-122"/>
              </a:rPr>
              <a:t>理论分析与历史意义</a:t>
            </a:r>
            <a:endParaRPr lang="zh-CN" altLang="en-US" sz="4800" b="1" dirty="0">
              <a:solidFill>
                <a:srgbClr val="C00000"/>
              </a:solidFill>
              <a:latin typeface="字体视界-NEW魏碑体" panose="02010601030101010101" pitchFamily="2" charset="-122"/>
              <a:ea typeface="字体视界-NEW魏碑体" panose="02010601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54167E-6 -2.59259E-6 L 0.31575 -2.59259E-6 " pathEditMode="relative" rAng="0" ptsTypes="AA">
                                      <p:cBhvr>
                                        <p:cTn id="21" dur="2000" spd="-100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781" y="0"/>
                                    </p:animMotion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25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25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25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6" presetClass="emph" presetSubtype="0" decel="100000" fill="hold" grpId="1" nodeType="withEffect">
                                  <p:stCondLst>
                                    <p:cond delay="600"/>
                                  </p:stCondLst>
                                  <p:childTnLst>
                                    <p:animScale>
                                      <p:cBhvr>
                                        <p:cTn id="28" dur="250" fill="hold"/>
                                        <p:tgtEl>
                                          <p:spTgt spid="75"/>
                                        </p:tgtEl>
                                      </p:cBhvr>
                                      <p:by x="120000" y="120000"/>
                                    </p:animScale>
                                  </p:childTnLst>
                                </p:cTn>
                              </p:par>
                              <p:par>
                                <p:cTn id="29" presetID="6" presetClass="emph" presetSubtype="0" decel="100000" fill="hold" grpId="2" nodeType="withEffect">
                                  <p:stCondLst>
                                    <p:cond delay="800"/>
                                  </p:stCondLst>
                                  <p:childTnLst>
                                    <p:animScale>
                                      <p:cBhvr>
                                        <p:cTn id="30" dur="250" fill="hold"/>
                                        <p:tgtEl>
                                          <p:spTgt spid="75"/>
                                        </p:tgtEl>
                                      </p:cBhvr>
                                      <p:by x="83000" y="83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0"/>
                            </p:stCondLst>
                            <p:childTnLst>
                              <p:par>
                                <p:cTn id="32" presetID="23" presetClass="entr" presetSubtype="3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25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25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25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6" presetClass="emph" presetSubtype="0" decel="100000" fill="hold" grpId="1" nodeType="withEffect">
                                  <p:stCondLst>
                                    <p:cond delay="600"/>
                                  </p:stCondLst>
                                  <p:childTnLst>
                                    <p:animScale>
                                      <p:cBhvr>
                                        <p:cTn id="44" dur="250" fill="hold"/>
                                        <p:tgtEl>
                                          <p:spTgt spid="78"/>
                                        </p:tgtEl>
                                      </p:cBhvr>
                                      <p:by x="120000" y="120000"/>
                                    </p:animScale>
                                  </p:childTnLst>
                                </p:cTn>
                              </p:par>
                              <p:par>
                                <p:cTn id="45" presetID="6" presetClass="emph" presetSubtype="0" decel="100000" fill="hold" grpId="2" nodeType="withEffect">
                                  <p:stCondLst>
                                    <p:cond delay="800"/>
                                  </p:stCondLst>
                                  <p:childTnLst>
                                    <p:animScale>
                                      <p:cBhvr>
                                        <p:cTn id="46" dur="250" fill="hold"/>
                                        <p:tgtEl>
                                          <p:spTgt spid="78"/>
                                        </p:tgtEl>
                                      </p:cBhvr>
                                      <p:by x="83000" y="83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" grpId="0"/>
      <p:bldP spid="75" grpId="1"/>
      <p:bldP spid="75" grpId="2"/>
      <p:bldP spid="77" grpId="0" animBg="1"/>
      <p:bldP spid="78" grpId="0"/>
      <p:bldP spid="78" grpId="1"/>
      <p:bldP spid="78" grpId="2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>
            <p:custDataLst>
              <p:tags r:id="rId1"/>
            </p:custDataLst>
          </p:nvPr>
        </p:nvSpPr>
        <p:spPr bwMode="auto">
          <a:xfrm>
            <a:off x="5670468" y="2526437"/>
            <a:ext cx="6163293" cy="1016789"/>
          </a:xfrm>
          <a:prstGeom prst="rect">
            <a:avLst/>
          </a:prstGeom>
          <a:noFill/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一切为了群众，一切依靠群众，</a:t>
            </a:r>
            <a:endParaRPr lang="en-US" altLang="zh-CN" sz="20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是党的根本政治路线和组织路线。</a:t>
            </a:r>
            <a:endParaRPr lang="zh-CN" altLang="en-US" sz="20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8923" y="246423"/>
            <a:ext cx="4103077" cy="675011"/>
          </a:xfrm>
          <a:prstGeom prst="rect">
            <a:avLst/>
          </a:prstGeom>
        </p:spPr>
      </p:pic>
      <p:cxnSp>
        <p:nvCxnSpPr>
          <p:cNvPr id="26" name="直接连接符 25"/>
          <p:cNvCxnSpPr/>
          <p:nvPr/>
        </p:nvCxnSpPr>
        <p:spPr>
          <a:xfrm>
            <a:off x="0" y="921434"/>
            <a:ext cx="12192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/>
          <p:cNvSpPr/>
          <p:nvPr/>
        </p:nvSpPr>
        <p:spPr>
          <a:xfrm>
            <a:off x="1060287" y="353095"/>
            <a:ext cx="5262188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accent1"/>
                </a:solidFill>
                <a:latin typeface="字体视界-NEW魏碑体" panose="02010601030101010101" pitchFamily="2" charset="-122"/>
                <a:ea typeface="字体视界-NEW魏碑体" panose="02010601030101010101" pitchFamily="2" charset="-122"/>
                <a:cs typeface="+mn-ea"/>
                <a:sym typeface="+mn-lt"/>
              </a:rPr>
              <a:t>第二部分：</a:t>
            </a:r>
            <a:r>
              <a:rPr lang="zh-CN" altLang="en-US" sz="2400" b="1" dirty="0">
                <a:solidFill>
                  <a:srgbClr val="C00000"/>
                </a:solidFill>
                <a:latin typeface="字体视界-NEW魏碑体" panose="02010601030101010101" pitchFamily="2" charset="-122"/>
                <a:ea typeface="字体视界-NEW魏碑体" panose="02010601030101010101" pitchFamily="2" charset="-122"/>
                <a:sym typeface="+mn-ea"/>
              </a:rPr>
              <a:t>理论分析与历史意义</a:t>
            </a:r>
            <a:endParaRPr lang="zh-CN" altLang="en-US" sz="2400" b="1" dirty="0">
              <a:solidFill>
                <a:srgbClr val="C00000"/>
              </a:solidFill>
              <a:latin typeface="字体视界-NEW魏碑体" panose="02010601030101010101" pitchFamily="2" charset="-122"/>
              <a:ea typeface="字体视界-NEW魏碑体" panose="02010601030101010101" pitchFamily="2" charset="-122"/>
            </a:endParaRPr>
          </a:p>
        </p:txBody>
      </p:sp>
      <p:sp>
        <p:nvSpPr>
          <p:cNvPr id="28" name="Freeform 29"/>
          <p:cNvSpPr/>
          <p:nvPr/>
        </p:nvSpPr>
        <p:spPr bwMode="auto">
          <a:xfrm>
            <a:off x="288468" y="125065"/>
            <a:ext cx="771819" cy="689695"/>
          </a:xfrm>
          <a:custGeom>
            <a:avLst/>
            <a:gdLst>
              <a:gd name="T0" fmla="*/ 803 w 1880"/>
              <a:gd name="T1" fmla="*/ 15 h 1680"/>
              <a:gd name="T2" fmla="*/ 1253 w 1880"/>
              <a:gd name="T3" fmla="*/ 1067 h 1680"/>
              <a:gd name="T4" fmla="*/ 728 w 1880"/>
              <a:gd name="T5" fmla="*/ 540 h 1680"/>
              <a:gd name="T6" fmla="*/ 928 w 1880"/>
              <a:gd name="T7" fmla="*/ 339 h 1680"/>
              <a:gd name="T8" fmla="*/ 803 w 1880"/>
              <a:gd name="T9" fmla="*/ 215 h 1680"/>
              <a:gd name="T10" fmla="*/ 549 w 1880"/>
              <a:gd name="T11" fmla="*/ 267 h 1680"/>
              <a:gd name="T12" fmla="*/ 150 w 1880"/>
              <a:gd name="T13" fmla="*/ 666 h 1680"/>
              <a:gd name="T14" fmla="*/ 376 w 1880"/>
              <a:gd name="T15" fmla="*/ 890 h 1680"/>
              <a:gd name="T16" fmla="*/ 527 w 1880"/>
              <a:gd name="T17" fmla="*/ 741 h 1680"/>
              <a:gd name="T18" fmla="*/ 1052 w 1880"/>
              <a:gd name="T19" fmla="*/ 1266 h 1680"/>
              <a:gd name="T20" fmla="*/ 176 w 1880"/>
              <a:gd name="T21" fmla="*/ 1090 h 1680"/>
              <a:gd name="T22" fmla="*/ 49 w 1880"/>
              <a:gd name="T23" fmla="*/ 1217 h 1680"/>
              <a:gd name="T24" fmla="*/ 159 w 1880"/>
              <a:gd name="T25" fmla="*/ 1357 h 1680"/>
              <a:gd name="T26" fmla="*/ 144 w 1880"/>
              <a:gd name="T27" fmla="*/ 1371 h 1680"/>
              <a:gd name="T28" fmla="*/ 122 w 1880"/>
              <a:gd name="T29" fmla="*/ 1367 h 1680"/>
              <a:gd name="T30" fmla="*/ 0 w 1880"/>
              <a:gd name="T31" fmla="*/ 1494 h 1680"/>
              <a:gd name="T32" fmla="*/ 123 w 1880"/>
              <a:gd name="T33" fmla="*/ 1616 h 1680"/>
              <a:gd name="T34" fmla="*/ 249 w 1880"/>
              <a:gd name="T35" fmla="*/ 1493 h 1680"/>
              <a:gd name="T36" fmla="*/ 245 w 1880"/>
              <a:gd name="T37" fmla="*/ 1470 h 1680"/>
              <a:gd name="T38" fmla="*/ 265 w 1880"/>
              <a:gd name="T39" fmla="*/ 1451 h 1680"/>
              <a:gd name="T40" fmla="*/ 1255 w 1880"/>
              <a:gd name="T41" fmla="*/ 1467 h 1680"/>
              <a:gd name="T42" fmla="*/ 1402 w 1880"/>
              <a:gd name="T43" fmla="*/ 1615 h 1680"/>
              <a:gd name="T44" fmla="*/ 1603 w 1880"/>
              <a:gd name="T45" fmla="*/ 1416 h 1680"/>
              <a:gd name="T46" fmla="*/ 1455 w 1880"/>
              <a:gd name="T47" fmla="*/ 1267 h 1680"/>
              <a:gd name="T48" fmla="*/ 803 w 1880"/>
              <a:gd name="T49" fmla="*/ 15 h 16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1880" h="1680">
                <a:moveTo>
                  <a:pt x="803" y="15"/>
                </a:moveTo>
                <a:cubicBezTo>
                  <a:pt x="1217" y="170"/>
                  <a:pt x="1468" y="665"/>
                  <a:pt x="1253" y="1067"/>
                </a:cubicBezTo>
                <a:cubicBezTo>
                  <a:pt x="728" y="540"/>
                  <a:pt x="728" y="540"/>
                  <a:pt x="728" y="540"/>
                </a:cubicBezTo>
                <a:cubicBezTo>
                  <a:pt x="928" y="339"/>
                  <a:pt x="928" y="339"/>
                  <a:pt x="928" y="339"/>
                </a:cubicBezTo>
                <a:cubicBezTo>
                  <a:pt x="803" y="215"/>
                  <a:pt x="803" y="215"/>
                  <a:pt x="803" y="215"/>
                </a:cubicBezTo>
                <a:cubicBezTo>
                  <a:pt x="733" y="282"/>
                  <a:pt x="623" y="297"/>
                  <a:pt x="549" y="267"/>
                </a:cubicBezTo>
                <a:cubicBezTo>
                  <a:pt x="150" y="666"/>
                  <a:pt x="150" y="666"/>
                  <a:pt x="150" y="666"/>
                </a:cubicBezTo>
                <a:cubicBezTo>
                  <a:pt x="376" y="890"/>
                  <a:pt x="376" y="890"/>
                  <a:pt x="376" y="890"/>
                </a:cubicBezTo>
                <a:cubicBezTo>
                  <a:pt x="527" y="741"/>
                  <a:pt x="527" y="741"/>
                  <a:pt x="527" y="741"/>
                </a:cubicBezTo>
                <a:cubicBezTo>
                  <a:pt x="1052" y="1266"/>
                  <a:pt x="1052" y="1266"/>
                  <a:pt x="1052" y="1266"/>
                </a:cubicBezTo>
                <a:cubicBezTo>
                  <a:pt x="795" y="1407"/>
                  <a:pt x="439" y="1363"/>
                  <a:pt x="176" y="1090"/>
                </a:cubicBezTo>
                <a:cubicBezTo>
                  <a:pt x="49" y="1217"/>
                  <a:pt x="49" y="1217"/>
                  <a:pt x="49" y="1217"/>
                </a:cubicBezTo>
                <a:cubicBezTo>
                  <a:pt x="87" y="1270"/>
                  <a:pt x="119" y="1317"/>
                  <a:pt x="159" y="1357"/>
                </a:cubicBezTo>
                <a:cubicBezTo>
                  <a:pt x="155" y="1362"/>
                  <a:pt x="144" y="1371"/>
                  <a:pt x="144" y="1371"/>
                </a:cubicBezTo>
                <a:cubicBezTo>
                  <a:pt x="137" y="1370"/>
                  <a:pt x="129" y="1367"/>
                  <a:pt x="122" y="1367"/>
                </a:cubicBezTo>
                <a:cubicBezTo>
                  <a:pt x="55" y="1367"/>
                  <a:pt x="0" y="1426"/>
                  <a:pt x="0" y="1494"/>
                </a:cubicBezTo>
                <a:cubicBezTo>
                  <a:pt x="0" y="1561"/>
                  <a:pt x="55" y="1616"/>
                  <a:pt x="123" y="1616"/>
                </a:cubicBezTo>
                <a:cubicBezTo>
                  <a:pt x="191" y="1616"/>
                  <a:pt x="249" y="1561"/>
                  <a:pt x="249" y="1493"/>
                </a:cubicBezTo>
                <a:cubicBezTo>
                  <a:pt x="249" y="1485"/>
                  <a:pt x="247" y="1478"/>
                  <a:pt x="245" y="1470"/>
                </a:cubicBezTo>
                <a:cubicBezTo>
                  <a:pt x="265" y="1451"/>
                  <a:pt x="265" y="1451"/>
                  <a:pt x="265" y="1451"/>
                </a:cubicBezTo>
                <a:cubicBezTo>
                  <a:pt x="567" y="1655"/>
                  <a:pt x="898" y="1680"/>
                  <a:pt x="1255" y="1467"/>
                </a:cubicBezTo>
                <a:cubicBezTo>
                  <a:pt x="1402" y="1615"/>
                  <a:pt x="1402" y="1615"/>
                  <a:pt x="1402" y="1615"/>
                </a:cubicBezTo>
                <a:cubicBezTo>
                  <a:pt x="1603" y="1416"/>
                  <a:pt x="1603" y="1416"/>
                  <a:pt x="1603" y="1416"/>
                </a:cubicBezTo>
                <a:cubicBezTo>
                  <a:pt x="1455" y="1267"/>
                  <a:pt x="1455" y="1267"/>
                  <a:pt x="1455" y="1267"/>
                </a:cubicBezTo>
                <a:cubicBezTo>
                  <a:pt x="1880" y="628"/>
                  <a:pt x="1313" y="0"/>
                  <a:pt x="803" y="1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281768" y="1081334"/>
            <a:ext cx="5628464" cy="662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8565">
              <a:lnSpc>
                <a:spcPct val="150000"/>
              </a:lnSpc>
              <a:defRPr/>
            </a:pP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毛泽东思想活的灵魂</a:t>
            </a:r>
            <a:r>
              <a:rPr lang="en-US" altLang="zh-CN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群众路线</a:t>
            </a:r>
            <a:endParaRPr lang="zh-CN" altLang="en-US" sz="28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288" y="2378721"/>
            <a:ext cx="3784243" cy="3065177"/>
          </a:xfrm>
          <a:prstGeom prst="rect">
            <a:avLst/>
          </a:prstGeom>
        </p:spPr>
      </p:pic>
      <p:sp>
        <p:nvSpPr>
          <p:cNvPr id="4" name="箭头: 五边形 3"/>
          <p:cNvSpPr/>
          <p:nvPr>
            <p:custDataLst>
              <p:tags r:id="rId4"/>
            </p:custDataLst>
          </p:nvPr>
        </p:nvSpPr>
        <p:spPr bwMode="auto">
          <a:xfrm>
            <a:off x="4227617" y="2506186"/>
            <a:ext cx="1430976" cy="1057292"/>
          </a:xfrm>
          <a:prstGeom prst="homePlate">
            <a:avLst>
              <a:gd name="adj" fmla="val 27136"/>
            </a:avLst>
          </a:prstGeom>
          <a:solidFill>
            <a:srgbClr val="C00000"/>
          </a:solidFill>
          <a:ln w="38100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/>
          <a:lstStyle/>
          <a:p>
            <a:pPr algn="ctr"/>
            <a:r>
              <a:rPr lang="en-US" altLang="zh-CN" sz="60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zh-CN" altLang="en-US" sz="60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7" name="矩形 6"/>
          <p:cNvSpPr/>
          <p:nvPr>
            <p:custDataLst>
              <p:tags r:id="rId5"/>
            </p:custDataLst>
          </p:nvPr>
        </p:nvSpPr>
        <p:spPr bwMode="auto">
          <a:xfrm>
            <a:off x="5670468" y="4366278"/>
            <a:ext cx="6163293" cy="1057292"/>
          </a:xfrm>
          <a:prstGeom prst="rect">
            <a:avLst/>
          </a:prstGeom>
          <a:noFill/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从群众中来，到群众中去，</a:t>
            </a:r>
            <a:endParaRPr lang="en-US" altLang="zh-CN" sz="20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是党的基本领导方法和工作方法。</a:t>
            </a:r>
            <a:endParaRPr lang="zh-CN" altLang="en-US" sz="20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9" name="箭头: 五边形 8"/>
          <p:cNvSpPr/>
          <p:nvPr>
            <p:custDataLst>
              <p:tags r:id="rId6"/>
            </p:custDataLst>
          </p:nvPr>
        </p:nvSpPr>
        <p:spPr bwMode="auto">
          <a:xfrm>
            <a:off x="4239492" y="4366278"/>
            <a:ext cx="1430976" cy="1057292"/>
          </a:xfrm>
          <a:prstGeom prst="homePlate">
            <a:avLst>
              <a:gd name="adj" fmla="val 27136"/>
            </a:avLst>
          </a:prstGeom>
          <a:solidFill>
            <a:srgbClr val="C00000"/>
          </a:solidFill>
          <a:ln w="38100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/>
          <a:lstStyle/>
          <a:p>
            <a:pPr algn="ctr"/>
            <a:r>
              <a:rPr lang="en-US" altLang="zh-CN" sz="60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zh-CN" altLang="en-US" sz="60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5E-7 -3.7037E-6 L 0.18997 -3.7037E-6 " pathEditMode="relative" rAng="0" ptsTypes="AA">
                                      <p:cBhvr>
                                        <p:cTn id="11" dur="1000" spd="-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492" y="0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3.7037E-6 L -0.41185 -3.7037E-6 " pathEditMode="relative" rAng="0" ptsTypes="AA">
                                      <p:cBhvr>
                                        <p:cTn id="18" dur="1000" spd="-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59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6" presetClass="emph" presetSubtype="0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animScale>
                                      <p:cBhvr>
                                        <p:cTn id="26" dur="250" fill="hold"/>
                                        <p:tgtEl>
                                          <p:spTgt spid="28"/>
                                        </p:tgtEl>
                                      </p:cBhvr>
                                      <p:by x="120000" y="120000"/>
                                    </p:animScale>
                                  </p:childTnLst>
                                </p:cTn>
                              </p:par>
                              <p:par>
                                <p:cTn id="27" presetID="6" presetClass="emph" presetSubtype="0" decel="100000" fill="hold" grpId="2" nodeType="withEffect">
                                  <p:stCondLst>
                                    <p:cond delay="400"/>
                                  </p:stCondLst>
                                  <p:childTnLst>
                                    <p:animScale>
                                      <p:cBhvr>
                                        <p:cTn id="28" dur="250" fill="hold"/>
                                        <p:tgtEl>
                                          <p:spTgt spid="28"/>
                                        </p:tgtEl>
                                      </p:cBhvr>
                                      <p:by x="83000" y="83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5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-3.7037E-6 L -0.30273 -3.7037E-6 " pathEditMode="relative" rAng="0" ptsTypes="AA">
                                      <p:cBhvr>
                                        <p:cTn id="36" dur="1000" spd="-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14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000"/>
                            </p:stCondLst>
                            <p:childTnLst>
                              <p:par>
                                <p:cTn id="43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000"/>
                            </p:stCondLst>
                            <p:childTnLst>
                              <p:par>
                                <p:cTn id="5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3500"/>
                            </p:stCondLst>
                            <p:childTnLst>
                              <p:par>
                                <p:cTn id="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4000"/>
                            </p:stCondLst>
                            <p:childTnLst>
                              <p:par>
                                <p:cTn id="5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4500"/>
                            </p:stCondLst>
                            <p:childTnLst>
                              <p:par>
                                <p:cTn id="6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27" grpId="0"/>
      <p:bldP spid="27" grpId="1"/>
      <p:bldP spid="28" grpId="0" animBg="1"/>
      <p:bldP spid="28" grpId="1" animBg="1"/>
      <p:bldP spid="28" grpId="2" animBg="1"/>
      <p:bldP spid="6" grpId="0"/>
      <p:bldP spid="4" grpId="0" animBg="1"/>
      <p:bldP spid="7" grpId="0" animBg="1"/>
      <p:bldP spid="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8923" y="246423"/>
            <a:ext cx="4103077" cy="675011"/>
          </a:xfrm>
          <a:prstGeom prst="rect">
            <a:avLst/>
          </a:prstGeom>
        </p:spPr>
      </p:pic>
      <p:cxnSp>
        <p:nvCxnSpPr>
          <p:cNvPr id="26" name="直接连接符 25"/>
          <p:cNvCxnSpPr/>
          <p:nvPr/>
        </p:nvCxnSpPr>
        <p:spPr>
          <a:xfrm>
            <a:off x="0" y="921434"/>
            <a:ext cx="12192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/>
          <p:cNvSpPr/>
          <p:nvPr/>
        </p:nvSpPr>
        <p:spPr>
          <a:xfrm>
            <a:off x="1060287" y="353095"/>
            <a:ext cx="52621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accent1"/>
                </a:solidFill>
                <a:latin typeface="字体视界-NEW魏碑体" panose="02010601030101010101" pitchFamily="2" charset="-122"/>
                <a:ea typeface="字体视界-NEW魏碑体" panose="02010601030101010101" pitchFamily="2" charset="-122"/>
                <a:cs typeface="+mn-ea"/>
                <a:sym typeface="+mn-lt"/>
              </a:rPr>
              <a:t>第二部分：</a:t>
            </a:r>
            <a:r>
              <a:rPr lang="zh-CN" altLang="en-US" sz="2400" b="1" dirty="0">
                <a:solidFill>
                  <a:srgbClr val="C00000"/>
                </a:solidFill>
                <a:latin typeface="字体视界-NEW魏碑体" panose="02010601030101010101" pitchFamily="2" charset="-122"/>
                <a:ea typeface="字体视界-NEW魏碑体" panose="02010601030101010101" pitchFamily="2" charset="-122"/>
              </a:rPr>
              <a:t>理论分析与历史意义</a:t>
            </a:r>
            <a:endParaRPr lang="zh-CN" altLang="en-US" sz="2400" b="1" dirty="0">
              <a:solidFill>
                <a:srgbClr val="C00000"/>
              </a:solidFill>
              <a:latin typeface="字体视界-NEW魏碑体" panose="02010601030101010101" pitchFamily="2" charset="-122"/>
              <a:ea typeface="字体视界-NEW魏碑体" panose="02010601030101010101" pitchFamily="2" charset="-122"/>
            </a:endParaRPr>
          </a:p>
        </p:txBody>
      </p:sp>
      <p:sp>
        <p:nvSpPr>
          <p:cNvPr id="28" name="Freeform 29"/>
          <p:cNvSpPr/>
          <p:nvPr/>
        </p:nvSpPr>
        <p:spPr bwMode="auto">
          <a:xfrm>
            <a:off x="288468" y="125065"/>
            <a:ext cx="771819" cy="689695"/>
          </a:xfrm>
          <a:custGeom>
            <a:avLst/>
            <a:gdLst>
              <a:gd name="T0" fmla="*/ 803 w 1880"/>
              <a:gd name="T1" fmla="*/ 15 h 1680"/>
              <a:gd name="T2" fmla="*/ 1253 w 1880"/>
              <a:gd name="T3" fmla="*/ 1067 h 1680"/>
              <a:gd name="T4" fmla="*/ 728 w 1880"/>
              <a:gd name="T5" fmla="*/ 540 h 1680"/>
              <a:gd name="T6" fmla="*/ 928 w 1880"/>
              <a:gd name="T7" fmla="*/ 339 h 1680"/>
              <a:gd name="T8" fmla="*/ 803 w 1880"/>
              <a:gd name="T9" fmla="*/ 215 h 1680"/>
              <a:gd name="T10" fmla="*/ 549 w 1880"/>
              <a:gd name="T11" fmla="*/ 267 h 1680"/>
              <a:gd name="T12" fmla="*/ 150 w 1880"/>
              <a:gd name="T13" fmla="*/ 666 h 1680"/>
              <a:gd name="T14" fmla="*/ 376 w 1880"/>
              <a:gd name="T15" fmla="*/ 890 h 1680"/>
              <a:gd name="T16" fmla="*/ 527 w 1880"/>
              <a:gd name="T17" fmla="*/ 741 h 1680"/>
              <a:gd name="T18" fmla="*/ 1052 w 1880"/>
              <a:gd name="T19" fmla="*/ 1266 h 1680"/>
              <a:gd name="T20" fmla="*/ 176 w 1880"/>
              <a:gd name="T21" fmla="*/ 1090 h 1680"/>
              <a:gd name="T22" fmla="*/ 49 w 1880"/>
              <a:gd name="T23" fmla="*/ 1217 h 1680"/>
              <a:gd name="T24" fmla="*/ 159 w 1880"/>
              <a:gd name="T25" fmla="*/ 1357 h 1680"/>
              <a:gd name="T26" fmla="*/ 144 w 1880"/>
              <a:gd name="T27" fmla="*/ 1371 h 1680"/>
              <a:gd name="T28" fmla="*/ 122 w 1880"/>
              <a:gd name="T29" fmla="*/ 1367 h 1680"/>
              <a:gd name="T30" fmla="*/ 0 w 1880"/>
              <a:gd name="T31" fmla="*/ 1494 h 1680"/>
              <a:gd name="T32" fmla="*/ 123 w 1880"/>
              <a:gd name="T33" fmla="*/ 1616 h 1680"/>
              <a:gd name="T34" fmla="*/ 249 w 1880"/>
              <a:gd name="T35" fmla="*/ 1493 h 1680"/>
              <a:gd name="T36" fmla="*/ 245 w 1880"/>
              <a:gd name="T37" fmla="*/ 1470 h 1680"/>
              <a:gd name="T38" fmla="*/ 265 w 1880"/>
              <a:gd name="T39" fmla="*/ 1451 h 1680"/>
              <a:gd name="T40" fmla="*/ 1255 w 1880"/>
              <a:gd name="T41" fmla="*/ 1467 h 1680"/>
              <a:gd name="T42" fmla="*/ 1402 w 1880"/>
              <a:gd name="T43" fmla="*/ 1615 h 1680"/>
              <a:gd name="T44" fmla="*/ 1603 w 1880"/>
              <a:gd name="T45" fmla="*/ 1416 h 1680"/>
              <a:gd name="T46" fmla="*/ 1455 w 1880"/>
              <a:gd name="T47" fmla="*/ 1267 h 1680"/>
              <a:gd name="T48" fmla="*/ 803 w 1880"/>
              <a:gd name="T49" fmla="*/ 15 h 16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1880" h="1680">
                <a:moveTo>
                  <a:pt x="803" y="15"/>
                </a:moveTo>
                <a:cubicBezTo>
                  <a:pt x="1217" y="170"/>
                  <a:pt x="1468" y="665"/>
                  <a:pt x="1253" y="1067"/>
                </a:cubicBezTo>
                <a:cubicBezTo>
                  <a:pt x="728" y="540"/>
                  <a:pt x="728" y="540"/>
                  <a:pt x="728" y="540"/>
                </a:cubicBezTo>
                <a:cubicBezTo>
                  <a:pt x="928" y="339"/>
                  <a:pt x="928" y="339"/>
                  <a:pt x="928" y="339"/>
                </a:cubicBezTo>
                <a:cubicBezTo>
                  <a:pt x="803" y="215"/>
                  <a:pt x="803" y="215"/>
                  <a:pt x="803" y="215"/>
                </a:cubicBezTo>
                <a:cubicBezTo>
                  <a:pt x="733" y="282"/>
                  <a:pt x="623" y="297"/>
                  <a:pt x="549" y="267"/>
                </a:cubicBezTo>
                <a:cubicBezTo>
                  <a:pt x="150" y="666"/>
                  <a:pt x="150" y="666"/>
                  <a:pt x="150" y="666"/>
                </a:cubicBezTo>
                <a:cubicBezTo>
                  <a:pt x="376" y="890"/>
                  <a:pt x="376" y="890"/>
                  <a:pt x="376" y="890"/>
                </a:cubicBezTo>
                <a:cubicBezTo>
                  <a:pt x="527" y="741"/>
                  <a:pt x="527" y="741"/>
                  <a:pt x="527" y="741"/>
                </a:cubicBezTo>
                <a:cubicBezTo>
                  <a:pt x="1052" y="1266"/>
                  <a:pt x="1052" y="1266"/>
                  <a:pt x="1052" y="1266"/>
                </a:cubicBezTo>
                <a:cubicBezTo>
                  <a:pt x="795" y="1407"/>
                  <a:pt x="439" y="1363"/>
                  <a:pt x="176" y="1090"/>
                </a:cubicBezTo>
                <a:cubicBezTo>
                  <a:pt x="49" y="1217"/>
                  <a:pt x="49" y="1217"/>
                  <a:pt x="49" y="1217"/>
                </a:cubicBezTo>
                <a:cubicBezTo>
                  <a:pt x="87" y="1270"/>
                  <a:pt x="119" y="1317"/>
                  <a:pt x="159" y="1357"/>
                </a:cubicBezTo>
                <a:cubicBezTo>
                  <a:pt x="155" y="1362"/>
                  <a:pt x="144" y="1371"/>
                  <a:pt x="144" y="1371"/>
                </a:cubicBezTo>
                <a:cubicBezTo>
                  <a:pt x="137" y="1370"/>
                  <a:pt x="129" y="1367"/>
                  <a:pt x="122" y="1367"/>
                </a:cubicBezTo>
                <a:cubicBezTo>
                  <a:pt x="55" y="1367"/>
                  <a:pt x="0" y="1426"/>
                  <a:pt x="0" y="1494"/>
                </a:cubicBezTo>
                <a:cubicBezTo>
                  <a:pt x="0" y="1561"/>
                  <a:pt x="55" y="1616"/>
                  <a:pt x="123" y="1616"/>
                </a:cubicBezTo>
                <a:cubicBezTo>
                  <a:pt x="191" y="1616"/>
                  <a:pt x="249" y="1561"/>
                  <a:pt x="249" y="1493"/>
                </a:cubicBezTo>
                <a:cubicBezTo>
                  <a:pt x="249" y="1485"/>
                  <a:pt x="247" y="1478"/>
                  <a:pt x="245" y="1470"/>
                </a:cubicBezTo>
                <a:cubicBezTo>
                  <a:pt x="265" y="1451"/>
                  <a:pt x="265" y="1451"/>
                  <a:pt x="265" y="1451"/>
                </a:cubicBezTo>
                <a:cubicBezTo>
                  <a:pt x="567" y="1655"/>
                  <a:pt x="898" y="1680"/>
                  <a:pt x="1255" y="1467"/>
                </a:cubicBezTo>
                <a:cubicBezTo>
                  <a:pt x="1402" y="1615"/>
                  <a:pt x="1402" y="1615"/>
                  <a:pt x="1402" y="1615"/>
                </a:cubicBezTo>
                <a:cubicBezTo>
                  <a:pt x="1603" y="1416"/>
                  <a:pt x="1603" y="1416"/>
                  <a:pt x="1603" y="1416"/>
                </a:cubicBezTo>
                <a:cubicBezTo>
                  <a:pt x="1455" y="1267"/>
                  <a:pt x="1455" y="1267"/>
                  <a:pt x="1455" y="1267"/>
                </a:cubicBezTo>
                <a:cubicBezTo>
                  <a:pt x="1880" y="628"/>
                  <a:pt x="1313" y="0"/>
                  <a:pt x="803" y="1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圆角矩形 13"/>
          <p:cNvSpPr/>
          <p:nvPr>
            <p:custDataLst>
              <p:tags r:id="rId2"/>
            </p:custDataLst>
          </p:nvPr>
        </p:nvSpPr>
        <p:spPr>
          <a:xfrm>
            <a:off x="4192362" y="1841044"/>
            <a:ext cx="1274247" cy="1274247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203200" dist="101600" dir="2700000" algn="tl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800" b="1" dirty="0">
                <a:cs typeface="+mn-ea"/>
                <a:sym typeface="+mn-lt"/>
              </a:rPr>
              <a:t>1</a:t>
            </a:r>
            <a:endParaRPr lang="zh-CN" altLang="en-US" sz="4800" b="1" dirty="0">
              <a:cs typeface="+mn-ea"/>
              <a:sym typeface="+mn-lt"/>
            </a:endParaRPr>
          </a:p>
        </p:txBody>
      </p:sp>
      <p:sp>
        <p:nvSpPr>
          <p:cNvPr id="7" name="圆角矩形 15"/>
          <p:cNvSpPr/>
          <p:nvPr>
            <p:custDataLst>
              <p:tags r:id="rId3"/>
            </p:custDataLst>
          </p:nvPr>
        </p:nvSpPr>
        <p:spPr>
          <a:xfrm>
            <a:off x="4192361" y="1841044"/>
            <a:ext cx="7303287" cy="1274247"/>
          </a:xfrm>
          <a:prstGeom prst="roundRect">
            <a:avLst/>
          </a:prstGeom>
          <a:noFill/>
          <a:ln w="12700">
            <a:solidFill>
              <a:schemeClr val="tx2"/>
            </a:solidFill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圆角矩形 20"/>
          <p:cNvSpPr/>
          <p:nvPr>
            <p:custDataLst>
              <p:tags r:id="rId4"/>
            </p:custDataLst>
          </p:nvPr>
        </p:nvSpPr>
        <p:spPr>
          <a:xfrm>
            <a:off x="4192362" y="3332669"/>
            <a:ext cx="1274247" cy="1274247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203200" dist="101600" dir="2700000" algn="tl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800" b="1" dirty="0">
                <a:cs typeface="+mn-ea"/>
                <a:sym typeface="+mn-lt"/>
              </a:rPr>
              <a:t>2</a:t>
            </a:r>
            <a:endParaRPr lang="zh-CN" altLang="en-US" sz="4800" b="1" dirty="0">
              <a:cs typeface="+mn-ea"/>
              <a:sym typeface="+mn-lt"/>
            </a:endParaRPr>
          </a:p>
        </p:txBody>
      </p:sp>
      <p:sp>
        <p:nvSpPr>
          <p:cNvPr id="9" name="圆角矩形 21"/>
          <p:cNvSpPr/>
          <p:nvPr>
            <p:custDataLst>
              <p:tags r:id="rId5"/>
            </p:custDataLst>
          </p:nvPr>
        </p:nvSpPr>
        <p:spPr>
          <a:xfrm>
            <a:off x="4192361" y="3332669"/>
            <a:ext cx="7303287" cy="1274247"/>
          </a:xfrm>
          <a:prstGeom prst="roundRect">
            <a:avLst/>
          </a:prstGeom>
          <a:noFill/>
          <a:ln w="12700">
            <a:solidFill>
              <a:schemeClr val="tx2"/>
            </a:solidFill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10" name="圆角矩形 23"/>
          <p:cNvSpPr/>
          <p:nvPr>
            <p:custDataLst>
              <p:tags r:id="rId6"/>
            </p:custDataLst>
          </p:nvPr>
        </p:nvSpPr>
        <p:spPr>
          <a:xfrm>
            <a:off x="4192362" y="4824294"/>
            <a:ext cx="1274247" cy="1274247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203200" dist="101600" dir="2700000" algn="tl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800" b="1" dirty="0">
                <a:cs typeface="+mn-ea"/>
                <a:sym typeface="+mn-lt"/>
              </a:rPr>
              <a:t>3</a:t>
            </a:r>
            <a:endParaRPr lang="zh-CN" altLang="en-US" sz="4800" b="1" dirty="0">
              <a:cs typeface="+mn-ea"/>
              <a:sym typeface="+mn-lt"/>
            </a:endParaRPr>
          </a:p>
        </p:txBody>
      </p:sp>
      <p:sp>
        <p:nvSpPr>
          <p:cNvPr id="11" name="圆角矩形 24"/>
          <p:cNvSpPr/>
          <p:nvPr>
            <p:custDataLst>
              <p:tags r:id="rId7"/>
            </p:custDataLst>
          </p:nvPr>
        </p:nvSpPr>
        <p:spPr>
          <a:xfrm>
            <a:off x="4192361" y="4824294"/>
            <a:ext cx="7303287" cy="1274247"/>
          </a:xfrm>
          <a:prstGeom prst="roundRect">
            <a:avLst/>
          </a:prstGeom>
          <a:noFill/>
          <a:ln w="12700">
            <a:solidFill>
              <a:schemeClr val="tx2"/>
            </a:solidFill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矩形 11"/>
          <p:cNvSpPr/>
          <p:nvPr>
            <p:custDataLst>
              <p:tags r:id="rId8"/>
            </p:custDataLst>
          </p:nvPr>
        </p:nvSpPr>
        <p:spPr>
          <a:xfrm>
            <a:off x="5611248" y="2106174"/>
            <a:ext cx="5530256" cy="707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200" dirty="0">
                <a:latin typeface="方正姚体" panose="02010601030101010101" pitchFamily="2" charset="-122"/>
                <a:ea typeface="方正姚体" panose="02010601030101010101" pitchFamily="2" charset="-122"/>
              </a:rPr>
              <a:t>“骂声”是检验政策的镜子</a:t>
            </a:r>
            <a:endParaRPr lang="zh-CN" altLang="en-US" sz="3200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13" name="矩形 12"/>
          <p:cNvSpPr/>
          <p:nvPr>
            <p:custDataLst>
              <p:tags r:id="rId9"/>
            </p:custDataLst>
          </p:nvPr>
        </p:nvSpPr>
        <p:spPr>
          <a:xfrm>
            <a:off x="5611248" y="3742512"/>
            <a:ext cx="55302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dirty="0">
                <a:latin typeface="方正姚体" panose="02010601030101010101" pitchFamily="2" charset="-122"/>
                <a:ea typeface="方正姚体" panose="02010601030101010101" pitchFamily="2" charset="-122"/>
              </a:rPr>
              <a:t>“倾听”是群众路线的起点</a:t>
            </a:r>
            <a:endParaRPr lang="zh-CN" altLang="en-US" sz="3200" dirty="0">
              <a:latin typeface="方正姚体" panose="02010601030101010101" pitchFamily="2" charset="-122"/>
              <a:ea typeface="方正姚体" panose="02010601030101010101" pitchFamily="2" charset="-122"/>
              <a:sym typeface="+mn-lt"/>
            </a:endParaRPr>
          </a:p>
        </p:txBody>
      </p:sp>
      <p:sp>
        <p:nvSpPr>
          <p:cNvPr id="14" name="矩形 13"/>
          <p:cNvSpPr/>
          <p:nvPr>
            <p:custDataLst>
              <p:tags r:id="rId10"/>
            </p:custDataLst>
          </p:nvPr>
        </p:nvSpPr>
        <p:spPr>
          <a:xfrm>
            <a:off x="5466715" y="5168900"/>
            <a:ext cx="581787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dirty="0">
                <a:latin typeface="方正姚体" panose="02010601030101010101" pitchFamily="2" charset="-122"/>
                <a:ea typeface="方正姚体" panose="02010601030101010101" pitchFamily="2" charset="-122"/>
              </a:rPr>
              <a:t> </a:t>
            </a:r>
            <a:r>
              <a:rPr lang="zh-CN" altLang="en-US" sz="3200" dirty="0">
                <a:latin typeface="方正姚体" panose="02010601030101010101" pitchFamily="2" charset="-122"/>
                <a:ea typeface="方正姚体" panose="02010601030101010101" pitchFamily="2" charset="-122"/>
              </a:rPr>
              <a:t>“减粮”是群众路线的落脚点</a:t>
            </a:r>
            <a:endParaRPr lang="zh-CN" altLang="en-US" sz="3200" dirty="0">
              <a:latin typeface="方正姚体" panose="02010601030101010101" pitchFamily="2" charset="-122"/>
              <a:ea typeface="方正姚体" panose="02010601030101010101" pitchFamily="2" charset="-122"/>
              <a:sym typeface="+mn-lt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533107"/>
            <a:ext cx="4669626" cy="4321402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25407" y="1152880"/>
            <a:ext cx="256001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000" b="1" dirty="0">
                <a:solidFill>
                  <a:srgbClr val="C00000"/>
                </a:solidFill>
                <a:ea typeface="字体视界-NEW魏碑体" panose="02010601030101010101" pitchFamily="2" charset="-122"/>
              </a:rPr>
              <a:t>理论分析</a:t>
            </a:r>
            <a:endParaRPr lang="zh-CN" altLang="en-US" sz="4000" b="1" dirty="0">
              <a:solidFill>
                <a:srgbClr val="C00000"/>
              </a:solidFill>
              <a:ea typeface="字体视界-NEW魏碑体" panose="02010601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>
        <p15:prstTrans prst="drap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5E-7 -3.7037E-6 L 0.18997 -3.7037E-6 " pathEditMode="relative" rAng="0" ptsTypes="AA">
                                      <p:cBhvr>
                                        <p:cTn id="11" dur="1000" spd="-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492" y="0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3.7037E-6 L -0.41185 -3.7037E-6 " pathEditMode="relative" rAng="0" ptsTypes="AA">
                                      <p:cBhvr>
                                        <p:cTn id="18" dur="1000" spd="-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59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6" presetClass="emph" presetSubtype="0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animScale>
                                      <p:cBhvr>
                                        <p:cTn id="26" dur="250" fill="hold"/>
                                        <p:tgtEl>
                                          <p:spTgt spid="28"/>
                                        </p:tgtEl>
                                      </p:cBhvr>
                                      <p:by x="120000" y="120000"/>
                                    </p:animScale>
                                  </p:childTnLst>
                                </p:cTn>
                              </p:par>
                              <p:par>
                                <p:cTn id="27" presetID="6" presetClass="emph" presetSubtype="0" decel="100000" fill="hold" grpId="2" nodeType="withEffect">
                                  <p:stCondLst>
                                    <p:cond delay="400"/>
                                  </p:stCondLst>
                                  <p:childTnLst>
                                    <p:animScale>
                                      <p:cBhvr>
                                        <p:cTn id="28" dur="250" fill="hold"/>
                                        <p:tgtEl>
                                          <p:spTgt spid="28"/>
                                        </p:tgtEl>
                                      </p:cBhvr>
                                      <p:by x="83000" y="83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5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-3.7037E-6 L -0.30273 -3.7037E-6 " pathEditMode="relative" rAng="0" ptsTypes="AA">
                                      <p:cBhvr>
                                        <p:cTn id="36" dur="1000" spd="-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14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000"/>
                            </p:stCondLst>
                            <p:childTnLst>
                              <p:par>
                                <p:cTn id="44" presetID="6" presetClass="emph" presetSubtype="0" decel="10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5" dur="250" fill="hold"/>
                                        <p:tgtEl>
                                          <p:spTgt spid="6"/>
                                        </p:tgtEl>
                                      </p:cBhvr>
                                      <p:by x="120000" y="12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500"/>
                            </p:stCondLst>
                            <p:childTnLst>
                              <p:par>
                                <p:cTn id="47" presetID="6" presetClass="emph" presetSubtype="0" decel="10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8" dur="250" fill="hold"/>
                                        <p:tgtEl>
                                          <p:spTgt spid="6"/>
                                        </p:tgtEl>
                                      </p:cBhvr>
                                      <p:by x="83000" y="83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000"/>
                            </p:stCondLst>
                            <p:childTnLst>
                              <p:par>
                                <p:cTn id="5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3500"/>
                            </p:stCondLst>
                            <p:childTnLst>
                              <p:par>
                                <p:cTn id="5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4425"/>
                            </p:stCondLst>
                            <p:childTnLst>
                              <p:par>
                                <p:cTn id="6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4925"/>
                            </p:stCondLst>
                            <p:childTnLst>
                              <p:par>
                                <p:cTn id="67" presetID="6" presetClass="emph" presetSubtype="0" decel="10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8" dur="250" fill="hold"/>
                                        <p:tgtEl>
                                          <p:spTgt spid="8"/>
                                        </p:tgtEl>
                                      </p:cBhvr>
                                      <p:by x="120000" y="12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425"/>
                            </p:stCondLst>
                            <p:childTnLst>
                              <p:par>
                                <p:cTn id="70" presetID="6" presetClass="emph" presetSubtype="0" decel="10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71" dur="250" fill="hold"/>
                                        <p:tgtEl>
                                          <p:spTgt spid="8"/>
                                        </p:tgtEl>
                                      </p:cBhvr>
                                      <p:by x="83000" y="83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925"/>
                            </p:stCondLst>
                            <p:childTnLst>
                              <p:par>
                                <p:cTn id="73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7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6425"/>
                            </p:stCondLst>
                            <p:childTnLst>
                              <p:par>
                                <p:cTn id="7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6200"/>
                            </p:stCondLst>
                            <p:childTnLst>
                              <p:par>
                                <p:cTn id="8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6700"/>
                            </p:stCondLst>
                            <p:childTnLst>
                              <p:par>
                                <p:cTn id="90" presetID="6" presetClass="emph" presetSubtype="0" decel="10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1" dur="250" fill="hold"/>
                                        <p:tgtEl>
                                          <p:spTgt spid="10"/>
                                        </p:tgtEl>
                                      </p:cBhvr>
                                      <p:by x="120000" y="12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7200"/>
                            </p:stCondLst>
                            <p:childTnLst>
                              <p:par>
                                <p:cTn id="93" presetID="6" presetClass="emph" presetSubtype="0" decel="10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4" dur="250" fill="hold"/>
                                        <p:tgtEl>
                                          <p:spTgt spid="10"/>
                                        </p:tgtEl>
                                      </p:cBhvr>
                                      <p:by x="83000" y="83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7700"/>
                            </p:stCondLst>
                            <p:childTnLst>
                              <p:par>
                                <p:cTn id="96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9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8200"/>
                            </p:stCondLst>
                            <p:childTnLst>
                              <p:par>
                                <p:cTn id="10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8024"/>
                            </p:stCondLst>
                            <p:childTnLst>
                              <p:par>
                                <p:cTn id="107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7" grpId="1"/>
      <p:bldP spid="28" grpId="0" animBg="1"/>
      <p:bldP spid="28" grpId="1" animBg="1"/>
      <p:bldP spid="28" grpId="2" animBg="1"/>
      <p:bldP spid="6" grpId="0" animBg="1"/>
      <p:bldP spid="6" grpId="1" animBg="1"/>
      <p:bldP spid="6" grpId="2" animBg="1"/>
      <p:bldP spid="7" grpId="0" animBg="1"/>
      <p:bldP spid="8" grpId="0" animBg="1"/>
      <p:bldP spid="8" grpId="1" animBg="1"/>
      <p:bldP spid="8" grpId="2" animBg="1"/>
      <p:bldP spid="9" grpId="0" animBg="1"/>
      <p:bldP spid="10" grpId="0" animBg="1"/>
      <p:bldP spid="10" grpId="1" animBg="1"/>
      <p:bldP spid="10" grpId="2" animBg="1"/>
      <p:bldP spid="11" grpId="0" animBg="1"/>
      <p:bldP spid="12" grpId="0"/>
      <p:bldP spid="13" grpId="0"/>
      <p:bldP spid="1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8923" y="246423"/>
            <a:ext cx="4103077" cy="675011"/>
          </a:xfrm>
          <a:prstGeom prst="rect">
            <a:avLst/>
          </a:prstGeom>
        </p:spPr>
      </p:pic>
      <p:cxnSp>
        <p:nvCxnSpPr>
          <p:cNvPr id="26" name="直接连接符 25"/>
          <p:cNvCxnSpPr/>
          <p:nvPr/>
        </p:nvCxnSpPr>
        <p:spPr>
          <a:xfrm>
            <a:off x="0" y="921434"/>
            <a:ext cx="12192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/>
          <p:cNvSpPr/>
          <p:nvPr/>
        </p:nvSpPr>
        <p:spPr>
          <a:xfrm>
            <a:off x="1060286" y="353095"/>
            <a:ext cx="720465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accent1"/>
                </a:solidFill>
                <a:latin typeface="字体视界-NEW魏碑体" panose="02010601030101010101" pitchFamily="2" charset="-122"/>
                <a:ea typeface="字体视界-NEW魏碑体" panose="02010601030101010101" pitchFamily="2" charset="-122"/>
                <a:cs typeface="+mn-ea"/>
                <a:sym typeface="+mn-lt"/>
              </a:rPr>
              <a:t>第二部分：</a:t>
            </a:r>
            <a:r>
              <a:rPr lang="zh-CN" altLang="en-US" sz="2400" b="1" dirty="0">
                <a:solidFill>
                  <a:srgbClr val="C00000"/>
                </a:solidFill>
                <a:latin typeface="字体视界-NEW魏碑体" panose="02010601030101010101" pitchFamily="2" charset="-122"/>
                <a:ea typeface="字体视界-NEW魏碑体" panose="02010601030101010101" pitchFamily="2" charset="-122"/>
              </a:rPr>
              <a:t>理论分析与历史意义</a:t>
            </a:r>
            <a:endParaRPr lang="zh-CN" altLang="en-US" sz="2400" b="1" dirty="0">
              <a:solidFill>
                <a:srgbClr val="C00000"/>
              </a:solidFill>
              <a:latin typeface="字体视界-NEW魏碑体" panose="02010601030101010101" pitchFamily="2" charset="-122"/>
              <a:ea typeface="字体视界-NEW魏碑体" panose="02010601030101010101" pitchFamily="2" charset="-122"/>
            </a:endParaRPr>
          </a:p>
        </p:txBody>
      </p:sp>
      <p:sp>
        <p:nvSpPr>
          <p:cNvPr id="28" name="Freeform 29"/>
          <p:cNvSpPr/>
          <p:nvPr/>
        </p:nvSpPr>
        <p:spPr bwMode="auto">
          <a:xfrm>
            <a:off x="288468" y="125065"/>
            <a:ext cx="771819" cy="689695"/>
          </a:xfrm>
          <a:custGeom>
            <a:avLst/>
            <a:gdLst>
              <a:gd name="T0" fmla="*/ 803 w 1880"/>
              <a:gd name="T1" fmla="*/ 15 h 1680"/>
              <a:gd name="T2" fmla="*/ 1253 w 1880"/>
              <a:gd name="T3" fmla="*/ 1067 h 1680"/>
              <a:gd name="T4" fmla="*/ 728 w 1880"/>
              <a:gd name="T5" fmla="*/ 540 h 1680"/>
              <a:gd name="T6" fmla="*/ 928 w 1880"/>
              <a:gd name="T7" fmla="*/ 339 h 1680"/>
              <a:gd name="T8" fmla="*/ 803 w 1880"/>
              <a:gd name="T9" fmla="*/ 215 h 1680"/>
              <a:gd name="T10" fmla="*/ 549 w 1880"/>
              <a:gd name="T11" fmla="*/ 267 h 1680"/>
              <a:gd name="T12" fmla="*/ 150 w 1880"/>
              <a:gd name="T13" fmla="*/ 666 h 1680"/>
              <a:gd name="T14" fmla="*/ 376 w 1880"/>
              <a:gd name="T15" fmla="*/ 890 h 1680"/>
              <a:gd name="T16" fmla="*/ 527 w 1880"/>
              <a:gd name="T17" fmla="*/ 741 h 1680"/>
              <a:gd name="T18" fmla="*/ 1052 w 1880"/>
              <a:gd name="T19" fmla="*/ 1266 h 1680"/>
              <a:gd name="T20" fmla="*/ 176 w 1880"/>
              <a:gd name="T21" fmla="*/ 1090 h 1680"/>
              <a:gd name="T22" fmla="*/ 49 w 1880"/>
              <a:gd name="T23" fmla="*/ 1217 h 1680"/>
              <a:gd name="T24" fmla="*/ 159 w 1880"/>
              <a:gd name="T25" fmla="*/ 1357 h 1680"/>
              <a:gd name="T26" fmla="*/ 144 w 1880"/>
              <a:gd name="T27" fmla="*/ 1371 h 1680"/>
              <a:gd name="T28" fmla="*/ 122 w 1880"/>
              <a:gd name="T29" fmla="*/ 1367 h 1680"/>
              <a:gd name="T30" fmla="*/ 0 w 1880"/>
              <a:gd name="T31" fmla="*/ 1494 h 1680"/>
              <a:gd name="T32" fmla="*/ 123 w 1880"/>
              <a:gd name="T33" fmla="*/ 1616 h 1680"/>
              <a:gd name="T34" fmla="*/ 249 w 1880"/>
              <a:gd name="T35" fmla="*/ 1493 h 1680"/>
              <a:gd name="T36" fmla="*/ 245 w 1880"/>
              <a:gd name="T37" fmla="*/ 1470 h 1680"/>
              <a:gd name="T38" fmla="*/ 265 w 1880"/>
              <a:gd name="T39" fmla="*/ 1451 h 1680"/>
              <a:gd name="T40" fmla="*/ 1255 w 1880"/>
              <a:gd name="T41" fmla="*/ 1467 h 1680"/>
              <a:gd name="T42" fmla="*/ 1402 w 1880"/>
              <a:gd name="T43" fmla="*/ 1615 h 1680"/>
              <a:gd name="T44" fmla="*/ 1603 w 1880"/>
              <a:gd name="T45" fmla="*/ 1416 h 1680"/>
              <a:gd name="T46" fmla="*/ 1455 w 1880"/>
              <a:gd name="T47" fmla="*/ 1267 h 1680"/>
              <a:gd name="T48" fmla="*/ 803 w 1880"/>
              <a:gd name="T49" fmla="*/ 15 h 16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1880" h="1680">
                <a:moveTo>
                  <a:pt x="803" y="15"/>
                </a:moveTo>
                <a:cubicBezTo>
                  <a:pt x="1217" y="170"/>
                  <a:pt x="1468" y="665"/>
                  <a:pt x="1253" y="1067"/>
                </a:cubicBezTo>
                <a:cubicBezTo>
                  <a:pt x="728" y="540"/>
                  <a:pt x="728" y="540"/>
                  <a:pt x="728" y="540"/>
                </a:cubicBezTo>
                <a:cubicBezTo>
                  <a:pt x="928" y="339"/>
                  <a:pt x="928" y="339"/>
                  <a:pt x="928" y="339"/>
                </a:cubicBezTo>
                <a:cubicBezTo>
                  <a:pt x="803" y="215"/>
                  <a:pt x="803" y="215"/>
                  <a:pt x="803" y="215"/>
                </a:cubicBezTo>
                <a:cubicBezTo>
                  <a:pt x="733" y="282"/>
                  <a:pt x="623" y="297"/>
                  <a:pt x="549" y="267"/>
                </a:cubicBezTo>
                <a:cubicBezTo>
                  <a:pt x="150" y="666"/>
                  <a:pt x="150" y="666"/>
                  <a:pt x="150" y="666"/>
                </a:cubicBezTo>
                <a:cubicBezTo>
                  <a:pt x="376" y="890"/>
                  <a:pt x="376" y="890"/>
                  <a:pt x="376" y="890"/>
                </a:cubicBezTo>
                <a:cubicBezTo>
                  <a:pt x="527" y="741"/>
                  <a:pt x="527" y="741"/>
                  <a:pt x="527" y="741"/>
                </a:cubicBezTo>
                <a:cubicBezTo>
                  <a:pt x="1052" y="1266"/>
                  <a:pt x="1052" y="1266"/>
                  <a:pt x="1052" y="1266"/>
                </a:cubicBezTo>
                <a:cubicBezTo>
                  <a:pt x="795" y="1407"/>
                  <a:pt x="439" y="1363"/>
                  <a:pt x="176" y="1090"/>
                </a:cubicBezTo>
                <a:cubicBezTo>
                  <a:pt x="49" y="1217"/>
                  <a:pt x="49" y="1217"/>
                  <a:pt x="49" y="1217"/>
                </a:cubicBezTo>
                <a:cubicBezTo>
                  <a:pt x="87" y="1270"/>
                  <a:pt x="119" y="1317"/>
                  <a:pt x="159" y="1357"/>
                </a:cubicBezTo>
                <a:cubicBezTo>
                  <a:pt x="155" y="1362"/>
                  <a:pt x="144" y="1371"/>
                  <a:pt x="144" y="1371"/>
                </a:cubicBezTo>
                <a:cubicBezTo>
                  <a:pt x="137" y="1370"/>
                  <a:pt x="129" y="1367"/>
                  <a:pt x="122" y="1367"/>
                </a:cubicBezTo>
                <a:cubicBezTo>
                  <a:pt x="55" y="1367"/>
                  <a:pt x="0" y="1426"/>
                  <a:pt x="0" y="1494"/>
                </a:cubicBezTo>
                <a:cubicBezTo>
                  <a:pt x="0" y="1561"/>
                  <a:pt x="55" y="1616"/>
                  <a:pt x="123" y="1616"/>
                </a:cubicBezTo>
                <a:cubicBezTo>
                  <a:pt x="191" y="1616"/>
                  <a:pt x="249" y="1561"/>
                  <a:pt x="249" y="1493"/>
                </a:cubicBezTo>
                <a:cubicBezTo>
                  <a:pt x="249" y="1485"/>
                  <a:pt x="247" y="1478"/>
                  <a:pt x="245" y="1470"/>
                </a:cubicBezTo>
                <a:cubicBezTo>
                  <a:pt x="265" y="1451"/>
                  <a:pt x="265" y="1451"/>
                  <a:pt x="265" y="1451"/>
                </a:cubicBezTo>
                <a:cubicBezTo>
                  <a:pt x="567" y="1655"/>
                  <a:pt x="898" y="1680"/>
                  <a:pt x="1255" y="1467"/>
                </a:cubicBezTo>
                <a:cubicBezTo>
                  <a:pt x="1402" y="1615"/>
                  <a:pt x="1402" y="1615"/>
                  <a:pt x="1402" y="1615"/>
                </a:cubicBezTo>
                <a:cubicBezTo>
                  <a:pt x="1603" y="1416"/>
                  <a:pt x="1603" y="1416"/>
                  <a:pt x="1603" y="1416"/>
                </a:cubicBezTo>
                <a:cubicBezTo>
                  <a:pt x="1455" y="1267"/>
                  <a:pt x="1455" y="1267"/>
                  <a:pt x="1455" y="1267"/>
                </a:cubicBezTo>
                <a:cubicBezTo>
                  <a:pt x="1880" y="628"/>
                  <a:pt x="1313" y="0"/>
                  <a:pt x="803" y="1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Freeform 14"/>
          <p:cNvSpPr/>
          <p:nvPr/>
        </p:nvSpPr>
        <p:spPr bwMode="auto">
          <a:xfrm>
            <a:off x="1032577" y="2462762"/>
            <a:ext cx="1157988" cy="1157232"/>
          </a:xfrm>
          <a:custGeom>
            <a:avLst/>
            <a:gdLst>
              <a:gd name="T0" fmla="*/ 3227 w 3227"/>
              <a:gd name="T1" fmla="*/ 1634 h 3227"/>
              <a:gd name="T2" fmla="*/ 1614 w 3227"/>
              <a:gd name="T3" fmla="*/ 3227 h 3227"/>
              <a:gd name="T4" fmla="*/ 0 w 3227"/>
              <a:gd name="T5" fmla="*/ 1613 h 3227"/>
              <a:gd name="T6" fmla="*/ 1593 w 3227"/>
              <a:gd name="T7" fmla="*/ 0 h 3227"/>
              <a:gd name="T8" fmla="*/ 1593 w 3227"/>
              <a:gd name="T9" fmla="*/ 0 h 3227"/>
              <a:gd name="T10" fmla="*/ 1614 w 3227"/>
              <a:gd name="T11" fmla="*/ 0 h 3227"/>
              <a:gd name="T12" fmla="*/ 3227 w 3227"/>
              <a:gd name="T13" fmla="*/ 0 h 3227"/>
              <a:gd name="T14" fmla="*/ 3227 w 3227"/>
              <a:gd name="T15" fmla="*/ 1613 h 3227"/>
              <a:gd name="T16" fmla="*/ 3227 w 3227"/>
              <a:gd name="T17" fmla="*/ 1634 h 32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227" h="3227">
                <a:moveTo>
                  <a:pt x="3227" y="1634"/>
                </a:moveTo>
                <a:cubicBezTo>
                  <a:pt x="3216" y="2515"/>
                  <a:pt x="2498" y="3227"/>
                  <a:pt x="1614" y="3227"/>
                </a:cubicBezTo>
                <a:cubicBezTo>
                  <a:pt x="723" y="3227"/>
                  <a:pt x="0" y="2504"/>
                  <a:pt x="0" y="1613"/>
                </a:cubicBezTo>
                <a:cubicBezTo>
                  <a:pt x="0" y="729"/>
                  <a:pt x="712" y="11"/>
                  <a:pt x="1593" y="0"/>
                </a:cubicBezTo>
                <a:lnTo>
                  <a:pt x="1593" y="0"/>
                </a:lnTo>
                <a:lnTo>
                  <a:pt x="1614" y="0"/>
                </a:lnTo>
                <a:lnTo>
                  <a:pt x="3227" y="0"/>
                </a:lnTo>
                <a:lnTo>
                  <a:pt x="3227" y="1613"/>
                </a:lnTo>
                <a:lnTo>
                  <a:pt x="3227" y="1634"/>
                </a:lnTo>
                <a:close/>
              </a:path>
            </a:pathLst>
          </a:custGeom>
          <a:solidFill>
            <a:srgbClr val="C00000"/>
          </a:solidFill>
          <a:ln>
            <a:solidFill>
              <a:srgbClr val="C00000"/>
            </a:solidFill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bg2"/>
              </a:solidFill>
            </a:endParaRPr>
          </a:p>
        </p:txBody>
      </p:sp>
      <p:sp>
        <p:nvSpPr>
          <p:cNvPr id="7" name="TextBox 11"/>
          <p:cNvSpPr txBox="1"/>
          <p:nvPr/>
        </p:nvSpPr>
        <p:spPr>
          <a:xfrm>
            <a:off x="1372325" y="2598003"/>
            <a:ext cx="56457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800" b="1" dirty="0">
                <a:solidFill>
                  <a:schemeClr val="bg2"/>
                </a:solidFill>
                <a:latin typeface="+mj-ea"/>
                <a:ea typeface="+mj-ea"/>
              </a:rPr>
              <a:t>1</a:t>
            </a:r>
            <a:endParaRPr lang="zh-CN" altLang="en-US" sz="4800" b="1" dirty="0">
              <a:solidFill>
                <a:schemeClr val="bg2"/>
              </a:solidFill>
              <a:latin typeface="+mj-ea"/>
              <a:ea typeface="+mj-ea"/>
            </a:endParaRPr>
          </a:p>
        </p:txBody>
      </p:sp>
      <p:sp>
        <p:nvSpPr>
          <p:cNvPr id="9" name="TextBox 13"/>
          <p:cNvSpPr txBox="1"/>
          <p:nvPr/>
        </p:nvSpPr>
        <p:spPr>
          <a:xfrm>
            <a:off x="2364937" y="2339624"/>
            <a:ext cx="8576597" cy="1240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lnSpc>
                <a:spcPts val="3100"/>
              </a:lnSpc>
              <a:defRPr/>
            </a:pPr>
            <a:r>
              <a:rPr lang="zh-CN" altLang="en-US" sz="2400" b="1" dirty="0">
                <a:solidFill>
                  <a:srgbClr val="C00000"/>
                </a:solidFill>
                <a:latin typeface="字体视界-NEW魏碑体" panose="02010601030101010101" pitchFamily="2" charset="-122"/>
                <a:ea typeface="字体视界-NEW魏碑体" panose="02010601030101010101" pitchFamily="2" charset="-122"/>
                <a:sym typeface="+mn-lt"/>
              </a:rPr>
              <a:t>巩固执政基础，凝聚抗战民心</a:t>
            </a:r>
            <a:endParaRPr lang="en-US" altLang="zh-CN" sz="2400" b="1" dirty="0">
              <a:solidFill>
                <a:srgbClr val="C00000"/>
              </a:solidFill>
              <a:latin typeface="字体视界-NEW魏碑体" panose="02010601030101010101" pitchFamily="2" charset="-122"/>
              <a:ea typeface="字体视界-NEW魏碑体" panose="02010601030101010101" pitchFamily="2" charset="-122"/>
              <a:sym typeface="+mn-lt"/>
            </a:endParaRPr>
          </a:p>
          <a:p>
            <a:pPr>
              <a:lnSpc>
                <a:spcPts val="3100"/>
              </a:lnSpc>
              <a:defRPr/>
            </a:pP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事件以生动实践证明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"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党和人民一条心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"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，通过直面群众诉求、解决实际问题，极大增强党在边区的凝聚力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" name="Freeform 14"/>
          <p:cNvSpPr/>
          <p:nvPr/>
        </p:nvSpPr>
        <p:spPr bwMode="auto">
          <a:xfrm>
            <a:off x="1000366" y="4239677"/>
            <a:ext cx="1157988" cy="1157232"/>
          </a:xfrm>
          <a:custGeom>
            <a:avLst/>
            <a:gdLst>
              <a:gd name="T0" fmla="*/ 3227 w 3227"/>
              <a:gd name="T1" fmla="*/ 1634 h 3227"/>
              <a:gd name="T2" fmla="*/ 1614 w 3227"/>
              <a:gd name="T3" fmla="*/ 3227 h 3227"/>
              <a:gd name="T4" fmla="*/ 0 w 3227"/>
              <a:gd name="T5" fmla="*/ 1613 h 3227"/>
              <a:gd name="T6" fmla="*/ 1593 w 3227"/>
              <a:gd name="T7" fmla="*/ 0 h 3227"/>
              <a:gd name="T8" fmla="*/ 1593 w 3227"/>
              <a:gd name="T9" fmla="*/ 0 h 3227"/>
              <a:gd name="T10" fmla="*/ 1614 w 3227"/>
              <a:gd name="T11" fmla="*/ 0 h 3227"/>
              <a:gd name="T12" fmla="*/ 3227 w 3227"/>
              <a:gd name="T13" fmla="*/ 0 h 3227"/>
              <a:gd name="T14" fmla="*/ 3227 w 3227"/>
              <a:gd name="T15" fmla="*/ 1613 h 3227"/>
              <a:gd name="T16" fmla="*/ 3227 w 3227"/>
              <a:gd name="T17" fmla="*/ 1634 h 32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227" h="3227">
                <a:moveTo>
                  <a:pt x="3227" y="1634"/>
                </a:moveTo>
                <a:cubicBezTo>
                  <a:pt x="3216" y="2515"/>
                  <a:pt x="2498" y="3227"/>
                  <a:pt x="1614" y="3227"/>
                </a:cubicBezTo>
                <a:cubicBezTo>
                  <a:pt x="723" y="3227"/>
                  <a:pt x="0" y="2504"/>
                  <a:pt x="0" y="1613"/>
                </a:cubicBezTo>
                <a:cubicBezTo>
                  <a:pt x="0" y="729"/>
                  <a:pt x="712" y="11"/>
                  <a:pt x="1593" y="0"/>
                </a:cubicBezTo>
                <a:lnTo>
                  <a:pt x="1593" y="0"/>
                </a:lnTo>
                <a:lnTo>
                  <a:pt x="1614" y="0"/>
                </a:lnTo>
                <a:lnTo>
                  <a:pt x="3227" y="0"/>
                </a:lnTo>
                <a:lnTo>
                  <a:pt x="3227" y="1613"/>
                </a:lnTo>
                <a:lnTo>
                  <a:pt x="3227" y="1634"/>
                </a:lnTo>
                <a:close/>
              </a:path>
            </a:pathLst>
          </a:custGeom>
          <a:solidFill>
            <a:srgbClr val="C00000"/>
          </a:solidFill>
          <a:ln>
            <a:solidFill>
              <a:srgbClr val="C00000"/>
            </a:solidFill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bg2"/>
              </a:solidFill>
            </a:endParaRPr>
          </a:p>
        </p:txBody>
      </p:sp>
      <p:sp>
        <p:nvSpPr>
          <p:cNvPr id="11" name="TextBox 15"/>
          <p:cNvSpPr txBox="1"/>
          <p:nvPr/>
        </p:nvSpPr>
        <p:spPr>
          <a:xfrm>
            <a:off x="1372325" y="4402794"/>
            <a:ext cx="5339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b="1" dirty="0">
                <a:solidFill>
                  <a:schemeClr val="bg2"/>
                </a:solidFill>
                <a:latin typeface="+mj-ea"/>
                <a:ea typeface="+mj-ea"/>
              </a:rPr>
              <a:t>2</a:t>
            </a:r>
            <a:endParaRPr lang="zh-CN" altLang="en-US" sz="4800" b="1" dirty="0">
              <a:solidFill>
                <a:schemeClr val="bg2"/>
              </a:solidFill>
              <a:latin typeface="+mj-ea"/>
              <a:ea typeface="+mj-ea"/>
            </a:endParaRPr>
          </a:p>
        </p:txBody>
      </p:sp>
      <p:sp>
        <p:nvSpPr>
          <p:cNvPr id="12" name="TextBox 17"/>
          <p:cNvSpPr txBox="1"/>
          <p:nvPr/>
        </p:nvSpPr>
        <p:spPr>
          <a:xfrm>
            <a:off x="2340022" y="3968505"/>
            <a:ext cx="8626428" cy="14284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 algn="just">
              <a:lnSpc>
                <a:spcPct val="150000"/>
              </a:lnSpc>
            </a:pPr>
            <a:r>
              <a:rPr lang="zh-CN" altLang="en-US" sz="2400" b="1" dirty="0">
                <a:solidFill>
                  <a:srgbClr val="C00000"/>
                </a:solidFill>
                <a:latin typeface="字体视界-NEW魏碑体" panose="02010601030101010101" pitchFamily="2" charset="-122"/>
                <a:ea typeface="字体视界-NEW魏碑体" panose="02010601030101010101" pitchFamily="2" charset="-122"/>
              </a:rPr>
              <a:t>塑造优良作风，确立自我革新基因</a:t>
            </a:r>
            <a:endParaRPr lang="en-US" altLang="zh-CN" sz="2400" b="1" dirty="0">
              <a:solidFill>
                <a:srgbClr val="C00000"/>
              </a:solidFill>
              <a:latin typeface="字体视界-NEW魏碑体" panose="02010601030101010101" pitchFamily="2" charset="-122"/>
              <a:ea typeface="字体视界-NEW魏碑体" panose="02010601030101010101" pitchFamily="2" charset="-122"/>
              <a:sym typeface="+mn-lt"/>
            </a:endParaRPr>
          </a:p>
          <a:p>
            <a:pPr algn="just">
              <a:lnSpc>
                <a:spcPct val="150000"/>
              </a:lnSpc>
            </a:pP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党以坦然接受批评、主动改进工作的态度，树立了批评与自我批评、密切联系群众的典范。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00366" y="1103836"/>
            <a:ext cx="9435414" cy="9092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150000"/>
              </a:lnSpc>
            </a:pPr>
            <a:r>
              <a:rPr lang="zh-CN" altLang="en-US" sz="4000" b="1" dirty="0">
                <a:solidFill>
                  <a:srgbClr val="C00000"/>
                </a:solidFill>
                <a:latin typeface="字体视界-NEW魏碑体" panose="02010601030101010101" pitchFamily="2" charset="-122"/>
                <a:ea typeface="字体视界-NEW魏碑体" panose="02010601030101010101" pitchFamily="2" charset="-122"/>
              </a:rPr>
              <a:t>历史意义与价值</a:t>
            </a:r>
            <a:endParaRPr lang="zh-CN" altLang="zh-CN" sz="4000" b="1" kern="0" dirty="0">
              <a:latin typeface="Noto Sans S Chinese Medium" pitchFamily="34" charset="-122"/>
              <a:ea typeface="Noto Sans S Chinese Medium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>
        <p15:prstTrans prst="fallOver"/>
      </p:transition>
    </mc:Choice>
    <mc:Fallback>
      <p:transition spd="slow">
        <p:fade/>
      </p:transition>
    </mc:Fallback>
  </mc:AlternateContent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53" presetClass="entr" presetSubtype="16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" dur="5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" presetID="35" presetClass="path" presetSubtype="0" accel="50000" decel="5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6.25E-7 -3.7037E-6 L 0.18997 -3.7037E-6 " pathEditMode="relative" rAng="0" ptsTypes="AA">
                                          <p:cBhvr>
                                            <p:cTn id="11" dur="1000" spd="-100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9492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2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4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5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6" dur="5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35" presetClass="path" presetSubtype="0" accel="50000" decel="5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-3.7037E-6 L -0.41185 -3.7037E-6 " pathEditMode="relative" rAng="0" ptsTypes="AA">
                                          <p:cBhvr>
                                            <p:cTn id="18" dur="1000" spd="-1000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20599" y="0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9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20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2" dur="25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3" dur="25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4" dur="25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5" presetID="6" presetClass="emph" presetSubtype="0" decel="100000" fill="hold" grpId="1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animScale>
                                          <p:cBhvr>
                                            <p:cTn id="26" dur="250" fill="hold"/>
                                            <p:tgtEl>
                                              <p:spTgt spid="28"/>
                                            </p:tgtEl>
                                          </p:cBhvr>
                                          <p:by x="120000" y="12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27" presetID="6" presetClass="emph" presetSubtype="0" decel="100000" fill="hold" grpId="2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animScale>
                                          <p:cBhvr>
                                            <p:cTn id="28" dur="250" fill="hold"/>
                                            <p:tgtEl>
                                              <p:spTgt spid="28"/>
                                            </p:tgtEl>
                                          </p:cBhvr>
                                          <p:by x="83000" y="83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9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30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2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3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4" dur="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5" presetID="35" presetClass="path" presetSubtype="0" accel="50000" decel="5000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1.875E-6 -3.7037E-6 L -0.30273 -3.7037E-6 " pathEditMode="relative" rAng="0" ptsTypes="AA">
                                          <p:cBhvr>
                                            <p:cTn id="36" dur="1000" spd="-1000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15143" y="0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7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38" presetID="2" presetClass="entr" presetSubtype="12" fill="hold" grpId="0" nodeType="afterEffect" p14:presetBounceEnd="2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20000">
                                          <p:cBhvr additive="base">
                                            <p:cTn id="40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20000">
                                          <p:cBhvr additive="base">
                                            <p:cTn id="41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2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43" presetID="31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5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6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7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8" dur="5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9" fill="hold">
                                <p:stCondLst>
                                  <p:cond delay="2500"/>
                                </p:stCondLst>
                                <p:childTnLst>
                                  <p:par>
                                    <p:cTn id="50" presetID="22" presetClass="entr" presetSubtype="1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52" dur="5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3" fill="hold">
                                <p:stCondLst>
                                  <p:cond delay="3000"/>
                                </p:stCondLst>
                                <p:childTnLst>
                                  <p:par>
                                    <p:cTn id="54" presetID="2" presetClass="entr" presetSubtype="12" fill="hold" grpId="0" nodeType="afterEffect" p14:presetBounceEnd="2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20000">
                                          <p:cBhvr additive="base">
                                            <p:cTn id="56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20000">
                                          <p:cBhvr additive="base">
                                            <p:cTn id="57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8" fill="hold">
                                <p:stCondLst>
                                  <p:cond delay="3500"/>
                                </p:stCondLst>
                                <p:childTnLst>
                                  <p:par>
                                    <p:cTn id="59" presetID="31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1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2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3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4" dur="5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5" fill="hold">
                                <p:stCondLst>
                                  <p:cond delay="4000"/>
                                </p:stCondLst>
                                <p:childTnLst>
                                  <p:par>
                                    <p:cTn id="66" presetID="22" presetClass="entr" presetSubtype="1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68" dur="5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9" fill="hold">
                                <p:stCondLst>
                                  <p:cond delay="4500"/>
                                </p:stCondLst>
                                <p:childTnLst>
                                  <p:par>
                                    <p:cTn id="70" presetID="31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2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3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4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75" dur="5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7" grpId="0"/>
          <p:bldP spid="27" grpId="1"/>
          <p:bldP spid="28" grpId="0" animBg="1"/>
          <p:bldP spid="28" grpId="1" animBg="1"/>
          <p:bldP spid="28" grpId="2" animBg="1"/>
          <p:bldP spid="6" grpId="0" animBg="1"/>
          <p:bldP spid="7" grpId="0"/>
          <p:bldP spid="9" grpId="0"/>
          <p:bldP spid="10" grpId="0" animBg="1"/>
          <p:bldP spid="11" grpId="0"/>
          <p:bldP spid="12" grpId="0"/>
          <p:bldP spid="2" grpId="0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53" presetClass="entr" presetSubtype="16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" dur="5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" presetID="35" presetClass="path" presetSubtype="0" accel="50000" decel="5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6.25E-7 -3.7037E-6 L 0.18997 -3.7037E-6 " pathEditMode="relative" rAng="0" ptsTypes="AA">
                                          <p:cBhvr>
                                            <p:cTn id="11" dur="1000" spd="-100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9492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2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4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5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6" dur="5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35" presetClass="path" presetSubtype="0" accel="50000" decel="5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-3.7037E-6 L -0.41185 -3.7037E-6 " pathEditMode="relative" rAng="0" ptsTypes="AA">
                                          <p:cBhvr>
                                            <p:cTn id="18" dur="1000" spd="-1000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20599" y="0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9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20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2" dur="25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3" dur="25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4" dur="25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5" presetID="6" presetClass="emph" presetSubtype="0" decel="100000" fill="hold" grpId="1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animScale>
                                          <p:cBhvr>
                                            <p:cTn id="26" dur="250" fill="hold"/>
                                            <p:tgtEl>
                                              <p:spTgt spid="28"/>
                                            </p:tgtEl>
                                          </p:cBhvr>
                                          <p:by x="120000" y="12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27" presetID="6" presetClass="emph" presetSubtype="0" decel="100000" fill="hold" grpId="2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animScale>
                                          <p:cBhvr>
                                            <p:cTn id="28" dur="250" fill="hold"/>
                                            <p:tgtEl>
                                              <p:spTgt spid="28"/>
                                            </p:tgtEl>
                                          </p:cBhvr>
                                          <p:by x="83000" y="83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9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30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2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3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4" dur="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5" presetID="35" presetClass="path" presetSubtype="0" accel="50000" decel="5000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1.875E-6 -3.7037E-6 L -0.30273 -3.7037E-6 " pathEditMode="relative" rAng="0" ptsTypes="AA">
                                          <p:cBhvr>
                                            <p:cTn id="36" dur="1000" spd="-1000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15143" y="0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7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38" presetID="2" presetClass="entr" presetSubtype="1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0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1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2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43" presetID="31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5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6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7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8" dur="5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9" fill="hold">
                                <p:stCondLst>
                                  <p:cond delay="2500"/>
                                </p:stCondLst>
                                <p:childTnLst>
                                  <p:par>
                                    <p:cTn id="50" presetID="22" presetClass="entr" presetSubtype="1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52" dur="5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3" fill="hold">
                                <p:stCondLst>
                                  <p:cond delay="3000"/>
                                </p:stCondLst>
                                <p:childTnLst>
                                  <p:par>
                                    <p:cTn id="54" presetID="2" presetClass="entr" presetSubtype="1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6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7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8" fill="hold">
                                <p:stCondLst>
                                  <p:cond delay="3500"/>
                                </p:stCondLst>
                                <p:childTnLst>
                                  <p:par>
                                    <p:cTn id="59" presetID="31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1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2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3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4" dur="5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5" fill="hold">
                                <p:stCondLst>
                                  <p:cond delay="4000"/>
                                </p:stCondLst>
                                <p:childTnLst>
                                  <p:par>
                                    <p:cTn id="66" presetID="22" presetClass="entr" presetSubtype="1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68" dur="5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9" fill="hold">
                                <p:stCondLst>
                                  <p:cond delay="4500"/>
                                </p:stCondLst>
                                <p:childTnLst>
                                  <p:par>
                                    <p:cTn id="70" presetID="31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2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3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4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75" dur="5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7" grpId="0"/>
          <p:bldP spid="27" grpId="1"/>
          <p:bldP spid="28" grpId="0" animBg="1"/>
          <p:bldP spid="28" grpId="1" animBg="1"/>
          <p:bldP spid="28" grpId="2" animBg="1"/>
          <p:bldP spid="6" grpId="0" animBg="1"/>
          <p:bldP spid="7" grpId="0"/>
          <p:bldP spid="9" grpId="0"/>
          <p:bldP spid="10" grpId="0" animBg="1"/>
          <p:bldP spid="11" grpId="0"/>
          <p:bldP spid="12" grpId="0"/>
          <p:bldP spid="2" grpId="0"/>
        </p:bldLst>
      </p:timing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8923" y="246423"/>
            <a:ext cx="4103077" cy="675011"/>
          </a:xfrm>
          <a:prstGeom prst="rect">
            <a:avLst/>
          </a:prstGeom>
        </p:spPr>
      </p:pic>
      <p:cxnSp>
        <p:nvCxnSpPr>
          <p:cNvPr id="26" name="直接连接符 25"/>
          <p:cNvCxnSpPr/>
          <p:nvPr/>
        </p:nvCxnSpPr>
        <p:spPr>
          <a:xfrm>
            <a:off x="0" y="921434"/>
            <a:ext cx="12192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/>
          <p:cNvSpPr/>
          <p:nvPr/>
        </p:nvSpPr>
        <p:spPr>
          <a:xfrm>
            <a:off x="1060286" y="353095"/>
            <a:ext cx="720465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accent1"/>
                </a:solidFill>
                <a:latin typeface="字体视界-NEW魏碑体" panose="02010601030101010101" pitchFamily="2" charset="-122"/>
                <a:ea typeface="字体视界-NEW魏碑体" panose="02010601030101010101" pitchFamily="2" charset="-122"/>
                <a:cs typeface="+mn-ea"/>
                <a:sym typeface="+mn-lt"/>
              </a:rPr>
              <a:t>第二部分：</a:t>
            </a:r>
            <a:r>
              <a:rPr lang="zh-CN" altLang="en-US" sz="2400" b="1" dirty="0">
                <a:solidFill>
                  <a:srgbClr val="C00000"/>
                </a:solidFill>
                <a:latin typeface="字体视界-NEW魏碑体" panose="02010601030101010101" pitchFamily="2" charset="-122"/>
                <a:ea typeface="字体视界-NEW魏碑体" panose="02010601030101010101" pitchFamily="2" charset="-122"/>
              </a:rPr>
              <a:t>理论分析与历史意义</a:t>
            </a:r>
            <a:endParaRPr lang="zh-CN" altLang="en-US" sz="2400" b="1" dirty="0">
              <a:solidFill>
                <a:srgbClr val="C00000"/>
              </a:solidFill>
              <a:latin typeface="字体视界-NEW魏碑体" panose="02010601030101010101" pitchFamily="2" charset="-122"/>
              <a:ea typeface="字体视界-NEW魏碑体" panose="02010601030101010101" pitchFamily="2" charset="-122"/>
            </a:endParaRPr>
          </a:p>
        </p:txBody>
      </p:sp>
      <p:sp>
        <p:nvSpPr>
          <p:cNvPr id="28" name="Freeform 29"/>
          <p:cNvSpPr/>
          <p:nvPr/>
        </p:nvSpPr>
        <p:spPr bwMode="auto">
          <a:xfrm>
            <a:off x="288468" y="125065"/>
            <a:ext cx="771819" cy="689695"/>
          </a:xfrm>
          <a:custGeom>
            <a:avLst/>
            <a:gdLst>
              <a:gd name="T0" fmla="*/ 803 w 1880"/>
              <a:gd name="T1" fmla="*/ 15 h 1680"/>
              <a:gd name="T2" fmla="*/ 1253 w 1880"/>
              <a:gd name="T3" fmla="*/ 1067 h 1680"/>
              <a:gd name="T4" fmla="*/ 728 w 1880"/>
              <a:gd name="T5" fmla="*/ 540 h 1680"/>
              <a:gd name="T6" fmla="*/ 928 w 1880"/>
              <a:gd name="T7" fmla="*/ 339 h 1680"/>
              <a:gd name="T8" fmla="*/ 803 w 1880"/>
              <a:gd name="T9" fmla="*/ 215 h 1680"/>
              <a:gd name="T10" fmla="*/ 549 w 1880"/>
              <a:gd name="T11" fmla="*/ 267 h 1680"/>
              <a:gd name="T12" fmla="*/ 150 w 1880"/>
              <a:gd name="T13" fmla="*/ 666 h 1680"/>
              <a:gd name="T14" fmla="*/ 376 w 1880"/>
              <a:gd name="T15" fmla="*/ 890 h 1680"/>
              <a:gd name="T16" fmla="*/ 527 w 1880"/>
              <a:gd name="T17" fmla="*/ 741 h 1680"/>
              <a:gd name="T18" fmla="*/ 1052 w 1880"/>
              <a:gd name="T19" fmla="*/ 1266 h 1680"/>
              <a:gd name="T20" fmla="*/ 176 w 1880"/>
              <a:gd name="T21" fmla="*/ 1090 h 1680"/>
              <a:gd name="T22" fmla="*/ 49 w 1880"/>
              <a:gd name="T23" fmla="*/ 1217 h 1680"/>
              <a:gd name="T24" fmla="*/ 159 w 1880"/>
              <a:gd name="T25" fmla="*/ 1357 h 1680"/>
              <a:gd name="T26" fmla="*/ 144 w 1880"/>
              <a:gd name="T27" fmla="*/ 1371 h 1680"/>
              <a:gd name="T28" fmla="*/ 122 w 1880"/>
              <a:gd name="T29" fmla="*/ 1367 h 1680"/>
              <a:gd name="T30" fmla="*/ 0 w 1880"/>
              <a:gd name="T31" fmla="*/ 1494 h 1680"/>
              <a:gd name="T32" fmla="*/ 123 w 1880"/>
              <a:gd name="T33" fmla="*/ 1616 h 1680"/>
              <a:gd name="T34" fmla="*/ 249 w 1880"/>
              <a:gd name="T35" fmla="*/ 1493 h 1680"/>
              <a:gd name="T36" fmla="*/ 245 w 1880"/>
              <a:gd name="T37" fmla="*/ 1470 h 1680"/>
              <a:gd name="T38" fmla="*/ 265 w 1880"/>
              <a:gd name="T39" fmla="*/ 1451 h 1680"/>
              <a:gd name="T40" fmla="*/ 1255 w 1880"/>
              <a:gd name="T41" fmla="*/ 1467 h 1680"/>
              <a:gd name="T42" fmla="*/ 1402 w 1880"/>
              <a:gd name="T43" fmla="*/ 1615 h 1680"/>
              <a:gd name="T44" fmla="*/ 1603 w 1880"/>
              <a:gd name="T45" fmla="*/ 1416 h 1680"/>
              <a:gd name="T46" fmla="*/ 1455 w 1880"/>
              <a:gd name="T47" fmla="*/ 1267 h 1680"/>
              <a:gd name="T48" fmla="*/ 803 w 1880"/>
              <a:gd name="T49" fmla="*/ 15 h 16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1880" h="1680">
                <a:moveTo>
                  <a:pt x="803" y="15"/>
                </a:moveTo>
                <a:cubicBezTo>
                  <a:pt x="1217" y="170"/>
                  <a:pt x="1468" y="665"/>
                  <a:pt x="1253" y="1067"/>
                </a:cubicBezTo>
                <a:cubicBezTo>
                  <a:pt x="728" y="540"/>
                  <a:pt x="728" y="540"/>
                  <a:pt x="728" y="540"/>
                </a:cubicBezTo>
                <a:cubicBezTo>
                  <a:pt x="928" y="339"/>
                  <a:pt x="928" y="339"/>
                  <a:pt x="928" y="339"/>
                </a:cubicBezTo>
                <a:cubicBezTo>
                  <a:pt x="803" y="215"/>
                  <a:pt x="803" y="215"/>
                  <a:pt x="803" y="215"/>
                </a:cubicBezTo>
                <a:cubicBezTo>
                  <a:pt x="733" y="282"/>
                  <a:pt x="623" y="297"/>
                  <a:pt x="549" y="267"/>
                </a:cubicBezTo>
                <a:cubicBezTo>
                  <a:pt x="150" y="666"/>
                  <a:pt x="150" y="666"/>
                  <a:pt x="150" y="666"/>
                </a:cubicBezTo>
                <a:cubicBezTo>
                  <a:pt x="376" y="890"/>
                  <a:pt x="376" y="890"/>
                  <a:pt x="376" y="890"/>
                </a:cubicBezTo>
                <a:cubicBezTo>
                  <a:pt x="527" y="741"/>
                  <a:pt x="527" y="741"/>
                  <a:pt x="527" y="741"/>
                </a:cubicBezTo>
                <a:cubicBezTo>
                  <a:pt x="1052" y="1266"/>
                  <a:pt x="1052" y="1266"/>
                  <a:pt x="1052" y="1266"/>
                </a:cubicBezTo>
                <a:cubicBezTo>
                  <a:pt x="795" y="1407"/>
                  <a:pt x="439" y="1363"/>
                  <a:pt x="176" y="1090"/>
                </a:cubicBezTo>
                <a:cubicBezTo>
                  <a:pt x="49" y="1217"/>
                  <a:pt x="49" y="1217"/>
                  <a:pt x="49" y="1217"/>
                </a:cubicBezTo>
                <a:cubicBezTo>
                  <a:pt x="87" y="1270"/>
                  <a:pt x="119" y="1317"/>
                  <a:pt x="159" y="1357"/>
                </a:cubicBezTo>
                <a:cubicBezTo>
                  <a:pt x="155" y="1362"/>
                  <a:pt x="144" y="1371"/>
                  <a:pt x="144" y="1371"/>
                </a:cubicBezTo>
                <a:cubicBezTo>
                  <a:pt x="137" y="1370"/>
                  <a:pt x="129" y="1367"/>
                  <a:pt x="122" y="1367"/>
                </a:cubicBezTo>
                <a:cubicBezTo>
                  <a:pt x="55" y="1367"/>
                  <a:pt x="0" y="1426"/>
                  <a:pt x="0" y="1494"/>
                </a:cubicBezTo>
                <a:cubicBezTo>
                  <a:pt x="0" y="1561"/>
                  <a:pt x="55" y="1616"/>
                  <a:pt x="123" y="1616"/>
                </a:cubicBezTo>
                <a:cubicBezTo>
                  <a:pt x="191" y="1616"/>
                  <a:pt x="249" y="1561"/>
                  <a:pt x="249" y="1493"/>
                </a:cubicBezTo>
                <a:cubicBezTo>
                  <a:pt x="249" y="1485"/>
                  <a:pt x="247" y="1478"/>
                  <a:pt x="245" y="1470"/>
                </a:cubicBezTo>
                <a:cubicBezTo>
                  <a:pt x="265" y="1451"/>
                  <a:pt x="265" y="1451"/>
                  <a:pt x="265" y="1451"/>
                </a:cubicBezTo>
                <a:cubicBezTo>
                  <a:pt x="567" y="1655"/>
                  <a:pt x="898" y="1680"/>
                  <a:pt x="1255" y="1467"/>
                </a:cubicBezTo>
                <a:cubicBezTo>
                  <a:pt x="1402" y="1615"/>
                  <a:pt x="1402" y="1615"/>
                  <a:pt x="1402" y="1615"/>
                </a:cubicBezTo>
                <a:cubicBezTo>
                  <a:pt x="1603" y="1416"/>
                  <a:pt x="1603" y="1416"/>
                  <a:pt x="1603" y="1416"/>
                </a:cubicBezTo>
                <a:cubicBezTo>
                  <a:pt x="1455" y="1267"/>
                  <a:pt x="1455" y="1267"/>
                  <a:pt x="1455" y="1267"/>
                </a:cubicBezTo>
                <a:cubicBezTo>
                  <a:pt x="1880" y="628"/>
                  <a:pt x="1313" y="0"/>
                  <a:pt x="803" y="1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Freeform 14"/>
          <p:cNvSpPr/>
          <p:nvPr/>
        </p:nvSpPr>
        <p:spPr bwMode="auto">
          <a:xfrm>
            <a:off x="1060286" y="2036657"/>
            <a:ext cx="1157988" cy="1157232"/>
          </a:xfrm>
          <a:custGeom>
            <a:avLst/>
            <a:gdLst>
              <a:gd name="T0" fmla="*/ 3227 w 3227"/>
              <a:gd name="T1" fmla="*/ 1634 h 3227"/>
              <a:gd name="T2" fmla="*/ 1614 w 3227"/>
              <a:gd name="T3" fmla="*/ 3227 h 3227"/>
              <a:gd name="T4" fmla="*/ 0 w 3227"/>
              <a:gd name="T5" fmla="*/ 1613 h 3227"/>
              <a:gd name="T6" fmla="*/ 1593 w 3227"/>
              <a:gd name="T7" fmla="*/ 0 h 3227"/>
              <a:gd name="T8" fmla="*/ 1593 w 3227"/>
              <a:gd name="T9" fmla="*/ 0 h 3227"/>
              <a:gd name="T10" fmla="*/ 1614 w 3227"/>
              <a:gd name="T11" fmla="*/ 0 h 3227"/>
              <a:gd name="T12" fmla="*/ 3227 w 3227"/>
              <a:gd name="T13" fmla="*/ 0 h 3227"/>
              <a:gd name="T14" fmla="*/ 3227 w 3227"/>
              <a:gd name="T15" fmla="*/ 1613 h 3227"/>
              <a:gd name="T16" fmla="*/ 3227 w 3227"/>
              <a:gd name="T17" fmla="*/ 1634 h 32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227" h="3227">
                <a:moveTo>
                  <a:pt x="3227" y="1634"/>
                </a:moveTo>
                <a:cubicBezTo>
                  <a:pt x="3216" y="2515"/>
                  <a:pt x="2498" y="3227"/>
                  <a:pt x="1614" y="3227"/>
                </a:cubicBezTo>
                <a:cubicBezTo>
                  <a:pt x="723" y="3227"/>
                  <a:pt x="0" y="2504"/>
                  <a:pt x="0" y="1613"/>
                </a:cubicBezTo>
                <a:cubicBezTo>
                  <a:pt x="0" y="729"/>
                  <a:pt x="712" y="11"/>
                  <a:pt x="1593" y="0"/>
                </a:cubicBezTo>
                <a:lnTo>
                  <a:pt x="1593" y="0"/>
                </a:lnTo>
                <a:lnTo>
                  <a:pt x="1614" y="0"/>
                </a:lnTo>
                <a:lnTo>
                  <a:pt x="3227" y="0"/>
                </a:lnTo>
                <a:lnTo>
                  <a:pt x="3227" y="1613"/>
                </a:lnTo>
                <a:lnTo>
                  <a:pt x="3227" y="1634"/>
                </a:lnTo>
                <a:close/>
              </a:path>
            </a:pathLst>
          </a:custGeom>
          <a:solidFill>
            <a:srgbClr val="C00000"/>
          </a:solidFill>
          <a:ln>
            <a:solidFill>
              <a:srgbClr val="C00000"/>
            </a:solidFill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bg2"/>
              </a:solidFill>
            </a:endParaRPr>
          </a:p>
        </p:txBody>
      </p:sp>
      <p:sp>
        <p:nvSpPr>
          <p:cNvPr id="7" name="TextBox 11"/>
          <p:cNvSpPr txBox="1"/>
          <p:nvPr/>
        </p:nvSpPr>
        <p:spPr>
          <a:xfrm>
            <a:off x="1408982" y="2132521"/>
            <a:ext cx="4972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800" b="1" dirty="0">
                <a:solidFill>
                  <a:schemeClr val="bg2"/>
                </a:solidFill>
                <a:latin typeface="+mj-ea"/>
                <a:ea typeface="+mj-ea"/>
              </a:rPr>
              <a:t>3</a:t>
            </a:r>
            <a:endParaRPr lang="zh-CN" altLang="en-US" sz="4800" b="1" dirty="0">
              <a:solidFill>
                <a:schemeClr val="bg2"/>
              </a:solidFill>
              <a:latin typeface="+mj-ea"/>
              <a:ea typeface="+mj-ea"/>
            </a:endParaRPr>
          </a:p>
        </p:txBody>
      </p:sp>
      <p:sp>
        <p:nvSpPr>
          <p:cNvPr id="8" name="TextBox 12"/>
          <p:cNvSpPr txBox="1"/>
          <p:nvPr/>
        </p:nvSpPr>
        <p:spPr>
          <a:xfrm>
            <a:off x="2389854" y="1928110"/>
            <a:ext cx="71300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C00000"/>
                </a:solidFill>
                <a:latin typeface="字体视界-NEW魏碑体" panose="02010601030101010101" pitchFamily="2" charset="-122"/>
                <a:ea typeface="字体视界-NEW魏碑体" panose="02010601030101010101" pitchFamily="2" charset="-122"/>
              </a:rPr>
              <a:t>彰显人民至上，划清与官僚主义界限</a:t>
            </a:r>
            <a:endParaRPr lang="en-US" altLang="zh-CN" sz="2400" b="1" dirty="0">
              <a:solidFill>
                <a:srgbClr val="C00000"/>
              </a:solidFill>
              <a:latin typeface="+mn-ea"/>
            </a:endParaRPr>
          </a:p>
        </p:txBody>
      </p:sp>
      <p:sp>
        <p:nvSpPr>
          <p:cNvPr id="9" name="TextBox 13"/>
          <p:cNvSpPr txBox="1"/>
          <p:nvPr/>
        </p:nvSpPr>
        <p:spPr>
          <a:xfrm>
            <a:off x="2389854" y="2305975"/>
            <a:ext cx="8576597" cy="8476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lnSpc>
                <a:spcPts val="3100"/>
              </a:lnSpc>
              <a:defRPr/>
            </a:pP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面对指责，党始终以群众利益为先，服务群众。让群众直观感受到党是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"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服务者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"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而非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"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统治者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"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，深化了党群血肉联系。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" name="Freeform 14"/>
          <p:cNvSpPr/>
          <p:nvPr/>
        </p:nvSpPr>
        <p:spPr bwMode="auto">
          <a:xfrm>
            <a:off x="1060286" y="4081238"/>
            <a:ext cx="1157988" cy="1157232"/>
          </a:xfrm>
          <a:custGeom>
            <a:avLst/>
            <a:gdLst>
              <a:gd name="T0" fmla="*/ 3227 w 3227"/>
              <a:gd name="T1" fmla="*/ 1634 h 3227"/>
              <a:gd name="T2" fmla="*/ 1614 w 3227"/>
              <a:gd name="T3" fmla="*/ 3227 h 3227"/>
              <a:gd name="T4" fmla="*/ 0 w 3227"/>
              <a:gd name="T5" fmla="*/ 1613 h 3227"/>
              <a:gd name="T6" fmla="*/ 1593 w 3227"/>
              <a:gd name="T7" fmla="*/ 0 h 3227"/>
              <a:gd name="T8" fmla="*/ 1593 w 3227"/>
              <a:gd name="T9" fmla="*/ 0 h 3227"/>
              <a:gd name="T10" fmla="*/ 1614 w 3227"/>
              <a:gd name="T11" fmla="*/ 0 h 3227"/>
              <a:gd name="T12" fmla="*/ 3227 w 3227"/>
              <a:gd name="T13" fmla="*/ 0 h 3227"/>
              <a:gd name="T14" fmla="*/ 3227 w 3227"/>
              <a:gd name="T15" fmla="*/ 1613 h 3227"/>
              <a:gd name="T16" fmla="*/ 3227 w 3227"/>
              <a:gd name="T17" fmla="*/ 1634 h 32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227" h="3227">
                <a:moveTo>
                  <a:pt x="3227" y="1634"/>
                </a:moveTo>
                <a:cubicBezTo>
                  <a:pt x="3216" y="2515"/>
                  <a:pt x="2498" y="3227"/>
                  <a:pt x="1614" y="3227"/>
                </a:cubicBezTo>
                <a:cubicBezTo>
                  <a:pt x="723" y="3227"/>
                  <a:pt x="0" y="2504"/>
                  <a:pt x="0" y="1613"/>
                </a:cubicBezTo>
                <a:cubicBezTo>
                  <a:pt x="0" y="729"/>
                  <a:pt x="712" y="11"/>
                  <a:pt x="1593" y="0"/>
                </a:cubicBezTo>
                <a:lnTo>
                  <a:pt x="1593" y="0"/>
                </a:lnTo>
                <a:lnTo>
                  <a:pt x="1614" y="0"/>
                </a:lnTo>
                <a:lnTo>
                  <a:pt x="3227" y="0"/>
                </a:lnTo>
                <a:lnTo>
                  <a:pt x="3227" y="1613"/>
                </a:lnTo>
                <a:lnTo>
                  <a:pt x="3227" y="1634"/>
                </a:lnTo>
                <a:close/>
              </a:path>
            </a:pathLst>
          </a:custGeom>
          <a:solidFill>
            <a:srgbClr val="C00000"/>
          </a:solidFill>
          <a:ln>
            <a:solidFill>
              <a:srgbClr val="C00000"/>
            </a:solidFill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bg2"/>
              </a:solidFill>
            </a:endParaRPr>
          </a:p>
        </p:txBody>
      </p:sp>
      <p:sp>
        <p:nvSpPr>
          <p:cNvPr id="11" name="TextBox 15"/>
          <p:cNvSpPr txBox="1"/>
          <p:nvPr/>
        </p:nvSpPr>
        <p:spPr>
          <a:xfrm>
            <a:off x="1372325" y="4244355"/>
            <a:ext cx="5339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b="1" dirty="0">
                <a:solidFill>
                  <a:schemeClr val="bg2"/>
                </a:solidFill>
                <a:latin typeface="+mj-ea"/>
                <a:ea typeface="+mj-ea"/>
              </a:rPr>
              <a:t>4</a:t>
            </a:r>
            <a:endParaRPr lang="zh-CN" altLang="en-US" sz="4800" b="1" dirty="0">
              <a:solidFill>
                <a:schemeClr val="bg2"/>
              </a:solidFill>
              <a:latin typeface="+mj-ea"/>
              <a:ea typeface="+mj-ea"/>
            </a:endParaRPr>
          </a:p>
        </p:txBody>
      </p:sp>
      <p:sp>
        <p:nvSpPr>
          <p:cNvPr id="12" name="TextBox 17"/>
          <p:cNvSpPr txBox="1"/>
          <p:nvPr/>
        </p:nvSpPr>
        <p:spPr>
          <a:xfrm>
            <a:off x="2340022" y="3856787"/>
            <a:ext cx="8626428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 algn="just">
              <a:lnSpc>
                <a:spcPct val="150000"/>
              </a:lnSpc>
            </a:pPr>
            <a:r>
              <a:rPr lang="zh-CN" altLang="en-US" sz="2400" b="1" dirty="0">
                <a:solidFill>
                  <a:srgbClr val="C00000"/>
                </a:solidFill>
                <a:latin typeface="字体视界-NEW魏碑体" panose="02010601030101010101" pitchFamily="2" charset="-122"/>
                <a:ea typeface="字体视界-NEW魏碑体" panose="02010601030101010101" pitchFamily="2" charset="-122"/>
              </a:rPr>
              <a:t>​提供实践样本，深化执政规律认知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algn="just">
              <a:lnSpc>
                <a:spcPct val="150000"/>
              </a:lnSpc>
            </a:pP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实践是马克思主义群众观中国化的成功探索，证明只有将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"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维护群众利益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"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作为最高标准，才能获得稳固执政基础，为党的群众路线和治国理政提供重要经验。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>
        <p15:prstTrans prst="fallOver"/>
      </p:transition>
    </mc:Choice>
    <mc:Fallback>
      <p:transition spd="slow">
        <p:fade/>
      </p:transition>
    </mc:Fallback>
  </mc:AlternateContent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53" presetClass="entr" presetSubtype="16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" dur="5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" presetID="35" presetClass="path" presetSubtype="0" accel="50000" decel="5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6.25E-7 -3.7037E-6 L 0.18997 -3.7037E-6 " pathEditMode="relative" rAng="0" ptsTypes="AA">
                                          <p:cBhvr>
                                            <p:cTn id="11" dur="1000" spd="-100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9492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2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4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5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6" dur="5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35" presetClass="path" presetSubtype="0" accel="50000" decel="5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-3.7037E-6 L -0.41185 -3.7037E-6 " pathEditMode="relative" rAng="0" ptsTypes="AA">
                                          <p:cBhvr>
                                            <p:cTn id="18" dur="1000" spd="-1000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20599" y="0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9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20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2" dur="25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3" dur="25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4" dur="25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5" presetID="6" presetClass="emph" presetSubtype="0" decel="100000" fill="hold" grpId="1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animScale>
                                          <p:cBhvr>
                                            <p:cTn id="26" dur="250" fill="hold"/>
                                            <p:tgtEl>
                                              <p:spTgt spid="28"/>
                                            </p:tgtEl>
                                          </p:cBhvr>
                                          <p:by x="120000" y="12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27" presetID="6" presetClass="emph" presetSubtype="0" decel="100000" fill="hold" grpId="2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animScale>
                                          <p:cBhvr>
                                            <p:cTn id="28" dur="250" fill="hold"/>
                                            <p:tgtEl>
                                              <p:spTgt spid="28"/>
                                            </p:tgtEl>
                                          </p:cBhvr>
                                          <p:by x="83000" y="83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9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30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2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3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4" dur="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5" presetID="35" presetClass="path" presetSubtype="0" accel="50000" decel="5000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1.875E-6 -3.7037E-6 L -0.30273 -3.7037E-6 " pathEditMode="relative" rAng="0" ptsTypes="AA">
                                          <p:cBhvr>
                                            <p:cTn id="36" dur="1000" spd="-1000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15143" y="0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7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38" presetID="2" presetClass="entr" presetSubtype="12" fill="hold" grpId="0" nodeType="afterEffect" p14:presetBounceEnd="2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20000">
                                          <p:cBhvr additive="base">
                                            <p:cTn id="40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20000">
                                          <p:cBhvr additive="base">
                                            <p:cTn id="41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2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43" presetID="31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5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6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7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8" dur="5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9" fill="hold">
                                <p:stCondLst>
                                  <p:cond delay="2500"/>
                                </p:stCondLst>
                                <p:childTnLst>
                                  <p:par>
                                    <p:cTn id="50" presetID="31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2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3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4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55" dur="5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6" fill="hold">
                                <p:stCondLst>
                                  <p:cond delay="3000"/>
                                </p:stCondLst>
                                <p:childTnLst>
                                  <p:par>
                                    <p:cTn id="57" presetID="22" presetClass="entr" presetSubtype="1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59" dur="5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0" fill="hold">
                                <p:stCondLst>
                                  <p:cond delay="3500"/>
                                </p:stCondLst>
                                <p:childTnLst>
                                  <p:par>
                                    <p:cTn id="61" presetID="2" presetClass="entr" presetSubtype="12" fill="hold" grpId="0" nodeType="afterEffect" p14:presetBounceEnd="2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20000">
                                          <p:cBhvr additive="base">
                                            <p:cTn id="63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20000">
                                          <p:cBhvr additive="base">
                                            <p:cTn id="64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5" fill="hold">
                                <p:stCondLst>
                                  <p:cond delay="4000"/>
                                </p:stCondLst>
                                <p:childTnLst>
                                  <p:par>
                                    <p:cTn id="66" presetID="31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8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9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0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71" dur="5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2" fill="hold">
                                <p:stCondLst>
                                  <p:cond delay="4500"/>
                                </p:stCondLst>
                                <p:childTnLst>
                                  <p:par>
                                    <p:cTn id="73" presetID="22" presetClass="entr" presetSubtype="1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75" dur="5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7" grpId="0"/>
          <p:bldP spid="27" grpId="1"/>
          <p:bldP spid="28" grpId="0" animBg="1"/>
          <p:bldP spid="28" grpId="1" animBg="1"/>
          <p:bldP spid="28" grpId="2" animBg="1"/>
          <p:bldP spid="6" grpId="0" animBg="1"/>
          <p:bldP spid="7" grpId="0"/>
          <p:bldP spid="8" grpId="0"/>
          <p:bldP spid="9" grpId="0"/>
          <p:bldP spid="10" grpId="0" animBg="1"/>
          <p:bldP spid="11" grpId="0"/>
          <p:bldP spid="12" grpId="0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53" presetClass="entr" presetSubtype="16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" dur="5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" presetID="35" presetClass="path" presetSubtype="0" accel="50000" decel="5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6.25E-7 -3.7037E-6 L 0.18997 -3.7037E-6 " pathEditMode="relative" rAng="0" ptsTypes="AA">
                                          <p:cBhvr>
                                            <p:cTn id="11" dur="1000" spd="-100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9492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2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4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5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6" dur="5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35" presetClass="path" presetSubtype="0" accel="50000" decel="5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-3.7037E-6 L -0.41185 -3.7037E-6 " pathEditMode="relative" rAng="0" ptsTypes="AA">
                                          <p:cBhvr>
                                            <p:cTn id="18" dur="1000" spd="-1000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20599" y="0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9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20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2" dur="25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3" dur="25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4" dur="25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5" presetID="6" presetClass="emph" presetSubtype="0" decel="100000" fill="hold" grpId="1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animScale>
                                          <p:cBhvr>
                                            <p:cTn id="26" dur="250" fill="hold"/>
                                            <p:tgtEl>
                                              <p:spTgt spid="28"/>
                                            </p:tgtEl>
                                          </p:cBhvr>
                                          <p:by x="120000" y="12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27" presetID="6" presetClass="emph" presetSubtype="0" decel="100000" fill="hold" grpId="2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animScale>
                                          <p:cBhvr>
                                            <p:cTn id="28" dur="250" fill="hold"/>
                                            <p:tgtEl>
                                              <p:spTgt spid="28"/>
                                            </p:tgtEl>
                                          </p:cBhvr>
                                          <p:by x="83000" y="83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9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30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2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3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4" dur="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5" presetID="35" presetClass="path" presetSubtype="0" accel="50000" decel="5000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1.875E-6 -3.7037E-6 L -0.30273 -3.7037E-6 " pathEditMode="relative" rAng="0" ptsTypes="AA">
                                          <p:cBhvr>
                                            <p:cTn id="36" dur="1000" spd="-1000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15143" y="0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7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38" presetID="2" presetClass="entr" presetSubtype="1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0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1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2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43" presetID="31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5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6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7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8" dur="5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9" fill="hold">
                                <p:stCondLst>
                                  <p:cond delay="2500"/>
                                </p:stCondLst>
                                <p:childTnLst>
                                  <p:par>
                                    <p:cTn id="50" presetID="31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2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3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4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55" dur="5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6" fill="hold">
                                <p:stCondLst>
                                  <p:cond delay="3000"/>
                                </p:stCondLst>
                                <p:childTnLst>
                                  <p:par>
                                    <p:cTn id="57" presetID="22" presetClass="entr" presetSubtype="1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59" dur="5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0" fill="hold">
                                <p:stCondLst>
                                  <p:cond delay="3500"/>
                                </p:stCondLst>
                                <p:childTnLst>
                                  <p:par>
                                    <p:cTn id="61" presetID="2" presetClass="entr" presetSubtype="1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3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4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5" fill="hold">
                                <p:stCondLst>
                                  <p:cond delay="4000"/>
                                </p:stCondLst>
                                <p:childTnLst>
                                  <p:par>
                                    <p:cTn id="66" presetID="31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8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9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0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71" dur="5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2" fill="hold">
                                <p:stCondLst>
                                  <p:cond delay="4500"/>
                                </p:stCondLst>
                                <p:childTnLst>
                                  <p:par>
                                    <p:cTn id="73" presetID="22" presetClass="entr" presetSubtype="1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75" dur="5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7" grpId="0"/>
          <p:bldP spid="27" grpId="1"/>
          <p:bldP spid="28" grpId="0" animBg="1"/>
          <p:bldP spid="28" grpId="1" animBg="1"/>
          <p:bldP spid="28" grpId="2" animBg="1"/>
          <p:bldP spid="6" grpId="0" animBg="1"/>
          <p:bldP spid="7" grpId="0"/>
          <p:bldP spid="8" grpId="0"/>
          <p:bldP spid="9" grpId="0"/>
          <p:bldP spid="10" grpId="0" animBg="1"/>
          <p:bldP spid="11" grpId="0"/>
          <p:bldP spid="12" grpId="0"/>
        </p:bldLst>
      </p:timing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2578" y="5737759"/>
            <a:ext cx="6809422" cy="1120241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049960"/>
            <a:ext cx="4460240" cy="2788989"/>
          </a:xfrm>
          <a:prstGeom prst="rect">
            <a:avLst/>
          </a:prstGeom>
        </p:spPr>
      </p:pic>
      <p:pic>
        <p:nvPicPr>
          <p:cNvPr id="74" name="图片 7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902340" flipH="1">
            <a:off x="686735" y="622930"/>
            <a:ext cx="3143832" cy="1309931"/>
          </a:xfrm>
          <a:prstGeom prst="rect">
            <a:avLst/>
          </a:prstGeom>
        </p:spPr>
      </p:pic>
      <p:sp>
        <p:nvSpPr>
          <p:cNvPr id="75" name="文本框 74"/>
          <p:cNvSpPr txBox="1"/>
          <p:nvPr/>
        </p:nvSpPr>
        <p:spPr>
          <a:xfrm>
            <a:off x="4460240" y="2467132"/>
            <a:ext cx="321754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000" b="1" dirty="0">
                <a:solidFill>
                  <a:srgbClr val="C00000"/>
                </a:solidFill>
                <a:latin typeface="字体视界-NEW魏碑体" panose="02010601030101010101" pitchFamily="2" charset="-122"/>
                <a:ea typeface="字体视界-NEW魏碑体" panose="02010601030101010101" pitchFamily="2" charset="-122"/>
                <a:cs typeface="+mn-ea"/>
                <a:sym typeface="+mn-lt"/>
              </a:rPr>
              <a:t>第三部分</a:t>
            </a:r>
            <a:endParaRPr lang="zh-CN" altLang="en-US" sz="6000" b="1" dirty="0">
              <a:solidFill>
                <a:srgbClr val="C00000"/>
              </a:solidFill>
              <a:latin typeface="字体视界-NEW魏碑体" panose="02010601030101010101" pitchFamily="2" charset="-122"/>
              <a:ea typeface="字体视界-NEW魏碑体" panose="02010601030101010101" pitchFamily="2" charset="-122"/>
              <a:cs typeface="+mn-ea"/>
              <a:sym typeface="+mn-lt"/>
            </a:endParaRPr>
          </a:p>
        </p:txBody>
      </p:sp>
      <p:sp>
        <p:nvSpPr>
          <p:cNvPr id="77" name="Freeform 29"/>
          <p:cNvSpPr/>
          <p:nvPr/>
        </p:nvSpPr>
        <p:spPr bwMode="auto">
          <a:xfrm>
            <a:off x="5221018" y="590692"/>
            <a:ext cx="1749965" cy="1563763"/>
          </a:xfrm>
          <a:custGeom>
            <a:avLst/>
            <a:gdLst>
              <a:gd name="T0" fmla="*/ 803 w 1880"/>
              <a:gd name="T1" fmla="*/ 15 h 1680"/>
              <a:gd name="T2" fmla="*/ 1253 w 1880"/>
              <a:gd name="T3" fmla="*/ 1067 h 1680"/>
              <a:gd name="T4" fmla="*/ 728 w 1880"/>
              <a:gd name="T5" fmla="*/ 540 h 1680"/>
              <a:gd name="T6" fmla="*/ 928 w 1880"/>
              <a:gd name="T7" fmla="*/ 339 h 1680"/>
              <a:gd name="T8" fmla="*/ 803 w 1880"/>
              <a:gd name="T9" fmla="*/ 215 h 1680"/>
              <a:gd name="T10" fmla="*/ 549 w 1880"/>
              <a:gd name="T11" fmla="*/ 267 h 1680"/>
              <a:gd name="T12" fmla="*/ 150 w 1880"/>
              <a:gd name="T13" fmla="*/ 666 h 1680"/>
              <a:gd name="T14" fmla="*/ 376 w 1880"/>
              <a:gd name="T15" fmla="*/ 890 h 1680"/>
              <a:gd name="T16" fmla="*/ 527 w 1880"/>
              <a:gd name="T17" fmla="*/ 741 h 1680"/>
              <a:gd name="T18" fmla="*/ 1052 w 1880"/>
              <a:gd name="T19" fmla="*/ 1266 h 1680"/>
              <a:gd name="T20" fmla="*/ 176 w 1880"/>
              <a:gd name="T21" fmla="*/ 1090 h 1680"/>
              <a:gd name="T22" fmla="*/ 49 w 1880"/>
              <a:gd name="T23" fmla="*/ 1217 h 1680"/>
              <a:gd name="T24" fmla="*/ 159 w 1880"/>
              <a:gd name="T25" fmla="*/ 1357 h 1680"/>
              <a:gd name="T26" fmla="*/ 144 w 1880"/>
              <a:gd name="T27" fmla="*/ 1371 h 1680"/>
              <a:gd name="T28" fmla="*/ 122 w 1880"/>
              <a:gd name="T29" fmla="*/ 1367 h 1680"/>
              <a:gd name="T30" fmla="*/ 0 w 1880"/>
              <a:gd name="T31" fmla="*/ 1494 h 1680"/>
              <a:gd name="T32" fmla="*/ 123 w 1880"/>
              <a:gd name="T33" fmla="*/ 1616 h 1680"/>
              <a:gd name="T34" fmla="*/ 249 w 1880"/>
              <a:gd name="T35" fmla="*/ 1493 h 1680"/>
              <a:gd name="T36" fmla="*/ 245 w 1880"/>
              <a:gd name="T37" fmla="*/ 1470 h 1680"/>
              <a:gd name="T38" fmla="*/ 265 w 1880"/>
              <a:gd name="T39" fmla="*/ 1451 h 1680"/>
              <a:gd name="T40" fmla="*/ 1255 w 1880"/>
              <a:gd name="T41" fmla="*/ 1467 h 1680"/>
              <a:gd name="T42" fmla="*/ 1402 w 1880"/>
              <a:gd name="T43" fmla="*/ 1615 h 1680"/>
              <a:gd name="T44" fmla="*/ 1603 w 1880"/>
              <a:gd name="T45" fmla="*/ 1416 h 1680"/>
              <a:gd name="T46" fmla="*/ 1455 w 1880"/>
              <a:gd name="T47" fmla="*/ 1267 h 1680"/>
              <a:gd name="T48" fmla="*/ 803 w 1880"/>
              <a:gd name="T49" fmla="*/ 15 h 16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1880" h="1680">
                <a:moveTo>
                  <a:pt x="803" y="15"/>
                </a:moveTo>
                <a:cubicBezTo>
                  <a:pt x="1217" y="170"/>
                  <a:pt x="1468" y="665"/>
                  <a:pt x="1253" y="1067"/>
                </a:cubicBezTo>
                <a:cubicBezTo>
                  <a:pt x="728" y="540"/>
                  <a:pt x="728" y="540"/>
                  <a:pt x="728" y="540"/>
                </a:cubicBezTo>
                <a:cubicBezTo>
                  <a:pt x="928" y="339"/>
                  <a:pt x="928" y="339"/>
                  <a:pt x="928" y="339"/>
                </a:cubicBezTo>
                <a:cubicBezTo>
                  <a:pt x="803" y="215"/>
                  <a:pt x="803" y="215"/>
                  <a:pt x="803" y="215"/>
                </a:cubicBezTo>
                <a:cubicBezTo>
                  <a:pt x="733" y="282"/>
                  <a:pt x="623" y="297"/>
                  <a:pt x="549" y="267"/>
                </a:cubicBezTo>
                <a:cubicBezTo>
                  <a:pt x="150" y="666"/>
                  <a:pt x="150" y="666"/>
                  <a:pt x="150" y="666"/>
                </a:cubicBezTo>
                <a:cubicBezTo>
                  <a:pt x="376" y="890"/>
                  <a:pt x="376" y="890"/>
                  <a:pt x="376" y="890"/>
                </a:cubicBezTo>
                <a:cubicBezTo>
                  <a:pt x="527" y="741"/>
                  <a:pt x="527" y="741"/>
                  <a:pt x="527" y="741"/>
                </a:cubicBezTo>
                <a:cubicBezTo>
                  <a:pt x="1052" y="1266"/>
                  <a:pt x="1052" y="1266"/>
                  <a:pt x="1052" y="1266"/>
                </a:cubicBezTo>
                <a:cubicBezTo>
                  <a:pt x="795" y="1407"/>
                  <a:pt x="439" y="1363"/>
                  <a:pt x="176" y="1090"/>
                </a:cubicBezTo>
                <a:cubicBezTo>
                  <a:pt x="49" y="1217"/>
                  <a:pt x="49" y="1217"/>
                  <a:pt x="49" y="1217"/>
                </a:cubicBezTo>
                <a:cubicBezTo>
                  <a:pt x="87" y="1270"/>
                  <a:pt x="119" y="1317"/>
                  <a:pt x="159" y="1357"/>
                </a:cubicBezTo>
                <a:cubicBezTo>
                  <a:pt x="155" y="1362"/>
                  <a:pt x="144" y="1371"/>
                  <a:pt x="144" y="1371"/>
                </a:cubicBezTo>
                <a:cubicBezTo>
                  <a:pt x="137" y="1370"/>
                  <a:pt x="129" y="1367"/>
                  <a:pt x="122" y="1367"/>
                </a:cubicBezTo>
                <a:cubicBezTo>
                  <a:pt x="55" y="1367"/>
                  <a:pt x="0" y="1426"/>
                  <a:pt x="0" y="1494"/>
                </a:cubicBezTo>
                <a:cubicBezTo>
                  <a:pt x="0" y="1561"/>
                  <a:pt x="55" y="1616"/>
                  <a:pt x="123" y="1616"/>
                </a:cubicBezTo>
                <a:cubicBezTo>
                  <a:pt x="191" y="1616"/>
                  <a:pt x="249" y="1561"/>
                  <a:pt x="249" y="1493"/>
                </a:cubicBezTo>
                <a:cubicBezTo>
                  <a:pt x="249" y="1485"/>
                  <a:pt x="247" y="1478"/>
                  <a:pt x="245" y="1470"/>
                </a:cubicBezTo>
                <a:cubicBezTo>
                  <a:pt x="265" y="1451"/>
                  <a:pt x="265" y="1451"/>
                  <a:pt x="265" y="1451"/>
                </a:cubicBezTo>
                <a:cubicBezTo>
                  <a:pt x="567" y="1655"/>
                  <a:pt x="898" y="1680"/>
                  <a:pt x="1255" y="1467"/>
                </a:cubicBezTo>
                <a:cubicBezTo>
                  <a:pt x="1402" y="1615"/>
                  <a:pt x="1402" y="1615"/>
                  <a:pt x="1402" y="1615"/>
                </a:cubicBezTo>
                <a:cubicBezTo>
                  <a:pt x="1603" y="1416"/>
                  <a:pt x="1603" y="1416"/>
                  <a:pt x="1603" y="1416"/>
                </a:cubicBezTo>
                <a:cubicBezTo>
                  <a:pt x="1455" y="1267"/>
                  <a:pt x="1455" y="1267"/>
                  <a:pt x="1455" y="1267"/>
                </a:cubicBezTo>
                <a:cubicBezTo>
                  <a:pt x="1880" y="628"/>
                  <a:pt x="1313" y="0"/>
                  <a:pt x="803" y="15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rgbClr val="C00000"/>
              </a:solidFill>
              <a:latin typeface="字体视界-NEW魏碑体" panose="02010601030101010101" pitchFamily="2" charset="-122"/>
              <a:ea typeface="字体视界-NEW魏碑体" panose="02010601030101010101" pitchFamily="2" charset="-122"/>
              <a:cs typeface="+mn-ea"/>
              <a:sym typeface="+mn-lt"/>
            </a:endParaRPr>
          </a:p>
        </p:txBody>
      </p:sp>
      <p:sp>
        <p:nvSpPr>
          <p:cNvPr id="78" name="文本框 77"/>
          <p:cNvSpPr txBox="1"/>
          <p:nvPr/>
        </p:nvSpPr>
        <p:spPr>
          <a:xfrm>
            <a:off x="3238223" y="3393756"/>
            <a:ext cx="572464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800" b="1" dirty="0">
                <a:solidFill>
                  <a:srgbClr val="C00000"/>
                </a:solidFill>
                <a:latin typeface="字体视界-NEW魏碑体" panose="02010601030101010101" pitchFamily="2" charset="-122"/>
                <a:ea typeface="字体视界-NEW魏碑体" panose="02010601030101010101" pitchFamily="2" charset="-122"/>
              </a:rPr>
              <a:t>当代启示与青年责任</a:t>
            </a:r>
            <a:endParaRPr lang="zh-CN" altLang="en-US" sz="4800" b="1" dirty="0">
              <a:solidFill>
                <a:srgbClr val="C00000"/>
              </a:solidFill>
              <a:latin typeface="字体视界-NEW魏碑体" panose="02010601030101010101" pitchFamily="2" charset="-122"/>
              <a:ea typeface="字体视界-NEW魏碑体" panose="02010601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54167E-6 -2.59259E-6 L 0.31575 -2.59259E-6 " pathEditMode="relative" rAng="0" ptsTypes="AA">
                                      <p:cBhvr>
                                        <p:cTn id="21" dur="2000" spd="-100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781" y="0"/>
                                    </p:animMotion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25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25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25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6" presetClass="emph" presetSubtype="0" decel="100000" fill="hold" grpId="1" nodeType="withEffect">
                                  <p:stCondLst>
                                    <p:cond delay="600"/>
                                  </p:stCondLst>
                                  <p:childTnLst>
                                    <p:animScale>
                                      <p:cBhvr>
                                        <p:cTn id="28" dur="250" fill="hold"/>
                                        <p:tgtEl>
                                          <p:spTgt spid="75"/>
                                        </p:tgtEl>
                                      </p:cBhvr>
                                      <p:by x="120000" y="120000"/>
                                    </p:animScale>
                                  </p:childTnLst>
                                </p:cTn>
                              </p:par>
                              <p:par>
                                <p:cTn id="29" presetID="6" presetClass="emph" presetSubtype="0" decel="100000" fill="hold" grpId="2" nodeType="withEffect">
                                  <p:stCondLst>
                                    <p:cond delay="800"/>
                                  </p:stCondLst>
                                  <p:childTnLst>
                                    <p:animScale>
                                      <p:cBhvr>
                                        <p:cTn id="30" dur="250" fill="hold"/>
                                        <p:tgtEl>
                                          <p:spTgt spid="75"/>
                                        </p:tgtEl>
                                      </p:cBhvr>
                                      <p:by x="83000" y="83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0"/>
                            </p:stCondLst>
                            <p:childTnLst>
                              <p:par>
                                <p:cTn id="32" presetID="23" presetClass="entr" presetSubtype="3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25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25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25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6" presetClass="emph" presetSubtype="0" decel="100000" fill="hold" grpId="1" nodeType="withEffect">
                                  <p:stCondLst>
                                    <p:cond delay="600"/>
                                  </p:stCondLst>
                                  <p:childTnLst>
                                    <p:animScale>
                                      <p:cBhvr>
                                        <p:cTn id="44" dur="250" fill="hold"/>
                                        <p:tgtEl>
                                          <p:spTgt spid="78"/>
                                        </p:tgtEl>
                                      </p:cBhvr>
                                      <p:by x="120000" y="120000"/>
                                    </p:animScale>
                                  </p:childTnLst>
                                </p:cTn>
                              </p:par>
                              <p:par>
                                <p:cTn id="45" presetID="6" presetClass="emph" presetSubtype="0" decel="100000" fill="hold" grpId="2" nodeType="withEffect">
                                  <p:stCondLst>
                                    <p:cond delay="800"/>
                                  </p:stCondLst>
                                  <p:childTnLst>
                                    <p:animScale>
                                      <p:cBhvr>
                                        <p:cTn id="46" dur="250" fill="hold"/>
                                        <p:tgtEl>
                                          <p:spTgt spid="78"/>
                                        </p:tgtEl>
                                      </p:cBhvr>
                                      <p:by x="83000" y="83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" grpId="0"/>
      <p:bldP spid="75" grpId="1"/>
      <p:bldP spid="75" grpId="2"/>
      <p:bldP spid="77" grpId="0" animBg="1"/>
      <p:bldP spid="78" grpId="0"/>
      <p:bldP spid="78" grpId="1"/>
      <p:bldP spid="78" grpId="2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8923" y="246423"/>
            <a:ext cx="4103077" cy="675011"/>
          </a:xfrm>
          <a:prstGeom prst="rect">
            <a:avLst/>
          </a:prstGeom>
        </p:spPr>
      </p:pic>
      <p:cxnSp>
        <p:nvCxnSpPr>
          <p:cNvPr id="26" name="直接连接符 25"/>
          <p:cNvCxnSpPr/>
          <p:nvPr/>
        </p:nvCxnSpPr>
        <p:spPr>
          <a:xfrm>
            <a:off x="0" y="921434"/>
            <a:ext cx="12192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/>
          <p:cNvSpPr/>
          <p:nvPr/>
        </p:nvSpPr>
        <p:spPr>
          <a:xfrm>
            <a:off x="1060287" y="353095"/>
            <a:ext cx="52621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accent1"/>
                </a:solidFill>
                <a:latin typeface="字体视界-NEW魏碑体" panose="02010601030101010101" pitchFamily="2" charset="-122"/>
                <a:ea typeface="字体视界-NEW魏碑体" panose="02010601030101010101" pitchFamily="2" charset="-122"/>
                <a:cs typeface="+mn-ea"/>
                <a:sym typeface="+mn-lt"/>
              </a:rPr>
              <a:t>第三部分：</a:t>
            </a:r>
            <a:r>
              <a:rPr lang="zh-CN" altLang="en-US" sz="2400" b="1" dirty="0">
                <a:solidFill>
                  <a:srgbClr val="C00000"/>
                </a:solidFill>
                <a:latin typeface="字体视界-NEW魏碑体" panose="02010601030101010101" pitchFamily="2" charset="-122"/>
                <a:ea typeface="字体视界-NEW魏碑体" panose="02010601030101010101" pitchFamily="2" charset="-122"/>
              </a:rPr>
              <a:t>当代启示与青年责任</a:t>
            </a:r>
            <a:endParaRPr lang="zh-CN" altLang="en-US" sz="2400" b="1" dirty="0">
              <a:solidFill>
                <a:srgbClr val="C00000"/>
              </a:solidFill>
              <a:latin typeface="字体视界-NEW魏碑体" panose="02010601030101010101" pitchFamily="2" charset="-122"/>
              <a:ea typeface="字体视界-NEW魏碑体" panose="02010601030101010101" pitchFamily="2" charset="-122"/>
            </a:endParaRPr>
          </a:p>
        </p:txBody>
      </p:sp>
      <p:sp>
        <p:nvSpPr>
          <p:cNvPr id="28" name="Freeform 29"/>
          <p:cNvSpPr/>
          <p:nvPr/>
        </p:nvSpPr>
        <p:spPr bwMode="auto">
          <a:xfrm>
            <a:off x="288468" y="125065"/>
            <a:ext cx="771819" cy="689695"/>
          </a:xfrm>
          <a:custGeom>
            <a:avLst/>
            <a:gdLst>
              <a:gd name="T0" fmla="*/ 803 w 1880"/>
              <a:gd name="T1" fmla="*/ 15 h 1680"/>
              <a:gd name="T2" fmla="*/ 1253 w 1880"/>
              <a:gd name="T3" fmla="*/ 1067 h 1680"/>
              <a:gd name="T4" fmla="*/ 728 w 1880"/>
              <a:gd name="T5" fmla="*/ 540 h 1680"/>
              <a:gd name="T6" fmla="*/ 928 w 1880"/>
              <a:gd name="T7" fmla="*/ 339 h 1680"/>
              <a:gd name="T8" fmla="*/ 803 w 1880"/>
              <a:gd name="T9" fmla="*/ 215 h 1680"/>
              <a:gd name="T10" fmla="*/ 549 w 1880"/>
              <a:gd name="T11" fmla="*/ 267 h 1680"/>
              <a:gd name="T12" fmla="*/ 150 w 1880"/>
              <a:gd name="T13" fmla="*/ 666 h 1680"/>
              <a:gd name="T14" fmla="*/ 376 w 1880"/>
              <a:gd name="T15" fmla="*/ 890 h 1680"/>
              <a:gd name="T16" fmla="*/ 527 w 1880"/>
              <a:gd name="T17" fmla="*/ 741 h 1680"/>
              <a:gd name="T18" fmla="*/ 1052 w 1880"/>
              <a:gd name="T19" fmla="*/ 1266 h 1680"/>
              <a:gd name="T20" fmla="*/ 176 w 1880"/>
              <a:gd name="T21" fmla="*/ 1090 h 1680"/>
              <a:gd name="T22" fmla="*/ 49 w 1880"/>
              <a:gd name="T23" fmla="*/ 1217 h 1680"/>
              <a:gd name="T24" fmla="*/ 159 w 1880"/>
              <a:gd name="T25" fmla="*/ 1357 h 1680"/>
              <a:gd name="T26" fmla="*/ 144 w 1880"/>
              <a:gd name="T27" fmla="*/ 1371 h 1680"/>
              <a:gd name="T28" fmla="*/ 122 w 1880"/>
              <a:gd name="T29" fmla="*/ 1367 h 1680"/>
              <a:gd name="T30" fmla="*/ 0 w 1880"/>
              <a:gd name="T31" fmla="*/ 1494 h 1680"/>
              <a:gd name="T32" fmla="*/ 123 w 1880"/>
              <a:gd name="T33" fmla="*/ 1616 h 1680"/>
              <a:gd name="T34" fmla="*/ 249 w 1880"/>
              <a:gd name="T35" fmla="*/ 1493 h 1680"/>
              <a:gd name="T36" fmla="*/ 245 w 1880"/>
              <a:gd name="T37" fmla="*/ 1470 h 1680"/>
              <a:gd name="T38" fmla="*/ 265 w 1880"/>
              <a:gd name="T39" fmla="*/ 1451 h 1680"/>
              <a:gd name="T40" fmla="*/ 1255 w 1880"/>
              <a:gd name="T41" fmla="*/ 1467 h 1680"/>
              <a:gd name="T42" fmla="*/ 1402 w 1880"/>
              <a:gd name="T43" fmla="*/ 1615 h 1680"/>
              <a:gd name="T44" fmla="*/ 1603 w 1880"/>
              <a:gd name="T45" fmla="*/ 1416 h 1680"/>
              <a:gd name="T46" fmla="*/ 1455 w 1880"/>
              <a:gd name="T47" fmla="*/ 1267 h 1680"/>
              <a:gd name="T48" fmla="*/ 803 w 1880"/>
              <a:gd name="T49" fmla="*/ 15 h 16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1880" h="1680">
                <a:moveTo>
                  <a:pt x="803" y="15"/>
                </a:moveTo>
                <a:cubicBezTo>
                  <a:pt x="1217" y="170"/>
                  <a:pt x="1468" y="665"/>
                  <a:pt x="1253" y="1067"/>
                </a:cubicBezTo>
                <a:cubicBezTo>
                  <a:pt x="728" y="540"/>
                  <a:pt x="728" y="540"/>
                  <a:pt x="728" y="540"/>
                </a:cubicBezTo>
                <a:cubicBezTo>
                  <a:pt x="928" y="339"/>
                  <a:pt x="928" y="339"/>
                  <a:pt x="928" y="339"/>
                </a:cubicBezTo>
                <a:cubicBezTo>
                  <a:pt x="803" y="215"/>
                  <a:pt x="803" y="215"/>
                  <a:pt x="803" y="215"/>
                </a:cubicBezTo>
                <a:cubicBezTo>
                  <a:pt x="733" y="282"/>
                  <a:pt x="623" y="297"/>
                  <a:pt x="549" y="267"/>
                </a:cubicBezTo>
                <a:cubicBezTo>
                  <a:pt x="150" y="666"/>
                  <a:pt x="150" y="666"/>
                  <a:pt x="150" y="666"/>
                </a:cubicBezTo>
                <a:cubicBezTo>
                  <a:pt x="376" y="890"/>
                  <a:pt x="376" y="890"/>
                  <a:pt x="376" y="890"/>
                </a:cubicBezTo>
                <a:cubicBezTo>
                  <a:pt x="527" y="741"/>
                  <a:pt x="527" y="741"/>
                  <a:pt x="527" y="741"/>
                </a:cubicBezTo>
                <a:cubicBezTo>
                  <a:pt x="1052" y="1266"/>
                  <a:pt x="1052" y="1266"/>
                  <a:pt x="1052" y="1266"/>
                </a:cubicBezTo>
                <a:cubicBezTo>
                  <a:pt x="795" y="1407"/>
                  <a:pt x="439" y="1363"/>
                  <a:pt x="176" y="1090"/>
                </a:cubicBezTo>
                <a:cubicBezTo>
                  <a:pt x="49" y="1217"/>
                  <a:pt x="49" y="1217"/>
                  <a:pt x="49" y="1217"/>
                </a:cubicBezTo>
                <a:cubicBezTo>
                  <a:pt x="87" y="1270"/>
                  <a:pt x="119" y="1317"/>
                  <a:pt x="159" y="1357"/>
                </a:cubicBezTo>
                <a:cubicBezTo>
                  <a:pt x="155" y="1362"/>
                  <a:pt x="144" y="1371"/>
                  <a:pt x="144" y="1371"/>
                </a:cubicBezTo>
                <a:cubicBezTo>
                  <a:pt x="137" y="1370"/>
                  <a:pt x="129" y="1367"/>
                  <a:pt x="122" y="1367"/>
                </a:cubicBezTo>
                <a:cubicBezTo>
                  <a:pt x="55" y="1367"/>
                  <a:pt x="0" y="1426"/>
                  <a:pt x="0" y="1494"/>
                </a:cubicBezTo>
                <a:cubicBezTo>
                  <a:pt x="0" y="1561"/>
                  <a:pt x="55" y="1616"/>
                  <a:pt x="123" y="1616"/>
                </a:cubicBezTo>
                <a:cubicBezTo>
                  <a:pt x="191" y="1616"/>
                  <a:pt x="249" y="1561"/>
                  <a:pt x="249" y="1493"/>
                </a:cubicBezTo>
                <a:cubicBezTo>
                  <a:pt x="249" y="1485"/>
                  <a:pt x="247" y="1478"/>
                  <a:pt x="245" y="1470"/>
                </a:cubicBezTo>
                <a:cubicBezTo>
                  <a:pt x="265" y="1451"/>
                  <a:pt x="265" y="1451"/>
                  <a:pt x="265" y="1451"/>
                </a:cubicBezTo>
                <a:cubicBezTo>
                  <a:pt x="567" y="1655"/>
                  <a:pt x="898" y="1680"/>
                  <a:pt x="1255" y="1467"/>
                </a:cubicBezTo>
                <a:cubicBezTo>
                  <a:pt x="1402" y="1615"/>
                  <a:pt x="1402" y="1615"/>
                  <a:pt x="1402" y="1615"/>
                </a:cubicBezTo>
                <a:cubicBezTo>
                  <a:pt x="1603" y="1416"/>
                  <a:pt x="1603" y="1416"/>
                  <a:pt x="1603" y="1416"/>
                </a:cubicBezTo>
                <a:cubicBezTo>
                  <a:pt x="1455" y="1267"/>
                  <a:pt x="1455" y="1267"/>
                  <a:pt x="1455" y="1267"/>
                </a:cubicBezTo>
                <a:cubicBezTo>
                  <a:pt x="1880" y="628"/>
                  <a:pt x="1313" y="0"/>
                  <a:pt x="803" y="1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cs typeface="+mn-ea"/>
              <a:sym typeface="+mn-lt"/>
            </a:endParaRPr>
          </a:p>
        </p:txBody>
      </p:sp>
      <p:grpSp>
        <p:nvGrpSpPr>
          <p:cNvPr id="11" name="组合 10"/>
          <p:cNvGrpSpPr/>
          <p:nvPr>
            <p:custDataLst>
              <p:tags r:id="rId2"/>
            </p:custDataLst>
          </p:nvPr>
        </p:nvGrpSpPr>
        <p:grpSpPr>
          <a:xfrm>
            <a:off x="1081655" y="4220431"/>
            <a:ext cx="2690990" cy="426825"/>
            <a:chOff x="841063" y="1218189"/>
            <a:chExt cx="3888432" cy="616755"/>
          </a:xfrm>
        </p:grpSpPr>
        <p:sp>
          <p:nvSpPr>
            <p:cNvPr id="12" name="Round Same Side Corner Rectangle 21"/>
            <p:cNvSpPr/>
            <p:nvPr>
              <p:custDataLst>
                <p:tags r:id="rId3"/>
              </p:custDataLst>
            </p:nvPr>
          </p:nvSpPr>
          <p:spPr>
            <a:xfrm rot="16200000" flipH="1">
              <a:off x="2533942" y="-360609"/>
              <a:ext cx="502674" cy="3888432"/>
            </a:xfrm>
            <a:prstGeom prst="round2SameRect">
              <a:avLst>
                <a:gd name="adj1" fmla="val 50000"/>
                <a:gd name="adj2" fmla="val 50000"/>
              </a:avLst>
            </a:prstGeom>
            <a:noFill/>
            <a:ln w="19050" cap="flat" cmpd="sng" algn="ctr">
              <a:solidFill>
                <a:srgbClr val="FF0000"/>
              </a:solidFill>
              <a:prstDash val="solid"/>
            </a:ln>
            <a:effectLst/>
          </p:spPr>
          <p:txBody>
            <a:bodyPr lIns="121873" tIns="60936" rIns="121873" bIns="60936" anchor="ctr"/>
            <a:lstStyle/>
            <a:p>
              <a:pPr algn="ctr">
                <a:defRPr/>
              </a:pPr>
              <a:endParaRPr lang="bg-BG" kern="0">
                <a:solidFill>
                  <a:srgbClr val="FFFFFF"/>
                </a:solidFill>
                <a:latin typeface="Impact" panose="020B0806030902050204"/>
                <a:ea typeface="微软雅黑" panose="020B0503020204020204" pitchFamily="34" charset="-122"/>
              </a:endParaRPr>
            </a:p>
          </p:txBody>
        </p:sp>
        <p:sp>
          <p:nvSpPr>
            <p:cNvPr id="13" name="矩形 12"/>
            <p:cNvSpPr/>
            <p:nvPr>
              <p:custDataLst>
                <p:tags r:id="rId4"/>
              </p:custDataLst>
            </p:nvPr>
          </p:nvSpPr>
          <p:spPr>
            <a:xfrm>
              <a:off x="841063" y="1218189"/>
              <a:ext cx="3819813" cy="604279"/>
            </a:xfrm>
            <a:prstGeom prst="rect">
              <a:avLst/>
            </a:prstGeom>
            <a:ln>
              <a:noFill/>
            </a:ln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spcAft>
                  <a:spcPts val="300"/>
                </a:spcAft>
              </a:pPr>
              <a:r>
                <a:rPr lang="zh-CN" altLang="en-US" sz="16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民意是政策调整的重要依据</a:t>
              </a:r>
              <a:endPara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4" name="组合 13"/>
          <p:cNvGrpSpPr/>
          <p:nvPr>
            <p:custDataLst>
              <p:tags r:id="rId5"/>
            </p:custDataLst>
          </p:nvPr>
        </p:nvGrpSpPr>
        <p:grpSpPr>
          <a:xfrm>
            <a:off x="4675041" y="4220432"/>
            <a:ext cx="2690989" cy="426825"/>
            <a:chOff x="841063" y="1218189"/>
            <a:chExt cx="3888432" cy="616755"/>
          </a:xfrm>
        </p:grpSpPr>
        <p:sp>
          <p:nvSpPr>
            <p:cNvPr id="15" name="Round Same Side Corner Rectangle 21"/>
            <p:cNvSpPr/>
            <p:nvPr>
              <p:custDataLst>
                <p:tags r:id="rId6"/>
              </p:custDataLst>
            </p:nvPr>
          </p:nvSpPr>
          <p:spPr>
            <a:xfrm rot="16200000" flipH="1">
              <a:off x="2533942" y="-360609"/>
              <a:ext cx="502674" cy="3888432"/>
            </a:xfrm>
            <a:prstGeom prst="round2SameRect">
              <a:avLst>
                <a:gd name="adj1" fmla="val 50000"/>
                <a:gd name="adj2" fmla="val 50000"/>
              </a:avLst>
            </a:prstGeom>
            <a:noFill/>
            <a:ln w="19050" cap="flat" cmpd="sng" algn="ctr">
              <a:solidFill>
                <a:srgbClr val="FF0000"/>
              </a:solidFill>
              <a:prstDash val="solid"/>
            </a:ln>
            <a:effectLst/>
          </p:spPr>
          <p:txBody>
            <a:bodyPr lIns="121873" tIns="60936" rIns="121873" bIns="60936" anchor="ctr"/>
            <a:lstStyle/>
            <a:p>
              <a:pPr algn="ctr">
                <a:defRPr/>
              </a:pPr>
              <a:endParaRPr lang="bg-BG" kern="0">
                <a:solidFill>
                  <a:srgbClr val="FFFFFF"/>
                </a:solidFill>
                <a:latin typeface="Impact" panose="020B0806030902050204"/>
                <a:ea typeface="微软雅黑" panose="020B0503020204020204" pitchFamily="34" charset="-122"/>
              </a:endParaRPr>
            </a:p>
          </p:txBody>
        </p:sp>
        <p:sp>
          <p:nvSpPr>
            <p:cNvPr id="16" name="矩形 15"/>
            <p:cNvSpPr/>
            <p:nvPr>
              <p:custDataLst>
                <p:tags r:id="rId7"/>
              </p:custDataLst>
            </p:nvPr>
          </p:nvSpPr>
          <p:spPr>
            <a:xfrm>
              <a:off x="909684" y="1218189"/>
              <a:ext cx="3819811" cy="604279"/>
            </a:xfrm>
            <a:prstGeom prst="rect">
              <a:avLst/>
            </a:prstGeom>
            <a:ln>
              <a:noFill/>
            </a:ln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spcAft>
                  <a:spcPts val="300"/>
                </a:spcAft>
              </a:pPr>
              <a:r>
                <a:rPr lang="zh-CN" altLang="en-US" sz="16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批评是改进工作的宝贵资源</a:t>
              </a:r>
              <a:endPara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7" name="组合 16"/>
          <p:cNvGrpSpPr/>
          <p:nvPr>
            <p:custDataLst>
              <p:tags r:id="rId8"/>
            </p:custDataLst>
          </p:nvPr>
        </p:nvGrpSpPr>
        <p:grpSpPr>
          <a:xfrm>
            <a:off x="8315915" y="4200567"/>
            <a:ext cx="2690989" cy="418191"/>
            <a:chOff x="841063" y="1230665"/>
            <a:chExt cx="3888432" cy="604279"/>
          </a:xfrm>
        </p:grpSpPr>
        <p:sp>
          <p:nvSpPr>
            <p:cNvPr id="18" name="Round Same Side Corner Rectangle 21"/>
            <p:cNvSpPr/>
            <p:nvPr>
              <p:custDataLst>
                <p:tags r:id="rId9"/>
              </p:custDataLst>
            </p:nvPr>
          </p:nvSpPr>
          <p:spPr>
            <a:xfrm rot="16200000" flipH="1">
              <a:off x="2533942" y="-360609"/>
              <a:ext cx="502674" cy="3888432"/>
            </a:xfrm>
            <a:prstGeom prst="round2SameRect">
              <a:avLst>
                <a:gd name="adj1" fmla="val 50000"/>
                <a:gd name="adj2" fmla="val 50000"/>
              </a:avLst>
            </a:prstGeom>
            <a:noFill/>
            <a:ln w="19050" cap="flat" cmpd="sng" algn="ctr">
              <a:solidFill>
                <a:srgbClr val="FF0000"/>
              </a:solidFill>
              <a:prstDash val="solid"/>
            </a:ln>
            <a:effectLst/>
          </p:spPr>
          <p:txBody>
            <a:bodyPr lIns="121873" tIns="60936" rIns="121873" bIns="60936" anchor="ctr"/>
            <a:lstStyle/>
            <a:p>
              <a:pPr algn="ctr">
                <a:defRPr/>
              </a:pPr>
              <a:endParaRPr lang="bg-BG" kern="0">
                <a:solidFill>
                  <a:srgbClr val="FFFFFF"/>
                </a:solidFill>
                <a:latin typeface="Impact" panose="020B0806030902050204"/>
                <a:ea typeface="微软雅黑" panose="020B0503020204020204" pitchFamily="34" charset="-122"/>
              </a:endParaRPr>
            </a:p>
          </p:txBody>
        </p:sp>
        <p:sp>
          <p:nvSpPr>
            <p:cNvPr id="19" name="矩形 18"/>
            <p:cNvSpPr/>
            <p:nvPr>
              <p:custDataLst>
                <p:tags r:id="rId10"/>
              </p:custDataLst>
            </p:nvPr>
          </p:nvSpPr>
          <p:spPr>
            <a:xfrm>
              <a:off x="931829" y="1230665"/>
              <a:ext cx="3797666" cy="604279"/>
            </a:xfrm>
            <a:prstGeom prst="rect">
              <a:avLst/>
            </a:prstGeom>
            <a:ln>
              <a:noFill/>
            </a:ln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spcAft>
                  <a:spcPts val="300"/>
                </a:spcAft>
              </a:pPr>
              <a:r>
                <a:rPr lang="zh-CN" altLang="en-US" sz="16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人民立场是执政的根本立场</a:t>
              </a:r>
              <a:endPara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0" name="矩形 19"/>
          <p:cNvSpPr/>
          <p:nvPr/>
        </p:nvSpPr>
        <p:spPr>
          <a:xfrm>
            <a:off x="3231598" y="1051499"/>
            <a:ext cx="6181753" cy="8254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600" b="1" dirty="0">
                <a:solidFill>
                  <a:srgbClr val="B50F0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当代启示：群众路线永不过时</a:t>
            </a:r>
            <a:endParaRPr lang="en-US" altLang="zh-CN" sz="3600" b="1" dirty="0">
              <a:solidFill>
                <a:srgbClr val="B50F0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1" name="直接连接符 20"/>
          <p:cNvCxnSpPr/>
          <p:nvPr/>
        </p:nvCxnSpPr>
        <p:spPr>
          <a:xfrm>
            <a:off x="1208657" y="2065516"/>
            <a:ext cx="9798247" cy="0"/>
          </a:xfrm>
          <a:prstGeom prst="line">
            <a:avLst/>
          </a:prstGeom>
          <a:ln>
            <a:solidFill>
              <a:srgbClr val="C0000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图片 22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1817" y="2379738"/>
            <a:ext cx="1719261" cy="1763220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6206" y="2379738"/>
            <a:ext cx="1719261" cy="1763220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1778" y="2379738"/>
            <a:ext cx="1719261" cy="1763220"/>
          </a:xfrm>
          <a:prstGeom prst="rect">
            <a:avLst/>
          </a:prstGeom>
        </p:spPr>
      </p:pic>
      <p:sp>
        <p:nvSpPr>
          <p:cNvPr id="3" name="文本框 2"/>
          <p:cNvSpPr txBox="1"/>
          <p:nvPr>
            <p:custDataLst>
              <p:tags r:id="rId15"/>
            </p:custDataLst>
          </p:nvPr>
        </p:nvSpPr>
        <p:spPr>
          <a:xfrm>
            <a:off x="732732" y="4726205"/>
            <a:ext cx="332454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0" i="0" dirty="0">
                <a:solidFill>
                  <a:srgbClr val="111133"/>
                </a:solidFill>
                <a:effectLst/>
                <a:latin typeface="-apple-system"/>
              </a:rPr>
              <a:t>无论是基层治理还是宏观决策，都必须建立</a:t>
            </a:r>
            <a:r>
              <a:rPr lang="zh-CN" altLang="en-US" b="1" i="0" dirty="0">
                <a:solidFill>
                  <a:srgbClr val="111133"/>
                </a:solidFill>
                <a:effectLst/>
                <a:latin typeface="-apple-system"/>
              </a:rPr>
              <a:t>畅通、真实、有效的民意反馈机制</a:t>
            </a:r>
            <a:r>
              <a:rPr lang="zh-CN" altLang="en-US" b="0" i="0" dirty="0">
                <a:solidFill>
                  <a:srgbClr val="111133"/>
                </a:solidFill>
                <a:effectLst/>
                <a:latin typeface="-apple-system"/>
              </a:rPr>
              <a:t>，让群众的声音真正“被听见”。</a:t>
            </a:r>
            <a:endParaRPr lang="zh-CN" altLang="en-US" dirty="0"/>
          </a:p>
        </p:txBody>
      </p:sp>
      <p:sp>
        <p:nvSpPr>
          <p:cNvPr id="4" name="文本框 3"/>
          <p:cNvSpPr txBox="1"/>
          <p:nvPr>
            <p:custDataLst>
              <p:tags r:id="rId16"/>
            </p:custDataLst>
          </p:nvPr>
        </p:nvSpPr>
        <p:spPr>
          <a:xfrm>
            <a:off x="4271237" y="4734829"/>
            <a:ext cx="3407301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0" i="0" dirty="0">
                <a:solidFill>
                  <a:srgbClr val="111133"/>
                </a:solidFill>
                <a:effectLst/>
                <a:latin typeface="-apple-system"/>
              </a:rPr>
              <a:t>面对群众的不满甚至批评，</a:t>
            </a:r>
            <a:r>
              <a:rPr lang="zh-CN" altLang="en-US" b="1" i="0" dirty="0">
                <a:solidFill>
                  <a:srgbClr val="111133"/>
                </a:solidFill>
                <a:effectLst/>
                <a:latin typeface="-apple-system"/>
              </a:rPr>
              <a:t>不应压制、回避</a:t>
            </a:r>
            <a:r>
              <a:rPr lang="zh-CN" altLang="en-US" b="0" i="0" dirty="0">
                <a:solidFill>
                  <a:srgbClr val="111133"/>
                </a:solidFill>
                <a:effectLst/>
                <a:latin typeface="-apple-system"/>
              </a:rPr>
              <a:t>，而应以开放心态倾听、反思、改进，将“骂声”转化为</a:t>
            </a:r>
            <a:r>
              <a:rPr lang="zh-CN" altLang="en-US" b="1" i="0" dirty="0">
                <a:solidFill>
                  <a:srgbClr val="111133"/>
                </a:solidFill>
                <a:effectLst/>
                <a:latin typeface="-apple-system"/>
              </a:rPr>
              <a:t>推动改革的动力</a:t>
            </a:r>
            <a:r>
              <a:rPr lang="zh-CN" altLang="en-US" b="0" i="0" dirty="0">
                <a:solidFill>
                  <a:srgbClr val="111133"/>
                </a:solidFill>
                <a:effectLst/>
                <a:latin typeface="-apple-system"/>
              </a:rPr>
              <a:t>。</a:t>
            </a:r>
            <a:endParaRPr lang="zh-CN" altLang="en-US" dirty="0"/>
          </a:p>
        </p:txBody>
      </p:sp>
      <p:sp>
        <p:nvSpPr>
          <p:cNvPr id="5" name="文本框 4"/>
          <p:cNvSpPr txBox="1"/>
          <p:nvPr>
            <p:custDataLst>
              <p:tags r:id="rId17"/>
            </p:custDataLst>
          </p:nvPr>
        </p:nvSpPr>
        <p:spPr>
          <a:xfrm>
            <a:off x="7920764" y="4732547"/>
            <a:ext cx="3445652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0" i="0" dirty="0">
                <a:solidFill>
                  <a:srgbClr val="111133"/>
                </a:solidFill>
                <a:effectLst/>
                <a:latin typeface="-apple-system"/>
              </a:rPr>
              <a:t>一切工作的</a:t>
            </a:r>
            <a:r>
              <a:rPr lang="zh-CN" altLang="en-US" b="1" i="0" dirty="0">
                <a:solidFill>
                  <a:srgbClr val="111133"/>
                </a:solidFill>
                <a:effectLst/>
                <a:latin typeface="-apple-system"/>
              </a:rPr>
              <a:t>出发点和落脚点</a:t>
            </a:r>
            <a:r>
              <a:rPr lang="zh-CN" altLang="en-US" b="0" i="0" dirty="0">
                <a:solidFill>
                  <a:srgbClr val="111133"/>
                </a:solidFill>
                <a:effectLst/>
                <a:latin typeface="-apple-system"/>
              </a:rPr>
              <a:t>都应是</a:t>
            </a:r>
            <a:r>
              <a:rPr lang="zh-CN" altLang="en-US" b="1" i="0" dirty="0">
                <a:solidFill>
                  <a:srgbClr val="111133"/>
                </a:solidFill>
                <a:effectLst/>
                <a:latin typeface="-apple-system"/>
              </a:rPr>
              <a:t>保障和改善民生</a:t>
            </a:r>
            <a:r>
              <a:rPr lang="zh-CN" altLang="en-US" b="0" i="0" dirty="0">
                <a:solidFill>
                  <a:srgbClr val="111133"/>
                </a:solidFill>
                <a:effectLst/>
                <a:latin typeface="-apple-system"/>
              </a:rPr>
              <a:t>，不断增强人民群众的获得感、幸福感、安全感。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>
        <p15:prstTrans prst="drape"/>
      </p:transition>
    </mc:Choice>
    <mc:Fallback>
      <p:transition spd="slow">
        <p:fade/>
      </p:transition>
    </mc:Fallback>
  </mc:AlternateContent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53" presetClass="entr" presetSubtype="16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" dur="5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" presetID="35" presetClass="path" presetSubtype="0" accel="50000" decel="5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6.25E-7 -3.7037E-6 L 0.18997 -3.7037E-6 " pathEditMode="relative" rAng="0" ptsTypes="AA">
                                          <p:cBhvr>
                                            <p:cTn id="11" dur="1000" spd="-100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9492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2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4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5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6" dur="5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35" presetClass="path" presetSubtype="0" accel="50000" decel="5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-3.7037E-6 L -0.41185 -3.7037E-6 " pathEditMode="relative" rAng="0" ptsTypes="AA">
                                          <p:cBhvr>
                                            <p:cTn id="18" dur="1000" spd="-1000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20599" y="0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9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20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2" dur="25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3" dur="25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4" dur="25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5" presetID="6" presetClass="emph" presetSubtype="0" decel="100000" fill="hold" grpId="1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animScale>
                                          <p:cBhvr>
                                            <p:cTn id="26" dur="250" fill="hold"/>
                                            <p:tgtEl>
                                              <p:spTgt spid="28"/>
                                            </p:tgtEl>
                                          </p:cBhvr>
                                          <p:by x="120000" y="12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27" presetID="6" presetClass="emph" presetSubtype="0" decel="100000" fill="hold" grpId="2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animScale>
                                          <p:cBhvr>
                                            <p:cTn id="28" dur="250" fill="hold"/>
                                            <p:tgtEl>
                                              <p:spTgt spid="28"/>
                                            </p:tgtEl>
                                          </p:cBhvr>
                                          <p:by x="83000" y="83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9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30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2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3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4" dur="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5" presetID="35" presetClass="path" presetSubtype="0" accel="50000" decel="5000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4.375E-6 -3.7037E-6 L -0.30273 -3.7037E-6 " pathEditMode="relative" rAng="0" ptsTypes="AA">
                                          <p:cBhvr>
                                            <p:cTn id="36" dur="1000" spd="-1000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15143" y="0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7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38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0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1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2" dur="5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3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44" presetID="22" presetClass="entr" presetSubtype="8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6" dur="5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7" fill="hold">
                                <p:stCondLst>
                                  <p:cond delay="2500"/>
                                </p:stCondLst>
                                <p:childTnLst>
                                  <p:par>
                                    <p:cTn id="48" presetID="31" presetClass="entr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0" dur="10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1" dur="10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2" dur="10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53" dur="10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4" presetID="31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6" dur="10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7" dur="10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8" dur="10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59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0" presetID="31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2" dur="10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3" dur="10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4" dur="10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5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6" fill="hold">
                                <p:stCondLst>
                                  <p:cond delay="3500"/>
                                </p:stCondLst>
                                <p:childTnLst>
                                  <p:par>
                                    <p:cTn id="67" presetID="2" presetClass="entr" presetSubtype="8" fill="hold" nodeType="afterEffect" p14:presetBounceEnd="48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8000">
                                          <p:cBhvr additive="base">
                                            <p:cTn id="69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8000">
                                          <p:cBhvr additive="base">
                                            <p:cTn id="70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1" presetID="2" presetClass="entr" presetSubtype="8" fill="hold" nodeType="withEffect" p14:presetBounceEnd="48000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8000">
                                          <p:cBhvr additive="base">
                                            <p:cTn id="73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8000">
                                          <p:cBhvr additive="base">
                                            <p:cTn id="74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5" presetID="2" presetClass="entr" presetSubtype="8" fill="hold" nodeType="withEffect" p14:presetBounceEnd="48000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8000">
                                          <p:cBhvr additive="base">
                                            <p:cTn id="77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8000">
                                          <p:cBhvr additive="base">
                                            <p:cTn id="78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9" fill="hold">
                                <p:stCondLst>
                                  <p:cond delay="4000"/>
                                </p:stCondLst>
                                <p:childTnLst>
                                  <p:par>
                                    <p:cTn id="80" presetID="16" presetClass="entr" presetSubtype="21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inVertical)">
                                          <p:cBhvr>
                                            <p:cTn id="82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3" presetID="16" presetClass="entr" presetSubtype="2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inVertical)">
                                          <p:cBhvr>
                                            <p:cTn id="85" dur="5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6" presetID="16" presetClass="entr" presetSubtype="2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inVertical)">
                                          <p:cBhvr>
                                            <p:cTn id="88" dur="5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7" grpId="0"/>
          <p:bldP spid="27" grpId="1"/>
          <p:bldP spid="28" grpId="0" animBg="1"/>
          <p:bldP spid="28" grpId="1" animBg="1"/>
          <p:bldP spid="28" grpId="2" animBg="1"/>
          <p:bldP spid="20" grpId="0"/>
          <p:bldP spid="3" grpId="0"/>
          <p:bldP spid="4" grpId="0"/>
          <p:bldP spid="5" grpId="0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53" presetClass="entr" presetSubtype="16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" dur="5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" presetID="35" presetClass="path" presetSubtype="0" accel="50000" decel="5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6.25E-7 -3.7037E-6 L 0.18997 -3.7037E-6 " pathEditMode="relative" rAng="0" ptsTypes="AA">
                                          <p:cBhvr>
                                            <p:cTn id="11" dur="1000" spd="-100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9492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2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4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5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6" dur="5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35" presetClass="path" presetSubtype="0" accel="50000" decel="5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-3.7037E-6 L -0.41185 -3.7037E-6 " pathEditMode="relative" rAng="0" ptsTypes="AA">
                                          <p:cBhvr>
                                            <p:cTn id="18" dur="1000" spd="-1000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20599" y="0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9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20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2" dur="25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3" dur="25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4" dur="25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5" presetID="6" presetClass="emph" presetSubtype="0" decel="100000" fill="hold" grpId="1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animScale>
                                          <p:cBhvr>
                                            <p:cTn id="26" dur="250" fill="hold"/>
                                            <p:tgtEl>
                                              <p:spTgt spid="28"/>
                                            </p:tgtEl>
                                          </p:cBhvr>
                                          <p:by x="120000" y="12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27" presetID="6" presetClass="emph" presetSubtype="0" decel="100000" fill="hold" grpId="2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animScale>
                                          <p:cBhvr>
                                            <p:cTn id="28" dur="250" fill="hold"/>
                                            <p:tgtEl>
                                              <p:spTgt spid="28"/>
                                            </p:tgtEl>
                                          </p:cBhvr>
                                          <p:by x="83000" y="83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9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30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2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3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4" dur="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5" presetID="35" presetClass="path" presetSubtype="0" accel="50000" decel="5000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4.375E-6 -3.7037E-6 L -0.30273 -3.7037E-6 " pathEditMode="relative" rAng="0" ptsTypes="AA">
                                          <p:cBhvr>
                                            <p:cTn id="36" dur="1000" spd="-1000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15143" y="0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7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38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0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1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2" dur="5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3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44" presetID="22" presetClass="entr" presetSubtype="8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6" dur="5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7" fill="hold">
                                <p:stCondLst>
                                  <p:cond delay="2500"/>
                                </p:stCondLst>
                                <p:childTnLst>
                                  <p:par>
                                    <p:cTn id="48" presetID="31" presetClass="entr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0" dur="10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1" dur="10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2" dur="10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53" dur="10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4" presetID="31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6" dur="10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7" dur="10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8" dur="10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59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0" presetID="31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2" dur="10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3" dur="10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4" dur="10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5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6" fill="hold">
                                <p:stCondLst>
                                  <p:cond delay="3500"/>
                                </p:stCondLst>
                                <p:childTnLst>
                                  <p:par>
                                    <p:cTn id="67" presetID="2" presetClass="entr" presetSubtype="8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9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0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1" presetID="2" presetClass="entr" presetSubtype="8" fill="hold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3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4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5" presetID="2" presetClass="entr" presetSubtype="8" fill="hold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7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8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9" fill="hold">
                                <p:stCondLst>
                                  <p:cond delay="4000"/>
                                </p:stCondLst>
                                <p:childTnLst>
                                  <p:par>
                                    <p:cTn id="80" presetID="16" presetClass="entr" presetSubtype="21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inVertical)">
                                          <p:cBhvr>
                                            <p:cTn id="82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3" presetID="16" presetClass="entr" presetSubtype="2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inVertical)">
                                          <p:cBhvr>
                                            <p:cTn id="85" dur="5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6" presetID="16" presetClass="entr" presetSubtype="2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inVertical)">
                                          <p:cBhvr>
                                            <p:cTn id="88" dur="5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7" grpId="0"/>
          <p:bldP spid="27" grpId="1"/>
          <p:bldP spid="28" grpId="0" animBg="1"/>
          <p:bldP spid="28" grpId="1" animBg="1"/>
          <p:bldP spid="28" grpId="2" animBg="1"/>
          <p:bldP spid="20" grpId="0"/>
          <p:bldP spid="3" grpId="0"/>
          <p:bldP spid="4" grpId="0"/>
          <p:bldP spid="5" grpId="0"/>
        </p:bldLst>
      </p:timing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8923" y="246423"/>
            <a:ext cx="4103077" cy="675011"/>
          </a:xfrm>
          <a:prstGeom prst="rect">
            <a:avLst/>
          </a:prstGeom>
        </p:spPr>
      </p:pic>
      <p:cxnSp>
        <p:nvCxnSpPr>
          <p:cNvPr id="26" name="直接连接符 25"/>
          <p:cNvCxnSpPr/>
          <p:nvPr/>
        </p:nvCxnSpPr>
        <p:spPr>
          <a:xfrm>
            <a:off x="0" y="921434"/>
            <a:ext cx="12192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/>
          <p:cNvSpPr/>
          <p:nvPr/>
        </p:nvSpPr>
        <p:spPr>
          <a:xfrm>
            <a:off x="1060287" y="353095"/>
            <a:ext cx="52621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accent1"/>
                </a:solidFill>
                <a:latin typeface="字体视界-NEW魏碑体" panose="02010601030101010101" pitchFamily="2" charset="-122"/>
                <a:ea typeface="字体视界-NEW魏碑体" panose="02010601030101010101" pitchFamily="2" charset="-122"/>
                <a:cs typeface="+mn-ea"/>
                <a:sym typeface="+mn-lt"/>
              </a:rPr>
              <a:t>第三部分：</a:t>
            </a:r>
            <a:r>
              <a:rPr lang="zh-CN" altLang="en-US" sz="2400" b="1" dirty="0">
                <a:solidFill>
                  <a:srgbClr val="C00000"/>
                </a:solidFill>
                <a:latin typeface="字体视界-NEW魏碑体" panose="02010601030101010101" pitchFamily="2" charset="-122"/>
                <a:ea typeface="字体视界-NEW魏碑体" panose="02010601030101010101" pitchFamily="2" charset="-122"/>
              </a:rPr>
              <a:t>当代启示与青年责任</a:t>
            </a:r>
            <a:endParaRPr lang="zh-CN" altLang="en-US" sz="2400" b="1" dirty="0">
              <a:solidFill>
                <a:srgbClr val="C00000"/>
              </a:solidFill>
              <a:latin typeface="字体视界-NEW魏碑体" panose="02010601030101010101" pitchFamily="2" charset="-122"/>
              <a:ea typeface="字体视界-NEW魏碑体" panose="02010601030101010101" pitchFamily="2" charset="-122"/>
            </a:endParaRPr>
          </a:p>
        </p:txBody>
      </p:sp>
      <p:sp>
        <p:nvSpPr>
          <p:cNvPr id="28" name="Freeform 29"/>
          <p:cNvSpPr/>
          <p:nvPr/>
        </p:nvSpPr>
        <p:spPr bwMode="auto">
          <a:xfrm>
            <a:off x="288468" y="125065"/>
            <a:ext cx="771819" cy="689695"/>
          </a:xfrm>
          <a:custGeom>
            <a:avLst/>
            <a:gdLst>
              <a:gd name="T0" fmla="*/ 803 w 1880"/>
              <a:gd name="T1" fmla="*/ 15 h 1680"/>
              <a:gd name="T2" fmla="*/ 1253 w 1880"/>
              <a:gd name="T3" fmla="*/ 1067 h 1680"/>
              <a:gd name="T4" fmla="*/ 728 w 1880"/>
              <a:gd name="T5" fmla="*/ 540 h 1680"/>
              <a:gd name="T6" fmla="*/ 928 w 1880"/>
              <a:gd name="T7" fmla="*/ 339 h 1680"/>
              <a:gd name="T8" fmla="*/ 803 w 1880"/>
              <a:gd name="T9" fmla="*/ 215 h 1680"/>
              <a:gd name="T10" fmla="*/ 549 w 1880"/>
              <a:gd name="T11" fmla="*/ 267 h 1680"/>
              <a:gd name="T12" fmla="*/ 150 w 1880"/>
              <a:gd name="T13" fmla="*/ 666 h 1680"/>
              <a:gd name="T14" fmla="*/ 376 w 1880"/>
              <a:gd name="T15" fmla="*/ 890 h 1680"/>
              <a:gd name="T16" fmla="*/ 527 w 1880"/>
              <a:gd name="T17" fmla="*/ 741 h 1680"/>
              <a:gd name="T18" fmla="*/ 1052 w 1880"/>
              <a:gd name="T19" fmla="*/ 1266 h 1680"/>
              <a:gd name="T20" fmla="*/ 176 w 1880"/>
              <a:gd name="T21" fmla="*/ 1090 h 1680"/>
              <a:gd name="T22" fmla="*/ 49 w 1880"/>
              <a:gd name="T23" fmla="*/ 1217 h 1680"/>
              <a:gd name="T24" fmla="*/ 159 w 1880"/>
              <a:gd name="T25" fmla="*/ 1357 h 1680"/>
              <a:gd name="T26" fmla="*/ 144 w 1880"/>
              <a:gd name="T27" fmla="*/ 1371 h 1680"/>
              <a:gd name="T28" fmla="*/ 122 w 1880"/>
              <a:gd name="T29" fmla="*/ 1367 h 1680"/>
              <a:gd name="T30" fmla="*/ 0 w 1880"/>
              <a:gd name="T31" fmla="*/ 1494 h 1680"/>
              <a:gd name="T32" fmla="*/ 123 w 1880"/>
              <a:gd name="T33" fmla="*/ 1616 h 1680"/>
              <a:gd name="T34" fmla="*/ 249 w 1880"/>
              <a:gd name="T35" fmla="*/ 1493 h 1680"/>
              <a:gd name="T36" fmla="*/ 245 w 1880"/>
              <a:gd name="T37" fmla="*/ 1470 h 1680"/>
              <a:gd name="T38" fmla="*/ 265 w 1880"/>
              <a:gd name="T39" fmla="*/ 1451 h 1680"/>
              <a:gd name="T40" fmla="*/ 1255 w 1880"/>
              <a:gd name="T41" fmla="*/ 1467 h 1680"/>
              <a:gd name="T42" fmla="*/ 1402 w 1880"/>
              <a:gd name="T43" fmla="*/ 1615 h 1680"/>
              <a:gd name="T44" fmla="*/ 1603 w 1880"/>
              <a:gd name="T45" fmla="*/ 1416 h 1680"/>
              <a:gd name="T46" fmla="*/ 1455 w 1880"/>
              <a:gd name="T47" fmla="*/ 1267 h 1680"/>
              <a:gd name="T48" fmla="*/ 803 w 1880"/>
              <a:gd name="T49" fmla="*/ 15 h 16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1880" h="1680">
                <a:moveTo>
                  <a:pt x="803" y="15"/>
                </a:moveTo>
                <a:cubicBezTo>
                  <a:pt x="1217" y="170"/>
                  <a:pt x="1468" y="665"/>
                  <a:pt x="1253" y="1067"/>
                </a:cubicBezTo>
                <a:cubicBezTo>
                  <a:pt x="728" y="540"/>
                  <a:pt x="728" y="540"/>
                  <a:pt x="728" y="540"/>
                </a:cubicBezTo>
                <a:cubicBezTo>
                  <a:pt x="928" y="339"/>
                  <a:pt x="928" y="339"/>
                  <a:pt x="928" y="339"/>
                </a:cubicBezTo>
                <a:cubicBezTo>
                  <a:pt x="803" y="215"/>
                  <a:pt x="803" y="215"/>
                  <a:pt x="803" y="215"/>
                </a:cubicBezTo>
                <a:cubicBezTo>
                  <a:pt x="733" y="282"/>
                  <a:pt x="623" y="297"/>
                  <a:pt x="549" y="267"/>
                </a:cubicBezTo>
                <a:cubicBezTo>
                  <a:pt x="150" y="666"/>
                  <a:pt x="150" y="666"/>
                  <a:pt x="150" y="666"/>
                </a:cubicBezTo>
                <a:cubicBezTo>
                  <a:pt x="376" y="890"/>
                  <a:pt x="376" y="890"/>
                  <a:pt x="376" y="890"/>
                </a:cubicBezTo>
                <a:cubicBezTo>
                  <a:pt x="527" y="741"/>
                  <a:pt x="527" y="741"/>
                  <a:pt x="527" y="741"/>
                </a:cubicBezTo>
                <a:cubicBezTo>
                  <a:pt x="1052" y="1266"/>
                  <a:pt x="1052" y="1266"/>
                  <a:pt x="1052" y="1266"/>
                </a:cubicBezTo>
                <a:cubicBezTo>
                  <a:pt x="795" y="1407"/>
                  <a:pt x="439" y="1363"/>
                  <a:pt x="176" y="1090"/>
                </a:cubicBezTo>
                <a:cubicBezTo>
                  <a:pt x="49" y="1217"/>
                  <a:pt x="49" y="1217"/>
                  <a:pt x="49" y="1217"/>
                </a:cubicBezTo>
                <a:cubicBezTo>
                  <a:pt x="87" y="1270"/>
                  <a:pt x="119" y="1317"/>
                  <a:pt x="159" y="1357"/>
                </a:cubicBezTo>
                <a:cubicBezTo>
                  <a:pt x="155" y="1362"/>
                  <a:pt x="144" y="1371"/>
                  <a:pt x="144" y="1371"/>
                </a:cubicBezTo>
                <a:cubicBezTo>
                  <a:pt x="137" y="1370"/>
                  <a:pt x="129" y="1367"/>
                  <a:pt x="122" y="1367"/>
                </a:cubicBezTo>
                <a:cubicBezTo>
                  <a:pt x="55" y="1367"/>
                  <a:pt x="0" y="1426"/>
                  <a:pt x="0" y="1494"/>
                </a:cubicBezTo>
                <a:cubicBezTo>
                  <a:pt x="0" y="1561"/>
                  <a:pt x="55" y="1616"/>
                  <a:pt x="123" y="1616"/>
                </a:cubicBezTo>
                <a:cubicBezTo>
                  <a:pt x="191" y="1616"/>
                  <a:pt x="249" y="1561"/>
                  <a:pt x="249" y="1493"/>
                </a:cubicBezTo>
                <a:cubicBezTo>
                  <a:pt x="249" y="1485"/>
                  <a:pt x="247" y="1478"/>
                  <a:pt x="245" y="1470"/>
                </a:cubicBezTo>
                <a:cubicBezTo>
                  <a:pt x="265" y="1451"/>
                  <a:pt x="265" y="1451"/>
                  <a:pt x="265" y="1451"/>
                </a:cubicBezTo>
                <a:cubicBezTo>
                  <a:pt x="567" y="1655"/>
                  <a:pt x="898" y="1680"/>
                  <a:pt x="1255" y="1467"/>
                </a:cubicBezTo>
                <a:cubicBezTo>
                  <a:pt x="1402" y="1615"/>
                  <a:pt x="1402" y="1615"/>
                  <a:pt x="1402" y="1615"/>
                </a:cubicBezTo>
                <a:cubicBezTo>
                  <a:pt x="1603" y="1416"/>
                  <a:pt x="1603" y="1416"/>
                  <a:pt x="1603" y="1416"/>
                </a:cubicBezTo>
                <a:cubicBezTo>
                  <a:pt x="1455" y="1267"/>
                  <a:pt x="1455" y="1267"/>
                  <a:pt x="1455" y="1267"/>
                </a:cubicBezTo>
                <a:cubicBezTo>
                  <a:pt x="1880" y="628"/>
                  <a:pt x="1313" y="0"/>
                  <a:pt x="803" y="1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604768" y="1255439"/>
            <a:ext cx="9435414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150000"/>
              </a:lnSpc>
            </a:pPr>
            <a:r>
              <a:rPr lang="zh-CN" altLang="en-US" sz="4000" b="1" dirty="0">
                <a:solidFill>
                  <a:srgbClr val="C00000"/>
                </a:solidFill>
                <a:latin typeface="字体视界-NEW魏碑体" panose="02010601030101010101" pitchFamily="2" charset="-122"/>
                <a:ea typeface="字体视界-NEW魏碑体" panose="02010601030101010101" pitchFamily="2" charset="-122"/>
              </a:rPr>
              <a:t>群众路线对于当代青年的</a:t>
            </a:r>
            <a:r>
              <a:rPr lang="zh-CN" altLang="en-US" sz="4000" b="1" dirty="0">
                <a:solidFill>
                  <a:srgbClr val="C00000"/>
                </a:solidFill>
                <a:latin typeface="字体视界-NEW魏碑体" panose="02010601030101010101" pitchFamily="2" charset="-122"/>
                <a:ea typeface="字体视界-NEW魏碑体" panose="02010601030101010101" pitchFamily="2" charset="-122"/>
              </a:rPr>
              <a:t>启示</a:t>
            </a:r>
            <a:endParaRPr lang="zh-CN" altLang="en-US" sz="4000" b="1" dirty="0">
              <a:solidFill>
                <a:srgbClr val="C00000"/>
              </a:solidFill>
              <a:latin typeface="字体视界-NEW魏碑体" panose="02010601030101010101" pitchFamily="2" charset="-122"/>
              <a:ea typeface="字体视界-NEW魏碑体" panose="02010601030101010101" pitchFamily="2" charset="-122"/>
            </a:endParaRPr>
          </a:p>
        </p:txBody>
      </p:sp>
      <p:sp>
        <p:nvSpPr>
          <p:cNvPr id="14" name="矩形 13"/>
          <p:cNvSpPr/>
          <p:nvPr>
            <p:custDataLst>
              <p:tags r:id="rId2"/>
            </p:custDataLst>
          </p:nvPr>
        </p:nvSpPr>
        <p:spPr>
          <a:xfrm>
            <a:off x="3070715" y="4907589"/>
            <a:ext cx="7270585" cy="11568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牢记“江山就是人民，人民就是江山”，始终把人民放在心中最高位置。无论是在校园、社区还是未来工作岗位上，都要主动关心群众疾苦，倾听基层声音，把服务人民作为人生价值的根本追求。</a:t>
            </a:r>
            <a:endParaRPr lang="zh-CN" altLang="en-US" sz="16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矩形 3"/>
          <p:cNvSpPr/>
          <p:nvPr>
            <p:custDataLst>
              <p:tags r:id="rId3"/>
            </p:custDataLst>
          </p:nvPr>
        </p:nvSpPr>
        <p:spPr bwMode="auto">
          <a:xfrm>
            <a:off x="2335499" y="4697363"/>
            <a:ext cx="8406706" cy="1606624"/>
          </a:xfrm>
          <a:prstGeom prst="rect">
            <a:avLst/>
          </a:prstGeom>
          <a:noFill/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箭头: 五边形 1"/>
          <p:cNvSpPr/>
          <p:nvPr>
            <p:custDataLst>
              <p:tags r:id="rId4"/>
            </p:custDataLst>
          </p:nvPr>
        </p:nvSpPr>
        <p:spPr bwMode="auto">
          <a:xfrm>
            <a:off x="674377" y="4907589"/>
            <a:ext cx="2228626" cy="1186172"/>
          </a:xfrm>
          <a:prstGeom prst="homePlate">
            <a:avLst>
              <a:gd name="adj" fmla="val 27136"/>
            </a:avLst>
          </a:prstGeom>
          <a:solidFill>
            <a:srgbClr val="C00000"/>
          </a:solidFill>
          <a:ln w="38100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/>
          <a:lstStyle/>
          <a:p>
            <a:pPr eaLnBrk="1" hangingPunct="1">
              <a:buFont typeface="Arial" panose="020B0604020202020204" pitchFamily="34" charset="0"/>
              <a:buNone/>
            </a:pPr>
            <a:endParaRPr lang="zh-CN" altLang="en-US">
              <a:noFill/>
            </a:endParaRPr>
          </a:p>
        </p:txBody>
      </p:sp>
      <p:sp>
        <p:nvSpPr>
          <p:cNvPr id="3" name="矩形 2"/>
          <p:cNvSpPr/>
          <p:nvPr>
            <p:custDataLst>
              <p:tags r:id="rId5"/>
            </p:custDataLst>
          </p:nvPr>
        </p:nvSpPr>
        <p:spPr>
          <a:xfrm>
            <a:off x="842089" y="5162121"/>
            <a:ext cx="172819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+mj-ea"/>
                <a:ea typeface="+mj-ea"/>
              </a:rPr>
              <a:t>站稳人民立场厚植为民情怀</a:t>
            </a:r>
            <a:endParaRPr lang="zh-CN" altLang="en-US" sz="20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3" name="矩形 12"/>
          <p:cNvSpPr/>
          <p:nvPr>
            <p:custDataLst>
              <p:tags r:id="rId6"/>
            </p:custDataLst>
          </p:nvPr>
        </p:nvSpPr>
        <p:spPr bwMode="auto">
          <a:xfrm>
            <a:off x="2335499" y="2690763"/>
            <a:ext cx="8406706" cy="1606624"/>
          </a:xfrm>
          <a:prstGeom prst="rect">
            <a:avLst/>
          </a:prstGeom>
          <a:noFill/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" name="矩形 14"/>
          <p:cNvSpPr/>
          <p:nvPr>
            <p:custDataLst>
              <p:tags r:id="rId7"/>
            </p:custDataLst>
          </p:nvPr>
        </p:nvSpPr>
        <p:spPr>
          <a:xfrm>
            <a:off x="3070715" y="2900989"/>
            <a:ext cx="7270585" cy="11568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  <a:defRPr/>
            </a:pPr>
            <a:r>
              <a:rPr lang="zh-CN" altLang="en-US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传承党“批评与自我批评”“密切联系群众”的优良传统，敢于正视自身不足，善于从群众反馈中反思改进。在日常学习生活中锤炼务实作风，抵制形式主义、功利主义，做到言行一致、知行合一，展现新时代青年的清澈与纯粹。</a:t>
            </a:r>
            <a:endParaRPr lang="zh-CN" altLang="en-US" sz="16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箭头: 五边形 1"/>
          <p:cNvSpPr/>
          <p:nvPr>
            <p:custDataLst>
              <p:tags r:id="rId8"/>
            </p:custDataLst>
          </p:nvPr>
        </p:nvSpPr>
        <p:spPr bwMode="auto">
          <a:xfrm>
            <a:off x="674377" y="2900989"/>
            <a:ext cx="2228626" cy="1186172"/>
          </a:xfrm>
          <a:prstGeom prst="homePlate">
            <a:avLst>
              <a:gd name="adj" fmla="val 27136"/>
            </a:avLst>
          </a:prstGeom>
          <a:solidFill>
            <a:srgbClr val="C00000"/>
          </a:solidFill>
          <a:ln w="38100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/>
          <a:p>
            <a:pPr eaLnBrk="1" hangingPunct="1">
              <a:buFont typeface="Arial" panose="020B0604020202020204" pitchFamily="34" charset="0"/>
              <a:buNone/>
            </a:pPr>
            <a:endParaRPr lang="zh-CN" altLang="en-US">
              <a:noFill/>
            </a:endParaRPr>
          </a:p>
        </p:txBody>
      </p:sp>
      <p:sp>
        <p:nvSpPr>
          <p:cNvPr id="17" name="矩形 16"/>
          <p:cNvSpPr/>
          <p:nvPr>
            <p:custDataLst>
              <p:tags r:id="rId9"/>
            </p:custDataLst>
          </p:nvPr>
        </p:nvSpPr>
        <p:spPr>
          <a:xfrm>
            <a:off x="842089" y="3155521"/>
            <a:ext cx="1728192" cy="646331"/>
          </a:xfrm>
          <a:prstGeom prst="rect">
            <a:avLst/>
          </a:prstGeom>
        </p:spPr>
        <p:txBody>
          <a:bodyPr wrap="square">
            <a:spAutoFit/>
          </a:bodyPr>
          <a:p>
            <a:pPr algn="ctr"/>
            <a:r>
              <a:rPr lang="zh-CN" altLang="en-US" dirty="0">
                <a:solidFill>
                  <a:schemeClr val="bg1"/>
                </a:solidFill>
                <a:latin typeface="+mj-ea"/>
                <a:ea typeface="+mj-ea"/>
              </a:rPr>
              <a:t>弘扬优良作风勇于自我革命</a:t>
            </a:r>
            <a:endParaRPr lang="zh-CN" altLang="en-US" sz="2000" dirty="0">
              <a:solidFill>
                <a:schemeClr val="bg1"/>
              </a:solidFill>
              <a:latin typeface="+mj-ea"/>
              <a:ea typeface="+mj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5E-7 -3.7037E-6 L 0.18997 -3.7037E-6 " pathEditMode="relative" rAng="0" ptsTypes="AA">
                                      <p:cBhvr>
                                        <p:cTn id="11" dur="1000" spd="-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492" y="0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3.7037E-6 L -0.41185 -3.7037E-6 " pathEditMode="relative" rAng="0" ptsTypes="AA">
                                      <p:cBhvr>
                                        <p:cTn id="18" dur="1000" spd="-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59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6" presetClass="emph" presetSubtype="0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animScale>
                                      <p:cBhvr>
                                        <p:cTn id="26" dur="250" fill="hold"/>
                                        <p:tgtEl>
                                          <p:spTgt spid="28"/>
                                        </p:tgtEl>
                                      </p:cBhvr>
                                      <p:by x="120000" y="120000"/>
                                    </p:animScale>
                                  </p:childTnLst>
                                </p:cTn>
                              </p:par>
                              <p:par>
                                <p:cTn id="27" presetID="6" presetClass="emph" presetSubtype="0" decel="100000" fill="hold" grpId="2" nodeType="withEffect">
                                  <p:stCondLst>
                                    <p:cond delay="400"/>
                                  </p:stCondLst>
                                  <p:childTnLst>
                                    <p:animScale>
                                      <p:cBhvr>
                                        <p:cTn id="28" dur="250" fill="hold"/>
                                        <p:tgtEl>
                                          <p:spTgt spid="28"/>
                                        </p:tgtEl>
                                      </p:cBhvr>
                                      <p:by x="83000" y="83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5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-3.7037E-6 L -0.30273 -3.7037E-6 " pathEditMode="relative" rAng="0" ptsTypes="AA">
                                      <p:cBhvr>
                                        <p:cTn id="36" dur="1000" spd="-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14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0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500"/>
                            </p:stCondLst>
                            <p:childTnLst>
                              <p:par>
                                <p:cTn id="4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3000"/>
                            </p:stCondLst>
                            <p:childTnLst>
                              <p:par>
                                <p:cTn id="54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3500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4000"/>
                            </p:stCondLst>
                            <p:childTnLst>
                              <p:par>
                                <p:cTn id="6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4500"/>
                            </p:stCondLst>
                            <p:childTnLst>
                              <p:par>
                                <p:cTn id="6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0"/>
                            </p:stCondLst>
                            <p:childTnLst>
                              <p:par>
                                <p:cTn id="74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500"/>
                            </p:stCondLst>
                            <p:childTnLst>
                              <p:par>
                                <p:cTn id="8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7" grpId="1"/>
      <p:bldP spid="28" grpId="0" animBg="1"/>
      <p:bldP spid="28" grpId="1" animBg="1"/>
      <p:bldP spid="28" grpId="2" animBg="1"/>
      <p:bldP spid="7" grpId="0"/>
      <p:bldP spid="14" grpId="0"/>
      <p:bldP spid="2" grpId="0" animBg="1"/>
      <p:bldP spid="3" grpId="0"/>
      <p:bldP spid="4" grpId="0" animBg="1"/>
      <p:bldP spid="13" grpId="0" bldLvl="0" animBg="1"/>
      <p:bldP spid="15" grpId="0"/>
      <p:bldP spid="16" grpId="0" bldLvl="0" animBg="1"/>
      <p:bldP spid="1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8923" y="246423"/>
            <a:ext cx="4103077" cy="675011"/>
          </a:xfrm>
          <a:prstGeom prst="rect">
            <a:avLst/>
          </a:prstGeom>
        </p:spPr>
      </p:pic>
      <p:cxnSp>
        <p:nvCxnSpPr>
          <p:cNvPr id="26" name="直接连接符 25"/>
          <p:cNvCxnSpPr/>
          <p:nvPr/>
        </p:nvCxnSpPr>
        <p:spPr>
          <a:xfrm>
            <a:off x="0" y="921434"/>
            <a:ext cx="12192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/>
          <p:cNvSpPr/>
          <p:nvPr/>
        </p:nvSpPr>
        <p:spPr>
          <a:xfrm>
            <a:off x="1060287" y="353095"/>
            <a:ext cx="52621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accent1"/>
                </a:solidFill>
                <a:latin typeface="字体视界-NEW魏碑体" panose="02010601030101010101" pitchFamily="2" charset="-122"/>
                <a:ea typeface="字体视界-NEW魏碑体" panose="02010601030101010101" pitchFamily="2" charset="-122"/>
                <a:cs typeface="+mn-ea"/>
                <a:sym typeface="+mn-lt"/>
              </a:rPr>
              <a:t>第三部分：</a:t>
            </a:r>
            <a:r>
              <a:rPr lang="zh-CN" altLang="en-US" sz="2400" b="1" dirty="0">
                <a:solidFill>
                  <a:srgbClr val="C00000"/>
                </a:solidFill>
                <a:latin typeface="字体视界-NEW魏碑体" panose="02010601030101010101" pitchFamily="2" charset="-122"/>
                <a:ea typeface="字体视界-NEW魏碑体" panose="02010601030101010101" pitchFamily="2" charset="-122"/>
              </a:rPr>
              <a:t>当代启示与青年责任</a:t>
            </a:r>
            <a:endParaRPr lang="zh-CN" altLang="en-US" sz="2400" b="1" dirty="0">
              <a:solidFill>
                <a:srgbClr val="C00000"/>
              </a:solidFill>
              <a:latin typeface="字体视界-NEW魏碑体" panose="02010601030101010101" pitchFamily="2" charset="-122"/>
              <a:ea typeface="字体视界-NEW魏碑体" panose="02010601030101010101" pitchFamily="2" charset="-122"/>
            </a:endParaRPr>
          </a:p>
        </p:txBody>
      </p:sp>
      <p:sp>
        <p:nvSpPr>
          <p:cNvPr id="28" name="Freeform 29"/>
          <p:cNvSpPr/>
          <p:nvPr/>
        </p:nvSpPr>
        <p:spPr bwMode="auto">
          <a:xfrm>
            <a:off x="288468" y="125065"/>
            <a:ext cx="771819" cy="689695"/>
          </a:xfrm>
          <a:custGeom>
            <a:avLst/>
            <a:gdLst>
              <a:gd name="T0" fmla="*/ 803 w 1880"/>
              <a:gd name="T1" fmla="*/ 15 h 1680"/>
              <a:gd name="T2" fmla="*/ 1253 w 1880"/>
              <a:gd name="T3" fmla="*/ 1067 h 1680"/>
              <a:gd name="T4" fmla="*/ 728 w 1880"/>
              <a:gd name="T5" fmla="*/ 540 h 1680"/>
              <a:gd name="T6" fmla="*/ 928 w 1880"/>
              <a:gd name="T7" fmla="*/ 339 h 1680"/>
              <a:gd name="T8" fmla="*/ 803 w 1880"/>
              <a:gd name="T9" fmla="*/ 215 h 1680"/>
              <a:gd name="T10" fmla="*/ 549 w 1880"/>
              <a:gd name="T11" fmla="*/ 267 h 1680"/>
              <a:gd name="T12" fmla="*/ 150 w 1880"/>
              <a:gd name="T13" fmla="*/ 666 h 1680"/>
              <a:gd name="T14" fmla="*/ 376 w 1880"/>
              <a:gd name="T15" fmla="*/ 890 h 1680"/>
              <a:gd name="T16" fmla="*/ 527 w 1880"/>
              <a:gd name="T17" fmla="*/ 741 h 1680"/>
              <a:gd name="T18" fmla="*/ 1052 w 1880"/>
              <a:gd name="T19" fmla="*/ 1266 h 1680"/>
              <a:gd name="T20" fmla="*/ 176 w 1880"/>
              <a:gd name="T21" fmla="*/ 1090 h 1680"/>
              <a:gd name="T22" fmla="*/ 49 w 1880"/>
              <a:gd name="T23" fmla="*/ 1217 h 1680"/>
              <a:gd name="T24" fmla="*/ 159 w 1880"/>
              <a:gd name="T25" fmla="*/ 1357 h 1680"/>
              <a:gd name="T26" fmla="*/ 144 w 1880"/>
              <a:gd name="T27" fmla="*/ 1371 h 1680"/>
              <a:gd name="T28" fmla="*/ 122 w 1880"/>
              <a:gd name="T29" fmla="*/ 1367 h 1680"/>
              <a:gd name="T30" fmla="*/ 0 w 1880"/>
              <a:gd name="T31" fmla="*/ 1494 h 1680"/>
              <a:gd name="T32" fmla="*/ 123 w 1880"/>
              <a:gd name="T33" fmla="*/ 1616 h 1680"/>
              <a:gd name="T34" fmla="*/ 249 w 1880"/>
              <a:gd name="T35" fmla="*/ 1493 h 1680"/>
              <a:gd name="T36" fmla="*/ 245 w 1880"/>
              <a:gd name="T37" fmla="*/ 1470 h 1680"/>
              <a:gd name="T38" fmla="*/ 265 w 1880"/>
              <a:gd name="T39" fmla="*/ 1451 h 1680"/>
              <a:gd name="T40" fmla="*/ 1255 w 1880"/>
              <a:gd name="T41" fmla="*/ 1467 h 1680"/>
              <a:gd name="T42" fmla="*/ 1402 w 1880"/>
              <a:gd name="T43" fmla="*/ 1615 h 1680"/>
              <a:gd name="T44" fmla="*/ 1603 w 1880"/>
              <a:gd name="T45" fmla="*/ 1416 h 1680"/>
              <a:gd name="T46" fmla="*/ 1455 w 1880"/>
              <a:gd name="T47" fmla="*/ 1267 h 1680"/>
              <a:gd name="T48" fmla="*/ 803 w 1880"/>
              <a:gd name="T49" fmla="*/ 15 h 16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1880" h="1680">
                <a:moveTo>
                  <a:pt x="803" y="15"/>
                </a:moveTo>
                <a:cubicBezTo>
                  <a:pt x="1217" y="170"/>
                  <a:pt x="1468" y="665"/>
                  <a:pt x="1253" y="1067"/>
                </a:cubicBezTo>
                <a:cubicBezTo>
                  <a:pt x="728" y="540"/>
                  <a:pt x="728" y="540"/>
                  <a:pt x="728" y="540"/>
                </a:cubicBezTo>
                <a:cubicBezTo>
                  <a:pt x="928" y="339"/>
                  <a:pt x="928" y="339"/>
                  <a:pt x="928" y="339"/>
                </a:cubicBezTo>
                <a:cubicBezTo>
                  <a:pt x="803" y="215"/>
                  <a:pt x="803" y="215"/>
                  <a:pt x="803" y="215"/>
                </a:cubicBezTo>
                <a:cubicBezTo>
                  <a:pt x="733" y="282"/>
                  <a:pt x="623" y="297"/>
                  <a:pt x="549" y="267"/>
                </a:cubicBezTo>
                <a:cubicBezTo>
                  <a:pt x="150" y="666"/>
                  <a:pt x="150" y="666"/>
                  <a:pt x="150" y="666"/>
                </a:cubicBezTo>
                <a:cubicBezTo>
                  <a:pt x="376" y="890"/>
                  <a:pt x="376" y="890"/>
                  <a:pt x="376" y="890"/>
                </a:cubicBezTo>
                <a:cubicBezTo>
                  <a:pt x="527" y="741"/>
                  <a:pt x="527" y="741"/>
                  <a:pt x="527" y="741"/>
                </a:cubicBezTo>
                <a:cubicBezTo>
                  <a:pt x="1052" y="1266"/>
                  <a:pt x="1052" y="1266"/>
                  <a:pt x="1052" y="1266"/>
                </a:cubicBezTo>
                <a:cubicBezTo>
                  <a:pt x="795" y="1407"/>
                  <a:pt x="439" y="1363"/>
                  <a:pt x="176" y="1090"/>
                </a:cubicBezTo>
                <a:cubicBezTo>
                  <a:pt x="49" y="1217"/>
                  <a:pt x="49" y="1217"/>
                  <a:pt x="49" y="1217"/>
                </a:cubicBezTo>
                <a:cubicBezTo>
                  <a:pt x="87" y="1270"/>
                  <a:pt x="119" y="1317"/>
                  <a:pt x="159" y="1357"/>
                </a:cubicBezTo>
                <a:cubicBezTo>
                  <a:pt x="155" y="1362"/>
                  <a:pt x="144" y="1371"/>
                  <a:pt x="144" y="1371"/>
                </a:cubicBezTo>
                <a:cubicBezTo>
                  <a:pt x="137" y="1370"/>
                  <a:pt x="129" y="1367"/>
                  <a:pt x="122" y="1367"/>
                </a:cubicBezTo>
                <a:cubicBezTo>
                  <a:pt x="55" y="1367"/>
                  <a:pt x="0" y="1426"/>
                  <a:pt x="0" y="1494"/>
                </a:cubicBezTo>
                <a:cubicBezTo>
                  <a:pt x="0" y="1561"/>
                  <a:pt x="55" y="1616"/>
                  <a:pt x="123" y="1616"/>
                </a:cubicBezTo>
                <a:cubicBezTo>
                  <a:pt x="191" y="1616"/>
                  <a:pt x="249" y="1561"/>
                  <a:pt x="249" y="1493"/>
                </a:cubicBezTo>
                <a:cubicBezTo>
                  <a:pt x="249" y="1485"/>
                  <a:pt x="247" y="1478"/>
                  <a:pt x="245" y="1470"/>
                </a:cubicBezTo>
                <a:cubicBezTo>
                  <a:pt x="265" y="1451"/>
                  <a:pt x="265" y="1451"/>
                  <a:pt x="265" y="1451"/>
                </a:cubicBezTo>
                <a:cubicBezTo>
                  <a:pt x="567" y="1655"/>
                  <a:pt x="898" y="1680"/>
                  <a:pt x="1255" y="1467"/>
                </a:cubicBezTo>
                <a:cubicBezTo>
                  <a:pt x="1402" y="1615"/>
                  <a:pt x="1402" y="1615"/>
                  <a:pt x="1402" y="1615"/>
                </a:cubicBezTo>
                <a:cubicBezTo>
                  <a:pt x="1603" y="1416"/>
                  <a:pt x="1603" y="1416"/>
                  <a:pt x="1603" y="1416"/>
                </a:cubicBezTo>
                <a:cubicBezTo>
                  <a:pt x="1455" y="1267"/>
                  <a:pt x="1455" y="1267"/>
                  <a:pt x="1455" y="1267"/>
                </a:cubicBezTo>
                <a:cubicBezTo>
                  <a:pt x="1880" y="628"/>
                  <a:pt x="1313" y="0"/>
                  <a:pt x="803" y="1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 bwMode="auto">
          <a:xfrm>
            <a:off x="2335499" y="2539739"/>
            <a:ext cx="8406706" cy="1606624"/>
          </a:xfrm>
          <a:prstGeom prst="rect">
            <a:avLst/>
          </a:prstGeom>
          <a:noFill/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604768" y="1255439"/>
            <a:ext cx="9435414" cy="9092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150000"/>
              </a:lnSpc>
            </a:pPr>
            <a:r>
              <a:rPr lang="zh-CN" altLang="en-US" sz="4000" b="1" dirty="0">
                <a:solidFill>
                  <a:srgbClr val="C00000"/>
                </a:solidFill>
                <a:latin typeface="字体视界-NEW魏碑体" panose="02010601030101010101" pitchFamily="2" charset="-122"/>
                <a:ea typeface="字体视界-NEW魏碑体" panose="02010601030101010101" pitchFamily="2" charset="-122"/>
              </a:rPr>
              <a:t>青年责任：做红色基因的传承者与践行者</a:t>
            </a:r>
            <a:endParaRPr lang="zh-CN" altLang="zh-CN" sz="4000" b="1" kern="0" dirty="0">
              <a:latin typeface="Noto Sans S Chinese Medium" pitchFamily="34" charset="-122"/>
              <a:ea typeface="Noto Sans S Chinese Medium" pitchFamily="34" charset="-122"/>
            </a:endParaRPr>
          </a:p>
        </p:txBody>
      </p:sp>
      <p:sp>
        <p:nvSpPr>
          <p:cNvPr id="8" name="箭头: 五边形 7"/>
          <p:cNvSpPr/>
          <p:nvPr>
            <p:custDataLst>
              <p:tags r:id="rId3"/>
            </p:custDataLst>
          </p:nvPr>
        </p:nvSpPr>
        <p:spPr bwMode="auto">
          <a:xfrm>
            <a:off x="674377" y="2747718"/>
            <a:ext cx="2228626" cy="1186172"/>
          </a:xfrm>
          <a:prstGeom prst="homePlate">
            <a:avLst>
              <a:gd name="adj" fmla="val 27136"/>
            </a:avLst>
          </a:prstGeom>
          <a:solidFill>
            <a:srgbClr val="C00000"/>
          </a:solidFill>
          <a:ln w="38100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/>
          <a:lstStyle/>
          <a:p>
            <a:pPr eaLnBrk="1" hangingPunct="1">
              <a:buFont typeface="Arial" panose="020B0604020202020204" pitchFamily="34" charset="0"/>
              <a:buNone/>
            </a:pPr>
            <a:endParaRPr lang="zh-CN" altLang="en-US">
              <a:noFill/>
            </a:endParaRPr>
          </a:p>
        </p:txBody>
      </p:sp>
      <p:sp>
        <p:nvSpPr>
          <p:cNvPr id="9" name="矩形 8"/>
          <p:cNvSpPr/>
          <p:nvPr>
            <p:custDataLst>
              <p:tags r:id="rId4"/>
            </p:custDataLst>
          </p:nvPr>
        </p:nvSpPr>
        <p:spPr>
          <a:xfrm>
            <a:off x="842089" y="3002250"/>
            <a:ext cx="172819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+mj-ea"/>
                <a:ea typeface="+mj-ea"/>
              </a:rPr>
              <a:t>练就过硬本领投身强国实践</a:t>
            </a:r>
            <a:endParaRPr lang="zh-CN" altLang="en-US" sz="20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0" name="矩形 9"/>
          <p:cNvSpPr/>
          <p:nvPr>
            <p:custDataLst>
              <p:tags r:id="rId5"/>
            </p:custDataLst>
          </p:nvPr>
        </p:nvSpPr>
        <p:spPr>
          <a:xfrm>
            <a:off x="3070715" y="2722886"/>
            <a:ext cx="7562503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红色基因不仅体现在精神传承，更体现在实干担当。新时代青年要珍惜韶华、勤奋学习，</a:t>
            </a: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掌握专业知识和实践技能</a:t>
            </a:r>
            <a:r>
              <a:rPr lang="zh-CN" altLang="en-US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，在科技攻关、乡村振兴、绿色发展、社会服务等国家急需领域勇挑重担，</a:t>
            </a: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以真才实学服务人民、奉献祖国</a:t>
            </a:r>
            <a:r>
              <a:rPr lang="zh-CN" altLang="en-US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。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5" name="矩形 14"/>
          <p:cNvSpPr/>
          <p:nvPr>
            <p:custDataLst>
              <p:tags r:id="rId6"/>
            </p:custDataLst>
          </p:nvPr>
        </p:nvSpPr>
        <p:spPr bwMode="auto">
          <a:xfrm>
            <a:off x="2335499" y="4568564"/>
            <a:ext cx="8406706" cy="1606624"/>
          </a:xfrm>
          <a:prstGeom prst="rect">
            <a:avLst/>
          </a:prstGeom>
          <a:noFill/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6" name="箭头: 五边形 7"/>
          <p:cNvSpPr/>
          <p:nvPr>
            <p:custDataLst>
              <p:tags r:id="rId7"/>
            </p:custDataLst>
          </p:nvPr>
        </p:nvSpPr>
        <p:spPr bwMode="auto">
          <a:xfrm>
            <a:off x="674377" y="4776543"/>
            <a:ext cx="2228626" cy="1186172"/>
          </a:xfrm>
          <a:prstGeom prst="homePlate">
            <a:avLst>
              <a:gd name="adj" fmla="val 27136"/>
            </a:avLst>
          </a:prstGeom>
          <a:solidFill>
            <a:srgbClr val="C00000"/>
          </a:solidFill>
          <a:ln w="38100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/>
          <a:p>
            <a:pPr eaLnBrk="1" hangingPunct="1">
              <a:buFont typeface="Arial" panose="020B0604020202020204" pitchFamily="34" charset="0"/>
              <a:buNone/>
            </a:pPr>
            <a:endParaRPr lang="zh-CN" altLang="en-US">
              <a:noFill/>
            </a:endParaRPr>
          </a:p>
        </p:txBody>
      </p:sp>
      <p:sp>
        <p:nvSpPr>
          <p:cNvPr id="17" name="矩形 16"/>
          <p:cNvSpPr/>
          <p:nvPr>
            <p:custDataLst>
              <p:tags r:id="rId8"/>
            </p:custDataLst>
          </p:nvPr>
        </p:nvSpPr>
        <p:spPr>
          <a:xfrm>
            <a:off x="828119" y="5049490"/>
            <a:ext cx="1728192" cy="645160"/>
          </a:xfrm>
          <a:prstGeom prst="rect">
            <a:avLst/>
          </a:prstGeom>
        </p:spPr>
        <p:txBody>
          <a:bodyPr wrap="square">
            <a:spAutoFit/>
          </a:bodyPr>
          <a:p>
            <a:pPr algn="ctr"/>
            <a:r>
              <a:rPr lang="zh-CN" altLang="en-US" dirty="0">
                <a:solidFill>
                  <a:schemeClr val="bg1"/>
                </a:solidFill>
                <a:latin typeface="+mj-ea"/>
                <a:ea typeface="+mj-ea"/>
              </a:rPr>
              <a:t>筑牢理想信念赓续红色</a:t>
            </a:r>
            <a:r>
              <a:rPr lang="zh-CN" altLang="en-US" dirty="0">
                <a:solidFill>
                  <a:schemeClr val="bg1"/>
                </a:solidFill>
                <a:latin typeface="+mj-ea"/>
                <a:ea typeface="+mj-ea"/>
              </a:rPr>
              <a:t>血脉</a:t>
            </a:r>
            <a:endParaRPr lang="zh-CN" altLang="en-US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8" name="矩形 17"/>
          <p:cNvSpPr/>
          <p:nvPr>
            <p:custDataLst>
              <p:tags r:id="rId9"/>
            </p:custDataLst>
          </p:nvPr>
        </p:nvSpPr>
        <p:spPr>
          <a:xfrm>
            <a:off x="3070715" y="4751711"/>
            <a:ext cx="7562503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  <a:defRPr/>
            </a:pPr>
            <a:r>
              <a:rPr lang="zh-CN" altLang="en-US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深入学习党史、新中国史、改革开放史、社会主义发展史，深刻理解中国共产党为什么“能”、马克思主义为什么“行”、中国特色社会主义为什么“好”，</a:t>
            </a: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在思想上政治上行动上自觉同党中央保持高度一致，让红色信仰融入青春血脉</a:t>
            </a:r>
            <a:r>
              <a:rPr lang="zh-CN" altLang="en-US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。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5E-7 -3.7037E-6 L 0.18997 -3.7037E-6 " pathEditMode="relative" rAng="0" ptsTypes="AA">
                                      <p:cBhvr>
                                        <p:cTn id="11" dur="1000" spd="-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492" y="0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3.7037E-6 L -0.41185 -3.7037E-6 " pathEditMode="relative" rAng="0" ptsTypes="AA">
                                      <p:cBhvr>
                                        <p:cTn id="18" dur="1000" spd="-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59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6" presetClass="emph" presetSubtype="0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animScale>
                                      <p:cBhvr>
                                        <p:cTn id="26" dur="250" fill="hold"/>
                                        <p:tgtEl>
                                          <p:spTgt spid="28"/>
                                        </p:tgtEl>
                                      </p:cBhvr>
                                      <p:by x="120000" y="120000"/>
                                    </p:animScale>
                                  </p:childTnLst>
                                </p:cTn>
                              </p:par>
                              <p:par>
                                <p:cTn id="27" presetID="6" presetClass="emph" presetSubtype="0" decel="100000" fill="hold" grpId="2" nodeType="withEffect">
                                  <p:stCondLst>
                                    <p:cond delay="400"/>
                                  </p:stCondLst>
                                  <p:childTnLst>
                                    <p:animScale>
                                      <p:cBhvr>
                                        <p:cTn id="28" dur="250" fill="hold"/>
                                        <p:tgtEl>
                                          <p:spTgt spid="28"/>
                                        </p:tgtEl>
                                      </p:cBhvr>
                                      <p:by x="83000" y="83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5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-3.7037E-6 L -0.30273 -3.7037E-6 " pathEditMode="relative" rAng="0" ptsTypes="AA">
                                      <p:cBhvr>
                                        <p:cTn id="36" dur="1000" spd="-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14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000"/>
                            </p:stCondLst>
                            <p:childTnLst>
                              <p:par>
                                <p:cTn id="4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500"/>
                            </p:stCondLst>
                            <p:childTnLst>
                              <p:par>
                                <p:cTn id="50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000"/>
                            </p:stCondLst>
                            <p:childTnLst>
                              <p:par>
                                <p:cTn id="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3500"/>
                            </p:stCondLst>
                            <p:childTnLst>
                              <p:par>
                                <p:cTn id="6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4000"/>
                            </p:stCondLst>
                            <p:childTnLst>
                              <p:par>
                                <p:cTn id="69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4500"/>
                            </p:stCondLst>
                            <p:childTnLst>
                              <p:par>
                                <p:cTn id="7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7" grpId="1"/>
      <p:bldP spid="28" grpId="0" animBg="1"/>
      <p:bldP spid="28" grpId="1" animBg="1"/>
      <p:bldP spid="28" grpId="2" animBg="1"/>
      <p:bldP spid="6" grpId="0" animBg="1"/>
      <p:bldP spid="7" grpId="0"/>
      <p:bldP spid="8" grpId="0" animBg="1"/>
      <p:bldP spid="9" grpId="0"/>
      <p:bldP spid="10" grpId="0"/>
      <p:bldP spid="15" grpId="0" bldLvl="0" animBg="1"/>
      <p:bldP spid="16" grpId="0" bldLvl="0" animBg="1"/>
      <p:bldP spid="17" grpId="0"/>
      <p:bldP spid="1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图片 3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3723" y="2745633"/>
            <a:ext cx="5184990" cy="4147992"/>
          </a:xfrm>
          <a:prstGeom prst="rect">
            <a:avLst/>
          </a:prstGeom>
        </p:spPr>
      </p:pic>
      <p:pic>
        <p:nvPicPr>
          <p:cNvPr id="35" name="图片 3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049960"/>
            <a:ext cx="4460240" cy="2788989"/>
          </a:xfrm>
          <a:prstGeom prst="rect">
            <a:avLst/>
          </a:prstGeom>
        </p:spPr>
      </p:pic>
      <p:sp>
        <p:nvSpPr>
          <p:cNvPr id="30" name="矩形 29"/>
          <p:cNvSpPr/>
          <p:nvPr/>
        </p:nvSpPr>
        <p:spPr>
          <a:xfrm>
            <a:off x="1333318" y="2190080"/>
            <a:ext cx="9525365" cy="14465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8800" dirty="0">
                <a:solidFill>
                  <a:srgbClr val="C00000"/>
                </a:solidFill>
                <a:latin typeface="字体视界-NEW魏碑体" panose="02010601030101010101" pitchFamily="2" charset="-122"/>
                <a:ea typeface="字体视界-NEW魏碑体" panose="02010601030101010101" pitchFamily="2" charset="-122"/>
                <a:cs typeface="+mn-ea"/>
                <a:sym typeface="+mn-lt"/>
              </a:rPr>
              <a:t>不忘初心 继续前进</a:t>
            </a:r>
            <a:endParaRPr lang="zh-CN" altLang="en-US" sz="8800" dirty="0">
              <a:solidFill>
                <a:srgbClr val="C00000"/>
              </a:solidFill>
              <a:latin typeface="字体视界-NEW魏碑体" panose="02010601030101010101" pitchFamily="2" charset="-122"/>
              <a:ea typeface="字体视界-NEW魏碑体" panose="02010601030101010101" pitchFamily="2" charset="-122"/>
              <a:cs typeface="+mn-ea"/>
              <a:sym typeface="+mn-lt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3787076" y="3853208"/>
            <a:ext cx="454483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3200" dirty="0">
                <a:solidFill>
                  <a:srgbClr val="C00000"/>
                </a:solidFill>
                <a:latin typeface="字体视界-NEW魏碑体" panose="02010601030101010101" pitchFamily="2" charset="-122"/>
                <a:ea typeface="字体视界-NEW魏碑体" panose="02010601030101010101" pitchFamily="2" charset="-122"/>
                <a:cs typeface="+mn-ea"/>
                <a:sym typeface="+mn-lt"/>
              </a:rPr>
              <a:t>—— </a:t>
            </a:r>
            <a:r>
              <a:rPr lang="zh-CN" altLang="en-US" sz="3200" dirty="0">
                <a:solidFill>
                  <a:srgbClr val="C00000"/>
                </a:solidFill>
                <a:latin typeface="字体视界-NEW魏碑体" panose="02010601030101010101" pitchFamily="2" charset="-122"/>
                <a:ea typeface="字体视界-NEW魏碑体" panose="02010601030101010101" pitchFamily="2" charset="-122"/>
                <a:cs typeface="+mn-ea"/>
                <a:sym typeface="+mn-lt"/>
              </a:rPr>
              <a:t>感谢您的观看</a:t>
            </a:r>
            <a:r>
              <a:rPr lang="en-US" altLang="zh-CN" sz="3200" dirty="0">
                <a:solidFill>
                  <a:srgbClr val="C00000"/>
                </a:solidFill>
                <a:latin typeface="字体视界-NEW魏碑体" panose="02010601030101010101" pitchFamily="2" charset="-122"/>
                <a:ea typeface="字体视界-NEW魏碑体" panose="02010601030101010101" pitchFamily="2" charset="-122"/>
                <a:cs typeface="+mn-ea"/>
                <a:sym typeface="+mn-lt"/>
              </a:rPr>
              <a:t>——</a:t>
            </a:r>
            <a:endParaRPr lang="zh-CN" altLang="en-US" sz="3200" dirty="0">
              <a:solidFill>
                <a:srgbClr val="C00000"/>
              </a:solidFill>
              <a:latin typeface="字体视界-NEW魏碑体" panose="02010601030101010101" pitchFamily="2" charset="-122"/>
              <a:ea typeface="字体视界-NEW魏碑体" panose="02010601030101010101" pitchFamily="2" charset="-122"/>
              <a:cs typeface="+mn-ea"/>
              <a:sym typeface="+mn-lt"/>
            </a:endParaRPr>
          </a:p>
        </p:txBody>
      </p:sp>
      <p:sp>
        <p:nvSpPr>
          <p:cNvPr id="32" name="Freeform 29"/>
          <p:cNvSpPr/>
          <p:nvPr/>
        </p:nvSpPr>
        <p:spPr bwMode="auto">
          <a:xfrm>
            <a:off x="5221018" y="590692"/>
            <a:ext cx="1749965" cy="1563763"/>
          </a:xfrm>
          <a:custGeom>
            <a:avLst/>
            <a:gdLst>
              <a:gd name="T0" fmla="*/ 803 w 1880"/>
              <a:gd name="T1" fmla="*/ 15 h 1680"/>
              <a:gd name="T2" fmla="*/ 1253 w 1880"/>
              <a:gd name="T3" fmla="*/ 1067 h 1680"/>
              <a:gd name="T4" fmla="*/ 728 w 1880"/>
              <a:gd name="T5" fmla="*/ 540 h 1680"/>
              <a:gd name="T6" fmla="*/ 928 w 1880"/>
              <a:gd name="T7" fmla="*/ 339 h 1680"/>
              <a:gd name="T8" fmla="*/ 803 w 1880"/>
              <a:gd name="T9" fmla="*/ 215 h 1680"/>
              <a:gd name="T10" fmla="*/ 549 w 1880"/>
              <a:gd name="T11" fmla="*/ 267 h 1680"/>
              <a:gd name="T12" fmla="*/ 150 w 1880"/>
              <a:gd name="T13" fmla="*/ 666 h 1680"/>
              <a:gd name="T14" fmla="*/ 376 w 1880"/>
              <a:gd name="T15" fmla="*/ 890 h 1680"/>
              <a:gd name="T16" fmla="*/ 527 w 1880"/>
              <a:gd name="T17" fmla="*/ 741 h 1680"/>
              <a:gd name="T18" fmla="*/ 1052 w 1880"/>
              <a:gd name="T19" fmla="*/ 1266 h 1680"/>
              <a:gd name="T20" fmla="*/ 176 w 1880"/>
              <a:gd name="T21" fmla="*/ 1090 h 1680"/>
              <a:gd name="T22" fmla="*/ 49 w 1880"/>
              <a:gd name="T23" fmla="*/ 1217 h 1680"/>
              <a:gd name="T24" fmla="*/ 159 w 1880"/>
              <a:gd name="T25" fmla="*/ 1357 h 1680"/>
              <a:gd name="T26" fmla="*/ 144 w 1880"/>
              <a:gd name="T27" fmla="*/ 1371 h 1680"/>
              <a:gd name="T28" fmla="*/ 122 w 1880"/>
              <a:gd name="T29" fmla="*/ 1367 h 1680"/>
              <a:gd name="T30" fmla="*/ 0 w 1880"/>
              <a:gd name="T31" fmla="*/ 1494 h 1680"/>
              <a:gd name="T32" fmla="*/ 123 w 1880"/>
              <a:gd name="T33" fmla="*/ 1616 h 1680"/>
              <a:gd name="T34" fmla="*/ 249 w 1880"/>
              <a:gd name="T35" fmla="*/ 1493 h 1680"/>
              <a:gd name="T36" fmla="*/ 245 w 1880"/>
              <a:gd name="T37" fmla="*/ 1470 h 1680"/>
              <a:gd name="T38" fmla="*/ 265 w 1880"/>
              <a:gd name="T39" fmla="*/ 1451 h 1680"/>
              <a:gd name="T40" fmla="*/ 1255 w 1880"/>
              <a:gd name="T41" fmla="*/ 1467 h 1680"/>
              <a:gd name="T42" fmla="*/ 1402 w 1880"/>
              <a:gd name="T43" fmla="*/ 1615 h 1680"/>
              <a:gd name="T44" fmla="*/ 1603 w 1880"/>
              <a:gd name="T45" fmla="*/ 1416 h 1680"/>
              <a:gd name="T46" fmla="*/ 1455 w 1880"/>
              <a:gd name="T47" fmla="*/ 1267 h 1680"/>
              <a:gd name="T48" fmla="*/ 803 w 1880"/>
              <a:gd name="T49" fmla="*/ 15 h 16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1880" h="1680">
                <a:moveTo>
                  <a:pt x="803" y="15"/>
                </a:moveTo>
                <a:cubicBezTo>
                  <a:pt x="1217" y="170"/>
                  <a:pt x="1468" y="665"/>
                  <a:pt x="1253" y="1067"/>
                </a:cubicBezTo>
                <a:cubicBezTo>
                  <a:pt x="728" y="540"/>
                  <a:pt x="728" y="540"/>
                  <a:pt x="728" y="540"/>
                </a:cubicBezTo>
                <a:cubicBezTo>
                  <a:pt x="928" y="339"/>
                  <a:pt x="928" y="339"/>
                  <a:pt x="928" y="339"/>
                </a:cubicBezTo>
                <a:cubicBezTo>
                  <a:pt x="803" y="215"/>
                  <a:pt x="803" y="215"/>
                  <a:pt x="803" y="215"/>
                </a:cubicBezTo>
                <a:cubicBezTo>
                  <a:pt x="733" y="282"/>
                  <a:pt x="623" y="297"/>
                  <a:pt x="549" y="267"/>
                </a:cubicBezTo>
                <a:cubicBezTo>
                  <a:pt x="150" y="666"/>
                  <a:pt x="150" y="666"/>
                  <a:pt x="150" y="666"/>
                </a:cubicBezTo>
                <a:cubicBezTo>
                  <a:pt x="376" y="890"/>
                  <a:pt x="376" y="890"/>
                  <a:pt x="376" y="890"/>
                </a:cubicBezTo>
                <a:cubicBezTo>
                  <a:pt x="527" y="741"/>
                  <a:pt x="527" y="741"/>
                  <a:pt x="527" y="741"/>
                </a:cubicBezTo>
                <a:cubicBezTo>
                  <a:pt x="1052" y="1266"/>
                  <a:pt x="1052" y="1266"/>
                  <a:pt x="1052" y="1266"/>
                </a:cubicBezTo>
                <a:cubicBezTo>
                  <a:pt x="795" y="1407"/>
                  <a:pt x="439" y="1363"/>
                  <a:pt x="176" y="1090"/>
                </a:cubicBezTo>
                <a:cubicBezTo>
                  <a:pt x="49" y="1217"/>
                  <a:pt x="49" y="1217"/>
                  <a:pt x="49" y="1217"/>
                </a:cubicBezTo>
                <a:cubicBezTo>
                  <a:pt x="87" y="1270"/>
                  <a:pt x="119" y="1317"/>
                  <a:pt x="159" y="1357"/>
                </a:cubicBezTo>
                <a:cubicBezTo>
                  <a:pt x="155" y="1362"/>
                  <a:pt x="144" y="1371"/>
                  <a:pt x="144" y="1371"/>
                </a:cubicBezTo>
                <a:cubicBezTo>
                  <a:pt x="137" y="1370"/>
                  <a:pt x="129" y="1367"/>
                  <a:pt x="122" y="1367"/>
                </a:cubicBezTo>
                <a:cubicBezTo>
                  <a:pt x="55" y="1367"/>
                  <a:pt x="0" y="1426"/>
                  <a:pt x="0" y="1494"/>
                </a:cubicBezTo>
                <a:cubicBezTo>
                  <a:pt x="0" y="1561"/>
                  <a:pt x="55" y="1616"/>
                  <a:pt x="123" y="1616"/>
                </a:cubicBezTo>
                <a:cubicBezTo>
                  <a:pt x="191" y="1616"/>
                  <a:pt x="249" y="1561"/>
                  <a:pt x="249" y="1493"/>
                </a:cubicBezTo>
                <a:cubicBezTo>
                  <a:pt x="249" y="1485"/>
                  <a:pt x="247" y="1478"/>
                  <a:pt x="245" y="1470"/>
                </a:cubicBezTo>
                <a:cubicBezTo>
                  <a:pt x="265" y="1451"/>
                  <a:pt x="265" y="1451"/>
                  <a:pt x="265" y="1451"/>
                </a:cubicBezTo>
                <a:cubicBezTo>
                  <a:pt x="567" y="1655"/>
                  <a:pt x="898" y="1680"/>
                  <a:pt x="1255" y="1467"/>
                </a:cubicBezTo>
                <a:cubicBezTo>
                  <a:pt x="1402" y="1615"/>
                  <a:pt x="1402" y="1615"/>
                  <a:pt x="1402" y="1615"/>
                </a:cubicBezTo>
                <a:cubicBezTo>
                  <a:pt x="1603" y="1416"/>
                  <a:pt x="1603" y="1416"/>
                  <a:pt x="1603" y="1416"/>
                </a:cubicBezTo>
                <a:cubicBezTo>
                  <a:pt x="1455" y="1267"/>
                  <a:pt x="1455" y="1267"/>
                  <a:pt x="1455" y="1267"/>
                </a:cubicBezTo>
                <a:cubicBezTo>
                  <a:pt x="1880" y="628"/>
                  <a:pt x="1313" y="0"/>
                  <a:pt x="803" y="15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rgbClr val="C00000"/>
              </a:solidFill>
              <a:latin typeface="字体视界-NEW魏碑体" panose="02010601030101010101" pitchFamily="2" charset="-122"/>
              <a:ea typeface="字体视界-NEW魏碑体" panose="02010601030101010101" pitchFamily="2" charset="-122"/>
              <a:cs typeface="+mn-ea"/>
              <a:sym typeface="+mn-lt"/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7468" y="552220"/>
            <a:ext cx="2857500" cy="1190625"/>
          </a:xfrm>
          <a:prstGeom prst="rect">
            <a:avLst/>
          </a:prstGeom>
        </p:spPr>
      </p:pic>
      <p:pic>
        <p:nvPicPr>
          <p:cNvPr id="40" name="图片 3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902340" flipH="1">
            <a:off x="1320789" y="1151521"/>
            <a:ext cx="2100539" cy="8752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3" presetClass="entr" presetSubtype="3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5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1.48148E-6 L -0.41185 1.48148E-6 " pathEditMode="relative" rAng="0" ptsTypes="AA">
                                      <p:cBhvr>
                                        <p:cTn id="26" dur="2000" spd="-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599" y="0"/>
                                    </p:animMotion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5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9167E-6 1.85185E-6 L 0.31575 1.85185E-6 " pathEditMode="relative" rAng="0" ptsTypes="AA">
                                      <p:cBhvr>
                                        <p:cTn id="33" dur="2000" spd="-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78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25E-7 -1.11111E-6 L 0.31575 -1.11111E-6 " pathEditMode="relative" rAng="0" ptsTypes="AA">
                                      <p:cBhvr>
                                        <p:cTn id="41" dur="2000" spd="-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78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000"/>
                            </p:stCondLst>
                            <p:childTnLst>
                              <p:par>
                                <p:cTn id="4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04167E-6 -2.96296E-6 L 0.31576 -2.96296E-6 " pathEditMode="relative" rAng="0" ptsTypes="AA">
                                      <p:cBhvr>
                                        <p:cTn id="49" dur="2000" spd="-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78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0" grpId="1"/>
      <p:bldP spid="31" grpId="0"/>
      <p:bldP spid="31" grpId="1"/>
      <p:bldP spid="32" grpId="0" animBg="1"/>
    </p:bldLst>
  </p:timing>
</p:sld>
</file>

<file path=ppt/tags/tag1.xml><?xml version="1.0" encoding="utf-8"?>
<p:tagLst xmlns:p="http://schemas.openxmlformats.org/presentationml/2006/main">
  <p:tag name="KSO_WM_DIAGRAM_VIRTUALLY_FRAME" val="{&quot;height&quot;:229.71527559055122,&quot;left&quot;:332.8832283464567,&quot;top&quot;:197.33748031496063,&quot;width&quot;:598.9089763779527}"/>
</p:tagLst>
</file>

<file path=ppt/tags/tag2.xml><?xml version="1.0" encoding="utf-8"?>
<p:tagLst xmlns:p="http://schemas.openxmlformats.org/presentationml/2006/main">
  <p:tag name="KSO_WM_DIAGRAM_VIRTUALLY_FRAME" val="{&quot;height&quot;:229.71527559055122,&quot;left&quot;:332.8832283464567,&quot;top&quot;:197.33748031496063,&quot;width&quot;:598.9089763779527}"/>
</p:tagLst>
</file>

<file path=ppt/tags/tag3.xml><?xml version="1.0" encoding="utf-8"?>
<p:tagLst xmlns:p="http://schemas.openxmlformats.org/presentationml/2006/main">
  <p:tag name="KSO_WM_DIAGRAM_VIRTUALLY_FRAME" val="{&quot;height&quot;:229.71527559055122,&quot;left&quot;:332.8832283464567,&quot;top&quot;:197.33748031496063,&quot;width&quot;:598.9089763779527}"/>
</p:tagLst>
</file>

<file path=ppt/tags/tag4.xml><?xml version="1.0" encoding="utf-8"?>
<p:tagLst xmlns:p="http://schemas.openxmlformats.org/presentationml/2006/main">
  <p:tag name="KSO_WM_DIAGRAM_VIRTUALLY_FRAME" val="{&quot;height&quot;:229.71527559055122,&quot;left&quot;:332.8832283464567,&quot;top&quot;:197.33748031496063,&quot;width&quot;:598.9089763779527}"/>
</p:tagLst>
</file>

<file path=ppt/tags/tag5.xml><?xml version="1.0" encoding="utf-8"?>
<p:tagLst xmlns:p="http://schemas.openxmlformats.org/presentationml/2006/main">
  <p:tag name="KSO_WM_DIAGRAM_VIRTUALLY_FRAME" val="{&quot;height&quot;:346.796062992126,&quot;left&quot;:330.10716535433073,&quot;top&quot;:144.96409448818898,&quot;width&quot;:575.061968503937}"/>
</p:tagLst>
</file>

<file path=ppt/tags/tag6.xml><?xml version="1.0" encoding="utf-8"?>
<p:tagLst xmlns:p="http://schemas.openxmlformats.org/presentationml/2006/main">
  <p:tag name="KSO_WM_DIAGRAM_VIRTUALLY_FRAME" val="{&quot;height&quot;:346.796062992126,&quot;left&quot;:330.10716535433073,&quot;top&quot;:144.96409448818898,&quot;width&quot;:575.061968503937}"/>
</p:tagLst>
</file>

<file path=ppt/tags/tag7.xml><?xml version="1.0" encoding="utf-8"?>
<p:tagLst xmlns:p="http://schemas.openxmlformats.org/presentationml/2006/main">
  <p:tag name="KSO_WM_DIAGRAM_VIRTUALLY_FRAME" val="{&quot;height&quot;:346.796062992126,&quot;left&quot;:330.10716535433073,&quot;top&quot;:144.96409448818898,&quot;width&quot;:575.061968503937}"/>
</p:tagLst>
</file>

<file path=ppt/tags/tag8.xml><?xml version="1.0" encoding="utf-8"?>
<p:tagLst xmlns:p="http://schemas.openxmlformats.org/presentationml/2006/main">
  <p:tag name="KSO_WM_DIAGRAM_VIRTUALLY_FRAME" val="{&quot;height&quot;:346.796062992126,&quot;left&quot;:330.10716535433073,&quot;top&quot;:144.96409448818898,&quot;width&quot;:575.061968503937}"/>
</p:tagLst>
</file>

<file path=ppt/tags/tag9.xml><?xml version="1.0" encoding="utf-8"?>
<p:tagLst xmlns:p="http://schemas.openxmlformats.org/presentationml/2006/main">
  <p:tag name="KSO_WM_DIAGRAM_VIRTUALLY_FRAME" val="{&quot;height&quot;:346.796062992126,&quot;left&quot;:330.10716535433073,&quot;top&quot;:144.96409448818898,&quot;width&quot;:575.061968503937}"/>
</p:tagLst>
</file>

<file path=ppt/tags/tag10.xml><?xml version="1.0" encoding="utf-8"?>
<p:tagLst xmlns:p="http://schemas.openxmlformats.org/presentationml/2006/main">
  <p:tag name="KSO_WM_DIAGRAM_VIRTUALLY_FRAME" val="{&quot;height&quot;:346.796062992126,&quot;left&quot;:330.10716535433073,&quot;top&quot;:144.96409448818898,&quot;width&quot;:575.061968503937}"/>
</p:tagLst>
</file>

<file path=ppt/tags/tag11.xml><?xml version="1.0" encoding="utf-8"?>
<p:tagLst xmlns:p="http://schemas.openxmlformats.org/presentationml/2006/main">
  <p:tag name="KSO_WM_DIAGRAM_VIRTUALLY_FRAME" val="{&quot;height&quot;:346.796062992126,&quot;left&quot;:330.10716535433073,&quot;top&quot;:144.96409448818898,&quot;width&quot;:575.061968503937}"/>
</p:tagLst>
</file>

<file path=ppt/tags/tag12.xml><?xml version="1.0" encoding="utf-8"?>
<p:tagLst xmlns:p="http://schemas.openxmlformats.org/presentationml/2006/main">
  <p:tag name="KSO_WM_DIAGRAM_VIRTUALLY_FRAME" val="{&quot;height&quot;:346.796062992126,&quot;left&quot;:330.10716535433073,&quot;top&quot;:144.96409448818898,&quot;width&quot;:575.061968503937}"/>
</p:tagLst>
</file>

<file path=ppt/tags/tag13.xml><?xml version="1.0" encoding="utf-8"?>
<p:tagLst xmlns:p="http://schemas.openxmlformats.org/presentationml/2006/main">
  <p:tag name="KSO_WM_DIAGRAM_VIRTUALLY_FRAME" val="{&quot;height&quot;:346.796062992126,&quot;left&quot;:330.10716535433073,&quot;top&quot;:144.96409448818898,&quot;width&quot;:575.061968503937}"/>
</p:tagLst>
</file>

<file path=ppt/tags/tag14.xml><?xml version="1.0" encoding="utf-8"?>
<p:tagLst xmlns:p="http://schemas.openxmlformats.org/presentationml/2006/main">
  <p:tag name="KSO_WM_DIAGRAM_VIRTUALLY_FRAME" val="{&quot;height&quot;:279.9543307086614,&quot;left&quot;:57.69543307086614,&quot;top&quot;:187.38094488188977,&quot;width&quot;:837.2979527559055}"/>
</p:tagLst>
</file>

<file path=ppt/tags/tag15.xml><?xml version="1.0" encoding="utf-8"?>
<p:tagLst xmlns:p="http://schemas.openxmlformats.org/presentationml/2006/main">
  <p:tag name="KSO_WM_DIAGRAM_VIRTUALLY_FRAME" val="{&quot;height&quot;:279.9543307086614,&quot;left&quot;:57.69543307086614,&quot;top&quot;:187.38094488188977,&quot;width&quot;:837.2979527559055}"/>
</p:tagLst>
</file>

<file path=ppt/tags/tag16.xml><?xml version="1.0" encoding="utf-8"?>
<p:tagLst xmlns:p="http://schemas.openxmlformats.org/presentationml/2006/main">
  <p:tag name="KSO_WM_DIAGRAM_VIRTUALLY_FRAME" val="{&quot;height&quot;:279.9543307086614,&quot;left&quot;:57.69543307086614,&quot;top&quot;:187.38094488188977,&quot;width&quot;:837.2979527559055}"/>
</p:tagLst>
</file>

<file path=ppt/tags/tag17.xml><?xml version="1.0" encoding="utf-8"?>
<p:tagLst xmlns:p="http://schemas.openxmlformats.org/presentationml/2006/main">
  <p:tag name="KSO_WM_DIAGRAM_VIRTUALLY_FRAME" val="{&quot;height&quot;:279.9543307086614,&quot;left&quot;:57.69543307086614,&quot;top&quot;:187.38094488188977,&quot;width&quot;:837.2979527559055}"/>
</p:tagLst>
</file>

<file path=ppt/tags/tag18.xml><?xml version="1.0" encoding="utf-8"?>
<p:tagLst xmlns:p="http://schemas.openxmlformats.org/presentationml/2006/main">
  <p:tag name="KSO_WM_DIAGRAM_VIRTUALLY_FRAME" val="{&quot;height&quot;:279.9543307086614,&quot;left&quot;:57.69543307086614,&quot;top&quot;:187.38094488188977,&quot;width&quot;:837.2979527559055}"/>
</p:tagLst>
</file>

<file path=ppt/tags/tag19.xml><?xml version="1.0" encoding="utf-8"?>
<p:tagLst xmlns:p="http://schemas.openxmlformats.org/presentationml/2006/main">
  <p:tag name="KSO_WM_DIAGRAM_VIRTUALLY_FRAME" val="{&quot;height&quot;:279.9543307086614,&quot;left&quot;:57.69543307086614,&quot;top&quot;:187.38094488188977,&quot;width&quot;:837.2979527559055}"/>
</p:tagLst>
</file>

<file path=ppt/tags/tag20.xml><?xml version="1.0" encoding="utf-8"?>
<p:tagLst xmlns:p="http://schemas.openxmlformats.org/presentationml/2006/main">
  <p:tag name="KSO_WM_DIAGRAM_VIRTUALLY_FRAME" val="{&quot;height&quot;:279.9543307086614,&quot;left&quot;:57.69543307086614,&quot;top&quot;:187.38094488188977,&quot;width&quot;:837.2979527559055}"/>
</p:tagLst>
</file>

<file path=ppt/tags/tag21.xml><?xml version="1.0" encoding="utf-8"?>
<p:tagLst xmlns:p="http://schemas.openxmlformats.org/presentationml/2006/main">
  <p:tag name="KSO_WM_DIAGRAM_VIRTUALLY_FRAME" val="{&quot;height&quot;:279.9543307086614,&quot;left&quot;:57.69543307086614,&quot;top&quot;:187.38094488188977,&quot;width&quot;:837.2979527559055}"/>
</p:tagLst>
</file>

<file path=ppt/tags/tag22.xml><?xml version="1.0" encoding="utf-8"?>
<p:tagLst xmlns:p="http://schemas.openxmlformats.org/presentationml/2006/main">
  <p:tag name="KSO_WM_DIAGRAM_VIRTUALLY_FRAME" val="{&quot;height&quot;:279.9543307086614,&quot;left&quot;:57.69543307086614,&quot;top&quot;:187.38094488188977,&quot;width&quot;:837.2979527559055}"/>
</p:tagLst>
</file>

<file path=ppt/tags/tag23.xml><?xml version="1.0" encoding="utf-8"?>
<p:tagLst xmlns:p="http://schemas.openxmlformats.org/presentationml/2006/main">
  <p:tag name="KSO_WM_DIAGRAM_VIRTUALLY_FRAME" val="{&quot;height&quot;:279.9543307086614,&quot;left&quot;:57.69543307086614,&quot;top&quot;:187.38094488188977,&quot;width&quot;:837.2979527559055}"/>
</p:tagLst>
</file>

<file path=ppt/tags/tag24.xml><?xml version="1.0" encoding="utf-8"?>
<p:tagLst xmlns:p="http://schemas.openxmlformats.org/presentationml/2006/main">
  <p:tag name="KSO_WM_DIAGRAM_VIRTUALLY_FRAME" val="{&quot;height&quot;:279.9543307086614,&quot;left&quot;:57.69543307086614,&quot;top&quot;:187.38094488188977,&quot;width&quot;:837.2979527559055}"/>
</p:tagLst>
</file>

<file path=ppt/tags/tag25.xml><?xml version="1.0" encoding="utf-8"?>
<p:tagLst xmlns:p="http://schemas.openxmlformats.org/presentationml/2006/main">
  <p:tag name="KSO_WM_DIAGRAM_VIRTUALLY_FRAME" val="{&quot;height&quot;:279.9543307086614,&quot;left&quot;:57.69543307086614,&quot;top&quot;:187.38094488188977,&quot;width&quot;:837.2979527559055}"/>
</p:tagLst>
</file>

<file path=ppt/tags/tag26.xml><?xml version="1.0" encoding="utf-8"?>
<p:tagLst xmlns:p="http://schemas.openxmlformats.org/presentationml/2006/main">
  <p:tag name="KSO_WM_DIAGRAM_VIRTUALLY_FRAME" val="{&quot;height&quot;:279.9543307086614,&quot;left&quot;:57.69543307086614,&quot;top&quot;:187.38094488188977,&quot;width&quot;:837.2979527559055}"/>
</p:tagLst>
</file>

<file path=ppt/tags/tag27.xml><?xml version="1.0" encoding="utf-8"?>
<p:tagLst xmlns:p="http://schemas.openxmlformats.org/presentationml/2006/main">
  <p:tag name="KSO_WM_DIAGRAM_VIRTUALLY_FRAME" val="{&quot;height&quot;:279.9543307086614,&quot;left&quot;:57.69543307086614,&quot;top&quot;:187.38094488188977,&quot;width&quot;:837.2979527559055}"/>
</p:tagLst>
</file>

<file path=ppt/tags/tag28.xml><?xml version="1.0" encoding="utf-8"?>
<p:tagLst xmlns:p="http://schemas.openxmlformats.org/presentationml/2006/main">
  <p:tag name="KSO_WM_DIAGRAM_VIRTUALLY_FRAME" val="{&quot;height&quot;:279.9543307086614,&quot;left&quot;:57.69543307086614,&quot;top&quot;:187.38094488188977,&quot;width&quot;:837.2979527559055}"/>
</p:tagLst>
</file>

<file path=ppt/tags/tag29.xml><?xml version="1.0" encoding="utf-8"?>
<p:tagLst xmlns:p="http://schemas.openxmlformats.org/presentationml/2006/main">
  <p:tag name="KSO_WM_DIAGRAM_VIRTUALLY_FRAME" val="{&quot;height&quot;:296.3974803149607,&quot;left&quot;:53.10055118110237,&quot;top&quot;:199.97944881889765,&quot;width&quot;:792.7423622047244}"/>
</p:tagLst>
</file>

<file path=ppt/tags/tag30.xml><?xml version="1.0" encoding="utf-8"?>
<p:tagLst xmlns:p="http://schemas.openxmlformats.org/presentationml/2006/main">
  <p:tag name="KSO_WM_DIAGRAM_VIRTUALLY_FRAME" val="{&quot;height&quot;:296.3974803149607,&quot;left&quot;:53.10055118110237,&quot;top&quot;:199.97944881889765,&quot;width&quot;:792.7423622047244}"/>
</p:tagLst>
</file>

<file path=ppt/tags/tag31.xml><?xml version="1.0" encoding="utf-8"?>
<p:tagLst xmlns:p="http://schemas.openxmlformats.org/presentationml/2006/main">
  <p:tag name="KSO_WM_DIAGRAM_VIRTUALLY_FRAME" val="{&quot;height&quot;:296.3974803149607,&quot;left&quot;:53.10055118110237,&quot;top&quot;:199.97944881889765,&quot;width&quot;:792.7423622047244}"/>
</p:tagLst>
</file>

<file path=ppt/tags/tag32.xml><?xml version="1.0" encoding="utf-8"?>
<p:tagLst xmlns:p="http://schemas.openxmlformats.org/presentationml/2006/main">
  <p:tag name="KSO_WM_DIAGRAM_VIRTUALLY_FRAME" val="{&quot;height&quot;:296.3974803149607,&quot;left&quot;:53.10055118110237,&quot;top&quot;:199.97944881889765,&quot;width&quot;:792.7423622047244}"/>
</p:tagLst>
</file>

<file path=ppt/tags/tag33.xml><?xml version="1.0" encoding="utf-8"?>
<p:tagLst xmlns:p="http://schemas.openxmlformats.org/presentationml/2006/main">
  <p:tag name="KSO_WM_DIAGRAM_VIRTUALLY_FRAME" val="{&quot;height&quot;:296.3974803149607,&quot;left&quot;:53.10055118110237,&quot;top&quot;:199.97944881889765,&quot;width&quot;:792.7423622047244}"/>
</p:tagLst>
</file>

<file path=ppt/tags/tag34.xml><?xml version="1.0" encoding="utf-8"?>
<p:tagLst xmlns:p="http://schemas.openxmlformats.org/presentationml/2006/main">
  <p:tag name="KSO_WM_DIAGRAM_VIRTUALLY_FRAME" val="{&quot;height&quot;:296.3974803149607,&quot;left&quot;:53.10055118110237,&quot;top&quot;:199.97944881889765,&quot;width&quot;:792.7423622047244}"/>
</p:tagLst>
</file>

<file path=ppt/tags/tag35.xml><?xml version="1.0" encoding="utf-8"?>
<p:tagLst xmlns:p="http://schemas.openxmlformats.org/presentationml/2006/main">
  <p:tag name="KSO_WM_DIAGRAM_VIRTUALLY_FRAME" val="{&quot;height&quot;:296.3974803149607,&quot;left&quot;:53.10055118110237,&quot;top&quot;:199.97944881889765,&quot;width&quot;:792.7423622047244}"/>
</p:tagLst>
</file>

<file path=ppt/tags/tag36.xml><?xml version="1.0" encoding="utf-8"?>
<p:tagLst xmlns:p="http://schemas.openxmlformats.org/presentationml/2006/main">
  <p:tag name="KSO_WM_DIAGRAM_VIRTUALLY_FRAME" val="{&quot;height&quot;:296.3974803149607,&quot;left&quot;:53.10055118110237,&quot;top&quot;:199.97944881889765,&quot;width&quot;:792.7423622047244}"/>
</p:tagLst>
</file>

<file path=ppt/tags/tag37.xml><?xml version="1.0" encoding="utf-8"?>
<p:tagLst xmlns:p="http://schemas.openxmlformats.org/presentationml/2006/main">
  <p:tag name="KSO_WM_DIAGRAM_VIRTUALLY_FRAME" val="{&quot;height&quot;:296.3974803149607,&quot;left&quot;:53.10055118110237,&quot;top&quot;:199.97944881889765,&quot;width&quot;:792.7423622047244}"/>
</p:tagLst>
</file>

<file path=ppt/tags/tag38.xml><?xml version="1.0" encoding="utf-8"?>
<p:tagLst xmlns:p="http://schemas.openxmlformats.org/presentationml/2006/main">
  <p:tag name="KSO_WM_DIAGRAM_VIRTUALLY_FRAME" val="{&quot;height&quot;:296.3974803149607,&quot;left&quot;:53.10055118110237,&quot;top&quot;:199.97944881889765,&quot;width&quot;:792.7423622047244}"/>
</p:tagLst>
</file>

<file path=ppt/tags/tag39.xml><?xml version="1.0" encoding="utf-8"?>
<p:tagLst xmlns:p="http://schemas.openxmlformats.org/presentationml/2006/main">
  <p:tag name="KSO_WM_DIAGRAM_VIRTUALLY_FRAME" val="{&quot;height&quot;:296.3974803149607,&quot;left&quot;:53.10055118110237,&quot;top&quot;:199.97944881889765,&quot;width&quot;:792.7423622047244}"/>
</p:tagLst>
</file>

<file path=ppt/tags/tag40.xml><?xml version="1.0" encoding="utf-8"?>
<p:tagLst xmlns:p="http://schemas.openxmlformats.org/presentationml/2006/main">
  <p:tag name="KSO_WM_DIAGRAM_VIRTUALLY_FRAME" val="{&quot;height&quot;:296.3974803149607,&quot;left&quot;:53.10055118110237,&quot;top&quot;:199.97944881889765,&quot;width&quot;:792.7423622047244}"/>
</p:tagLst>
</file>

<file path=ppt/tags/tag41.xml><?xml version="1.0" encoding="utf-8"?>
<p:tagLst xmlns:p="http://schemas.openxmlformats.org/presentationml/2006/main">
  <p:tag name="KSO_WM_DIAGRAM_VIRTUALLY_FRAME" val="{&quot;height&quot;:296.3974803149607,&quot;left&quot;:53.10055118110237,&quot;top&quot;:199.97944881889765,&quot;width&quot;:792.7423622047244}"/>
</p:tagLst>
</file>

<file path=ppt/tags/tag42.xml><?xml version="1.0" encoding="utf-8"?>
<p:tagLst xmlns:p="http://schemas.openxmlformats.org/presentationml/2006/main">
  <p:tag name="KSO_WM_DIAGRAM_VIRTUALLY_FRAME" val="{&quot;height&quot;:296.3974803149607,&quot;left&quot;:53.10055118110237,&quot;top&quot;:199.97944881889765,&quot;width&quot;:792.7423622047244}"/>
</p:tagLst>
</file>

<file path=ppt/tags/tag43.xml><?xml version="1.0" encoding="utf-8"?>
<p:tagLst xmlns:p="http://schemas.openxmlformats.org/presentationml/2006/main">
  <p:tag name="KSO_WM_DIAGRAM_VIRTUALLY_FRAME" val="{&quot;height&quot;:296.3974803149607,&quot;left&quot;:53.10055118110237,&quot;top&quot;:199.97944881889765,&quot;width&quot;:792.7423622047244}"/>
</p:tagLst>
</file>

<file path=ppt/tags/tag44.xml><?xml version="1.0" encoding="utf-8"?>
<p:tagLst xmlns:p="http://schemas.openxmlformats.org/presentationml/2006/main">
  <p:tag name="KSO_WM_DIAGRAM_VIRTUALLY_FRAME" val="{&quot;height&quot;:296.3974803149607,&quot;left&quot;:53.10055118110237,&quot;top&quot;:199.97944881889765,&quot;width&quot;:792.7423622047244}"/>
</p:tagLst>
</file>

<file path=ppt/tags/tag45.xml><?xml version="1.0" encoding="utf-8"?>
<p:tagLst xmlns:p="http://schemas.openxmlformats.org/presentationml/2006/main">
  <p:tag name="ISPRING_PRESENTATION_TITLE" val="PowerPoint 演示文稿"/>
</p:tagLst>
</file>

<file path=ppt/theme/theme1.xml><?xml version="1.0" encoding="utf-8"?>
<a:theme xmlns:a="http://schemas.openxmlformats.org/drawingml/2006/main" name="主题1">
  <a:themeElements>
    <a:clrScheme name="自定义 3">
      <a:dk1>
        <a:sysClr val="windowText" lastClr="000000"/>
      </a:dk1>
      <a:lt1>
        <a:sysClr val="window" lastClr="FFFFFF"/>
      </a:lt1>
      <a:dk2>
        <a:srgbClr val="BE0000"/>
      </a:dk2>
      <a:lt2>
        <a:srgbClr val="E7E6E6"/>
      </a:lt2>
      <a:accent1>
        <a:srgbClr val="BE0000"/>
      </a:accent1>
      <a:accent2>
        <a:srgbClr val="ED7D31"/>
      </a:accent2>
      <a:accent3>
        <a:srgbClr val="D20000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31y2jr50">
      <a:majorFont>
        <a:latin typeface="Microsoft YaHei"/>
        <a:ea typeface="字魂35号-经典雅黑"/>
        <a:cs typeface=""/>
      </a:majorFont>
      <a:minorFont>
        <a:latin typeface="Microsoft YaHei"/>
        <a:ea typeface="字魂35号-经典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主题1</Template>
  <TotalTime>0</TotalTime>
  <Words>1719</Words>
  <Application>WPS 演示</Application>
  <PresentationFormat>宽屏</PresentationFormat>
  <Paragraphs>158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31" baseType="lpstr">
      <vt:lpstr>Arial</vt:lpstr>
      <vt:lpstr>宋体</vt:lpstr>
      <vt:lpstr>Wingdings</vt:lpstr>
      <vt:lpstr>字体视界-NEW魏碑体</vt:lpstr>
      <vt:lpstr>Calibri</vt:lpstr>
      <vt:lpstr>Calibri</vt:lpstr>
      <vt:lpstr>微软雅黑</vt:lpstr>
      <vt:lpstr>方正姚体</vt:lpstr>
      <vt:lpstr>Noto Sans S Chinese Medium</vt:lpstr>
      <vt:lpstr>Impact</vt:lpstr>
      <vt:lpstr>-apple-system</vt:lpstr>
      <vt:lpstr>Arial Unicode MS</vt:lpstr>
      <vt:lpstr>字魂35号-经典雅黑</vt:lpstr>
      <vt:lpstr>黑体</vt:lpstr>
      <vt:lpstr>Segoe Print</vt:lpstr>
      <vt:lpstr>主题1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kan</dc:creator>
  <dc:description>http://www.ypppt.com/</dc:description>
  <cp:lastModifiedBy>deadmau5</cp:lastModifiedBy>
  <cp:revision>83</cp:revision>
  <dcterms:created xsi:type="dcterms:W3CDTF">2019-06-14T06:36:00Z</dcterms:created>
  <dcterms:modified xsi:type="dcterms:W3CDTF">2025-10-16T10:08:42Z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94146F00881F43DB88DB8064D010D3E3_12</vt:lpwstr>
  </property>
  <property fmtid="{D5CDD505-2E9C-101B-9397-08002B2CF9AE}" pid="3" name="KSOProductBuildVer">
    <vt:lpwstr>2052-12.1.0.22529</vt:lpwstr>
  </property>
</Properties>
</file>